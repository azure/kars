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2194560"/>
            <a:ext cx="10881360" cy="2011680"/>
          </a:xfrm>
          <a:prstGeom prst="rect">
            <a:avLst/>
          </a:prstGeom>
          <a:noFill/>
          <a:ln/>
        </p:spPr>
        <p:txBody>
          <a:bodyPr wrap="square" lIns="0" tIns="0" rIns="0" bIns="0" rtlCol="0" anchor="ctr"/>
          <a:lstStyle/>
          <a:p>
            <a:pPr algn="l" indent="0" marL="0">
              <a:buNone/>
            </a:pPr>
            <a:r>
              <a:rPr lang="en-US" sz="16800" b="1" dirty="0">
                <a:solidFill>
                  <a:srgbClr val="FFFFFF"/>
                </a:solidFill>
                <a:latin typeface="Helvetica" pitchFamily="34" charset="0"/>
                <a:ea typeface="Helvetica" pitchFamily="34" charset="-122"/>
                <a:cs typeface="Helvetica" pitchFamily="34" charset="-120"/>
              </a:rPr>
              <a:t>kars</a:t>
            </a:r>
            <a:endParaRPr lang="en-US" sz="16800" dirty="0"/>
          </a:p>
        </p:txBody>
      </p:sp>
      <p:sp>
        <p:nvSpPr>
          <p:cNvPr id="3" name="Text 1"/>
          <p:cNvSpPr/>
          <p:nvPr/>
        </p:nvSpPr>
        <p:spPr>
          <a:xfrm>
            <a:off x="640080" y="4389120"/>
            <a:ext cx="10881360" cy="457200"/>
          </a:xfrm>
          <a:prstGeom prst="rect">
            <a:avLst/>
          </a:prstGeom>
          <a:noFill/>
          <a:ln/>
        </p:spPr>
        <p:txBody>
          <a:bodyPr wrap="square" lIns="0" tIns="0" rIns="0" bIns="0" rtlCol="0" anchor="ctr"/>
          <a:lstStyle/>
          <a:p>
            <a:pPr algn="l" indent="0" marL="0">
              <a:buNone/>
            </a:pPr>
            <a:r>
              <a:rPr lang="en-US" sz="2200" dirty="0">
                <a:solidFill>
                  <a:srgbClr val="E6F1F2"/>
                </a:solidFill>
                <a:latin typeface="Helvetica" pitchFamily="34" charset="0"/>
                <a:ea typeface="Helvetica" pitchFamily="34" charset="-122"/>
                <a:cs typeface="Helvetica" pitchFamily="34" charset="-120"/>
              </a:rPr>
              <a:t>Secure AI agent runtime on Kubernetes.</a:t>
            </a:r>
            <a:endParaRPr lang="en-US" sz="2200" dirty="0"/>
          </a:p>
        </p:txBody>
      </p:sp>
      <p:sp>
        <p:nvSpPr>
          <p:cNvPr id="4" name="Text 2"/>
          <p:cNvSpPr/>
          <p:nvPr/>
        </p:nvSpPr>
        <p:spPr>
          <a:xfrm>
            <a:off x="640080" y="4937760"/>
            <a:ext cx="10881360" cy="457200"/>
          </a:xfrm>
          <a:prstGeom prst="rect">
            <a:avLst/>
          </a:prstGeom>
          <a:noFill/>
          <a:ln/>
        </p:spPr>
        <p:txBody>
          <a:bodyPr wrap="square" lIns="0" tIns="0" rIns="0" bIns="0" rtlCol="0" anchor="ctr"/>
          <a:lstStyle/>
          <a:p>
            <a:pPr algn="l" indent="0" marL="0">
              <a:buNone/>
            </a:pPr>
            <a:r>
              <a:rPr lang="en-US" sz="1600" dirty="0">
                <a:solidFill>
                  <a:srgbClr val="AFB3BD"/>
                </a:solidFill>
                <a:latin typeface="Helvetica" pitchFamily="34" charset="0"/>
                <a:ea typeface="Helvetica" pitchFamily="34" charset="-122"/>
                <a:cs typeface="Helvetica" pitchFamily="34" charset="-120"/>
              </a:rPr>
              <a:t>Built on the Microsoft Agent Governance Toolkit.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02</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§1 · THE OUTCOME</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4600" b="1" dirty="0">
                <a:solidFill>
                  <a:srgbClr val="1A1A1A"/>
                </a:solidFill>
                <a:latin typeface="Helvetica" pitchFamily="34" charset="0"/>
                <a:ea typeface="Helvetica" pitchFamily="34" charset="-122"/>
                <a:cs typeface="Helvetica" pitchFamily="34" charset="-120"/>
              </a:rPr>
              <a:t>What you actually get.</a:t>
            </a:r>
            <a:endParaRPr lang="en-US" sz="4600" dirty="0"/>
          </a:p>
        </p:txBody>
      </p:sp>
      <p:sp>
        <p:nvSpPr>
          <p:cNvPr id="5" name="Text 3"/>
          <p:cNvSpPr/>
          <p:nvPr/>
        </p:nvSpPr>
        <p:spPr>
          <a:xfrm>
            <a:off x="640080" y="2468880"/>
            <a:ext cx="10881360" cy="173736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kars turns agent execution into Kubernetes-managed infrastructure:  declared, reconciled, isolated, governed, and observable. Every inference call, every tool invocation, every egress byte flows through one policy plane and lands as a record you can audit, rate-limit, time-box, and revoke.</a:t>
            </a:r>
            <a:endParaRPr lang="en-US" sz="1800" dirty="0"/>
          </a:p>
        </p:txBody>
      </p:sp>
      <p:sp>
        <p:nvSpPr>
          <p:cNvPr id="6" name="Shape 4"/>
          <p:cNvSpPr/>
          <p:nvPr/>
        </p:nvSpPr>
        <p:spPr>
          <a:xfrm>
            <a:off x="640080" y="4572000"/>
            <a:ext cx="1097280" cy="0"/>
          </a:xfrm>
          <a:prstGeom prst="line">
            <a:avLst/>
          </a:prstGeom>
          <a:noFill/>
          <a:ln w="19050">
            <a:solidFill>
              <a:srgbClr val="028090"/>
            </a:solidFill>
            <a:prstDash val="solid"/>
          </a:ln>
        </p:spPr>
      </p:sp>
      <p:sp>
        <p:nvSpPr>
          <p:cNvPr id="7" name="Text 5"/>
          <p:cNvSpPr/>
          <p:nvPr/>
        </p:nvSpPr>
        <p:spPr>
          <a:xfrm>
            <a:off x="64008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every call audited</a:t>
            </a:r>
            <a:endParaRPr lang="en-US" sz="1300" dirty="0"/>
          </a:p>
        </p:txBody>
      </p:sp>
      <p:sp>
        <p:nvSpPr>
          <p:cNvPr id="8" name="Text 6"/>
          <p:cNvSpPr/>
          <p:nvPr/>
        </p:nvSpPr>
        <p:spPr>
          <a:xfrm>
            <a:off x="64008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policy decision + hash-chained JSONL row, per call, per sandbox</a:t>
            </a:r>
            <a:endParaRPr lang="en-US" sz="1300" dirty="0"/>
          </a:p>
        </p:txBody>
      </p:sp>
      <p:sp>
        <p:nvSpPr>
          <p:cNvPr id="9" name="Shape 7"/>
          <p:cNvSpPr/>
          <p:nvPr/>
        </p:nvSpPr>
        <p:spPr>
          <a:xfrm>
            <a:off x="3451860" y="4572000"/>
            <a:ext cx="1097280" cy="0"/>
          </a:xfrm>
          <a:prstGeom prst="line">
            <a:avLst/>
          </a:prstGeom>
          <a:noFill/>
          <a:ln w="19050">
            <a:solidFill>
              <a:srgbClr val="028090"/>
            </a:solidFill>
            <a:prstDash val="solid"/>
          </a:ln>
        </p:spPr>
      </p:sp>
      <p:sp>
        <p:nvSpPr>
          <p:cNvPr id="10" name="Text 8"/>
          <p:cNvSpPr/>
          <p:nvPr/>
        </p:nvSpPr>
        <p:spPr>
          <a:xfrm>
            <a:off x="345186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sandbox in minutes</a:t>
            </a:r>
            <a:endParaRPr lang="en-US" sz="1300" dirty="0"/>
          </a:p>
        </p:txBody>
      </p:sp>
      <p:sp>
        <p:nvSpPr>
          <p:cNvPr id="11" name="Text 9"/>
          <p:cNvSpPr/>
          <p:nvPr/>
        </p:nvSpPr>
        <p:spPr>
          <a:xfrm>
            <a:off x="345186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kubectl apply KarsSandbox → Running 2/2 in ≈60 s on AKS</a:t>
            </a:r>
            <a:endParaRPr lang="en-US" sz="1300" dirty="0"/>
          </a:p>
        </p:txBody>
      </p:sp>
      <p:sp>
        <p:nvSpPr>
          <p:cNvPr id="12" name="Shape 10"/>
          <p:cNvSpPr/>
          <p:nvPr/>
        </p:nvSpPr>
        <p:spPr>
          <a:xfrm>
            <a:off x="6263640" y="4572000"/>
            <a:ext cx="1097280" cy="0"/>
          </a:xfrm>
          <a:prstGeom prst="line">
            <a:avLst/>
          </a:prstGeom>
          <a:noFill/>
          <a:ln w="19050">
            <a:solidFill>
              <a:srgbClr val="028090"/>
            </a:solidFill>
            <a:prstDash val="solid"/>
          </a:ln>
        </p:spPr>
      </p:sp>
      <p:sp>
        <p:nvSpPr>
          <p:cNvPr id="13" name="Text 11"/>
          <p:cNvSpPr/>
          <p:nvPr/>
        </p:nvSpPr>
        <p:spPr>
          <a:xfrm>
            <a:off x="626364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one policy plane</a:t>
            </a:r>
            <a:endParaRPr lang="en-US" sz="1300" dirty="0"/>
          </a:p>
        </p:txBody>
      </p:sp>
      <p:sp>
        <p:nvSpPr>
          <p:cNvPr id="14" name="Text 12"/>
          <p:cNvSpPr/>
          <p:nvPr/>
        </p:nvSpPr>
        <p:spPr>
          <a:xfrm>
            <a:off x="626364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models · MCP · A2A · tools · egress · memory — one CRD set</a:t>
            </a:r>
            <a:endParaRPr lang="en-US" sz="1300" dirty="0"/>
          </a:p>
        </p:txBody>
      </p:sp>
      <p:sp>
        <p:nvSpPr>
          <p:cNvPr id="15" name="Shape 13"/>
          <p:cNvSpPr/>
          <p:nvPr/>
        </p:nvSpPr>
        <p:spPr>
          <a:xfrm>
            <a:off x="9075420" y="4572000"/>
            <a:ext cx="1097280" cy="0"/>
          </a:xfrm>
          <a:prstGeom prst="line">
            <a:avLst/>
          </a:prstGeom>
          <a:noFill/>
          <a:ln w="19050">
            <a:solidFill>
              <a:srgbClr val="028090"/>
            </a:solidFill>
            <a:prstDash val="solid"/>
          </a:ln>
        </p:spPr>
      </p:sp>
      <p:sp>
        <p:nvSpPr>
          <p:cNvPr id="16" name="Text 14"/>
          <p:cNvSpPr/>
          <p:nvPr/>
        </p:nvSpPr>
        <p:spPr>
          <a:xfrm>
            <a:off x="907542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default-deny egress</a:t>
            </a:r>
            <a:endParaRPr lang="en-US" sz="1300" dirty="0"/>
          </a:p>
        </p:txBody>
      </p:sp>
      <p:sp>
        <p:nvSpPr>
          <p:cNvPr id="17" name="Text 15"/>
          <p:cNvSpPr/>
          <p:nvPr/>
        </p:nvSpPr>
        <p:spPr>
          <a:xfrm>
            <a:off x="907542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time-boxed approvals carry reason + ticket; auto-expire to None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AFB3BD"/>
                </a:solidFill>
                <a:latin typeface="Helvetica" pitchFamily="34" charset="0"/>
                <a:ea typeface="Helvetica" pitchFamily="34" charset="-122"/>
                <a:cs typeface="Helvetica" pitchFamily="34" charset="-120"/>
              </a:rPr>
              <a:t>§2 · WHAT KARS IS</a:t>
            </a:r>
            <a:endParaRPr lang="en-US" sz="1100" dirty="0"/>
          </a:p>
        </p:txBody>
      </p:sp>
      <p:sp>
        <p:nvSpPr>
          <p:cNvPr id="3" name="Text 1"/>
          <p:cNvSpPr/>
          <p:nvPr/>
        </p:nvSpPr>
        <p:spPr>
          <a:xfrm>
            <a:off x="640080" y="1371600"/>
            <a:ext cx="10881360" cy="1645920"/>
          </a:xfrm>
          <a:prstGeom prst="rect">
            <a:avLst/>
          </a:prstGeom>
          <a:noFill/>
          <a:ln/>
        </p:spPr>
        <p:txBody>
          <a:bodyPr wrap="square" lIns="0" tIns="0" rIns="0" bIns="0" rtlCol="0" anchor="t"/>
          <a:lstStyle/>
          <a:p>
            <a:pPr algn="l" indent="0" marL="0">
              <a:buNone/>
            </a:pPr>
            <a:r>
              <a:rPr lang="en-US" sz="3600" b="1" dirty="0">
                <a:solidFill>
                  <a:srgbClr val="FFFFFF"/>
                </a:solidFill>
                <a:latin typeface="Helvetica" pitchFamily="34" charset="0"/>
                <a:ea typeface="Helvetica" pitchFamily="34" charset="-122"/>
                <a:cs typeface="Helvetica" pitchFamily="34" charset="-120"/>
              </a:rPr>
              <a:t>Secure, multi-runtime AI agent runtime on Azure Kubernetes Service.</a:t>
            </a:r>
            <a:endParaRPr lang="en-US" sz="3600" dirty="0"/>
          </a:p>
        </p:txBody>
      </p:sp>
      <p:sp>
        <p:nvSpPr>
          <p:cNvPr id="4" name="Text 2"/>
          <p:cNvSpPr/>
          <p:nvPr/>
        </p:nvSpPr>
        <p:spPr>
          <a:xfrm>
            <a:off x="640080" y="3017520"/>
            <a:ext cx="10881360" cy="914400"/>
          </a:xfrm>
          <a:prstGeom prst="rect">
            <a:avLst/>
          </a:prstGeom>
          <a:noFill/>
          <a:ln/>
        </p:spPr>
        <p:txBody>
          <a:bodyPr wrap="square" lIns="0" tIns="0" rIns="0" bIns="0" rtlCol="0" anchor="t"/>
          <a:lstStyle/>
          <a:p>
            <a:pPr algn="l" indent="0" marL="0">
              <a:buNone/>
            </a:pPr>
            <a:r>
              <a:rPr lang="en-US" sz="2400" dirty="0">
                <a:solidFill>
                  <a:srgbClr val="E6F1F2"/>
                </a:solidFill>
                <a:latin typeface="Helvetica" pitchFamily="34" charset="0"/>
                <a:ea typeface="Helvetica" pitchFamily="34" charset="-122"/>
                <a:cs typeface="Helvetica" pitchFamily="34" charset="-120"/>
              </a:rPr>
              <a:t>End-to-end encrypted inter-agent mesh.  Governance enforced inside the per-sandbox data plane.</a:t>
            </a:r>
            <a:endParaRPr lang="en-US" sz="2400" dirty="0"/>
          </a:p>
        </p:txBody>
      </p:sp>
      <p:sp>
        <p:nvSpPr>
          <p:cNvPr id="5" name="Shape 3"/>
          <p:cNvSpPr/>
          <p:nvPr/>
        </p:nvSpPr>
        <p:spPr>
          <a:xfrm>
            <a:off x="640080" y="4754880"/>
            <a:ext cx="1097280" cy="0"/>
          </a:xfrm>
          <a:prstGeom prst="line">
            <a:avLst/>
          </a:prstGeom>
          <a:noFill/>
          <a:ln w="19050">
            <a:solidFill>
              <a:srgbClr val="028090"/>
            </a:solidFill>
            <a:prstDash val="solid"/>
          </a:ln>
        </p:spPr>
      </p:sp>
      <p:sp>
        <p:nvSpPr>
          <p:cNvPr id="6" name="Text 4"/>
          <p:cNvSpPr/>
          <p:nvPr/>
        </p:nvSpPr>
        <p:spPr>
          <a:xfrm>
            <a:off x="640080" y="4846320"/>
            <a:ext cx="2446020" cy="365760"/>
          </a:xfrm>
          <a:prstGeom prst="rect">
            <a:avLst/>
          </a:prstGeom>
          <a:noFill/>
          <a:ln/>
        </p:spPr>
        <p:txBody>
          <a:bodyPr wrap="square" lIns="0" tIns="0" rIns="0" bIns="0" rtlCol="0" anchor="ctr"/>
          <a:lstStyle/>
          <a:p>
            <a:pPr indent="0" marL="0">
              <a:buNone/>
            </a:pPr>
            <a:r>
              <a:rPr lang="en-US" sz="1300" dirty="0">
                <a:solidFill>
                  <a:srgbClr val="E6F1F2"/>
                </a:solidFill>
                <a:latin typeface="Consolas" pitchFamily="34" charset="0"/>
                <a:ea typeface="Consolas" pitchFamily="34" charset="-122"/>
                <a:cs typeface="Consolas" pitchFamily="34" charset="-120"/>
              </a:rPr>
              <a:t>sandbox/</a:t>
            </a:r>
            <a:endParaRPr lang="en-US" sz="1300" dirty="0"/>
          </a:p>
        </p:txBody>
      </p:sp>
      <p:sp>
        <p:nvSpPr>
          <p:cNvPr id="7" name="Text 5"/>
          <p:cNvSpPr/>
          <p:nvPr/>
        </p:nvSpPr>
        <p:spPr>
          <a:xfrm>
            <a:off x="640080" y="5257800"/>
            <a:ext cx="2446020" cy="1280160"/>
          </a:xfrm>
          <a:prstGeom prst="rect">
            <a:avLst/>
          </a:prstGeom>
          <a:noFill/>
          <a:ln/>
        </p:spPr>
        <p:txBody>
          <a:bodyPr wrap="square" lIns="0" tIns="0" rIns="0" bIns="0" rtlCol="0" anchor="ctr"/>
          <a:lstStyle/>
          <a:p>
            <a:pPr indent="0" marL="0">
              <a:spcAft>
                <a:spcPts val="400"/>
              </a:spcAft>
              <a:buNone/>
            </a:pPr>
            <a:r>
              <a:rPr lang="en-US" sz="1200" dirty="0">
                <a:solidFill>
                  <a:srgbClr val="E6F1F2"/>
                </a:solidFill>
                <a:latin typeface="Helvetica" pitchFamily="34" charset="0"/>
                <a:ea typeface="Helvetica" pitchFamily="34" charset="-122"/>
                <a:cs typeface="Helvetica" pitchFamily="34" charset="-120"/>
              </a:rPr>
              <a:t>kars-strict seccomp · iptables egress-guard · drop ALL caps</a:t>
            </a:r>
            <a:endParaRPr lang="en-US" sz="1200" dirty="0"/>
          </a:p>
        </p:txBody>
      </p:sp>
      <p:sp>
        <p:nvSpPr>
          <p:cNvPr id="8" name="Shape 6"/>
          <p:cNvSpPr/>
          <p:nvPr/>
        </p:nvSpPr>
        <p:spPr>
          <a:xfrm>
            <a:off x="3451860" y="4754880"/>
            <a:ext cx="1097280" cy="0"/>
          </a:xfrm>
          <a:prstGeom prst="line">
            <a:avLst/>
          </a:prstGeom>
          <a:noFill/>
          <a:ln w="19050">
            <a:solidFill>
              <a:srgbClr val="028090"/>
            </a:solidFill>
            <a:prstDash val="solid"/>
          </a:ln>
        </p:spPr>
      </p:sp>
      <p:sp>
        <p:nvSpPr>
          <p:cNvPr id="9" name="Text 7"/>
          <p:cNvSpPr/>
          <p:nvPr/>
        </p:nvSpPr>
        <p:spPr>
          <a:xfrm>
            <a:off x="3451860" y="4846320"/>
            <a:ext cx="2446020" cy="365760"/>
          </a:xfrm>
          <a:prstGeom prst="rect">
            <a:avLst/>
          </a:prstGeom>
          <a:noFill/>
          <a:ln/>
        </p:spPr>
        <p:txBody>
          <a:bodyPr wrap="square" lIns="0" tIns="0" rIns="0" bIns="0" rtlCol="0" anchor="ctr"/>
          <a:lstStyle/>
          <a:p>
            <a:pPr indent="0" marL="0">
              <a:buNone/>
            </a:pPr>
            <a:r>
              <a:rPr lang="en-US" sz="1300" dirty="0">
                <a:solidFill>
                  <a:srgbClr val="E6F1F2"/>
                </a:solidFill>
                <a:latin typeface="Consolas" pitchFamily="34" charset="0"/>
                <a:ea typeface="Consolas" pitchFamily="34" charset="-122"/>
                <a:cs typeface="Consolas" pitchFamily="34" charset="-120"/>
              </a:rPr>
              <a:t>agentmesh/</a:t>
            </a:r>
            <a:endParaRPr lang="en-US" sz="1300" dirty="0"/>
          </a:p>
        </p:txBody>
      </p:sp>
      <p:sp>
        <p:nvSpPr>
          <p:cNvPr id="10" name="Text 8"/>
          <p:cNvSpPr/>
          <p:nvPr/>
        </p:nvSpPr>
        <p:spPr>
          <a:xfrm>
            <a:off x="3451860" y="5257800"/>
            <a:ext cx="2446020" cy="1280160"/>
          </a:xfrm>
          <a:prstGeom prst="rect">
            <a:avLst/>
          </a:prstGeom>
          <a:noFill/>
          <a:ln/>
        </p:spPr>
        <p:txBody>
          <a:bodyPr wrap="square" lIns="0" tIns="0" rIns="0" bIns="0" rtlCol="0" anchor="ctr"/>
          <a:lstStyle/>
          <a:p>
            <a:pPr indent="0" marL="0">
              <a:spcAft>
                <a:spcPts val="400"/>
              </a:spcAft>
              <a:buNone/>
            </a:pPr>
            <a:r>
              <a:rPr lang="en-US" sz="1200" dirty="0">
                <a:solidFill>
                  <a:srgbClr val="E6F1F2"/>
                </a:solidFill>
                <a:latin typeface="Helvetica" pitchFamily="34" charset="0"/>
                <a:ea typeface="Helvetica" pitchFamily="34" charset="-122"/>
                <a:cs typeface="Helvetica" pitchFamily="34" charset="-120"/>
              </a:rPr>
              <a:t>Signal Protocol · X3DH · Double Ratchet · KNOCK</a:t>
            </a:r>
            <a:endParaRPr lang="en-US" sz="1200" dirty="0"/>
          </a:p>
        </p:txBody>
      </p:sp>
      <p:sp>
        <p:nvSpPr>
          <p:cNvPr id="11" name="Shape 9"/>
          <p:cNvSpPr/>
          <p:nvPr/>
        </p:nvSpPr>
        <p:spPr>
          <a:xfrm>
            <a:off x="6263640" y="4754880"/>
            <a:ext cx="1097280" cy="0"/>
          </a:xfrm>
          <a:prstGeom prst="line">
            <a:avLst/>
          </a:prstGeom>
          <a:noFill/>
          <a:ln w="19050">
            <a:solidFill>
              <a:srgbClr val="028090"/>
            </a:solidFill>
            <a:prstDash val="solid"/>
          </a:ln>
        </p:spPr>
      </p:sp>
      <p:sp>
        <p:nvSpPr>
          <p:cNvPr id="12" name="Text 10"/>
          <p:cNvSpPr/>
          <p:nvPr/>
        </p:nvSpPr>
        <p:spPr>
          <a:xfrm>
            <a:off x="6263640" y="4846320"/>
            <a:ext cx="2446020" cy="365760"/>
          </a:xfrm>
          <a:prstGeom prst="rect">
            <a:avLst/>
          </a:prstGeom>
          <a:noFill/>
          <a:ln/>
        </p:spPr>
        <p:txBody>
          <a:bodyPr wrap="square" lIns="0" tIns="0" rIns="0" bIns="0" rtlCol="0" anchor="ctr"/>
          <a:lstStyle/>
          <a:p>
            <a:pPr indent="0" marL="0">
              <a:buNone/>
            </a:pPr>
            <a:r>
              <a:rPr lang="en-US" sz="1300" dirty="0">
                <a:solidFill>
                  <a:srgbClr val="E6F1F2"/>
                </a:solidFill>
                <a:latin typeface="Consolas" pitchFamily="34" charset="0"/>
                <a:ea typeface="Consolas" pitchFamily="34" charset="-122"/>
                <a:cs typeface="Consolas" pitchFamily="34" charset="-120"/>
              </a:rPr>
              <a:t>router/</a:t>
            </a:r>
            <a:endParaRPr lang="en-US" sz="1300" dirty="0"/>
          </a:p>
        </p:txBody>
      </p:sp>
      <p:sp>
        <p:nvSpPr>
          <p:cNvPr id="13" name="Text 11"/>
          <p:cNvSpPr/>
          <p:nvPr/>
        </p:nvSpPr>
        <p:spPr>
          <a:xfrm>
            <a:off x="6263640" y="5257800"/>
            <a:ext cx="2446020" cy="1280160"/>
          </a:xfrm>
          <a:prstGeom prst="rect">
            <a:avLst/>
          </a:prstGeom>
          <a:noFill/>
          <a:ln/>
        </p:spPr>
        <p:txBody>
          <a:bodyPr wrap="square" lIns="0" tIns="0" rIns="0" bIns="0" rtlCol="0" anchor="ctr"/>
          <a:lstStyle/>
          <a:p>
            <a:pPr indent="0" marL="0">
              <a:spcAft>
                <a:spcPts val="400"/>
              </a:spcAft>
              <a:buNone/>
            </a:pPr>
            <a:r>
              <a:rPr lang="en-US" sz="1200" dirty="0">
                <a:solidFill>
                  <a:srgbClr val="E6F1F2"/>
                </a:solidFill>
                <a:latin typeface="Helvetica" pitchFamily="34" charset="0"/>
                <a:ea typeface="Helvetica" pitchFamily="34" charset="-122"/>
                <a:cs typeface="Helvetica" pitchFamily="34" charset="-120"/>
              </a:rPr>
              <a:t>InferencePolicy · ToolPolicy · Content Safety · budgets</a:t>
            </a:r>
            <a:endParaRPr lang="en-US" sz="1200" dirty="0"/>
          </a:p>
        </p:txBody>
      </p:sp>
      <p:sp>
        <p:nvSpPr>
          <p:cNvPr id="14" name="Shape 12"/>
          <p:cNvSpPr/>
          <p:nvPr/>
        </p:nvSpPr>
        <p:spPr>
          <a:xfrm>
            <a:off x="9075420" y="4754880"/>
            <a:ext cx="1097280" cy="0"/>
          </a:xfrm>
          <a:prstGeom prst="line">
            <a:avLst/>
          </a:prstGeom>
          <a:noFill/>
          <a:ln w="19050">
            <a:solidFill>
              <a:srgbClr val="028090"/>
            </a:solidFill>
            <a:prstDash val="solid"/>
          </a:ln>
        </p:spPr>
      </p:sp>
      <p:sp>
        <p:nvSpPr>
          <p:cNvPr id="15" name="Text 13"/>
          <p:cNvSpPr/>
          <p:nvPr/>
        </p:nvSpPr>
        <p:spPr>
          <a:xfrm>
            <a:off x="9075420" y="4846320"/>
            <a:ext cx="2446020" cy="365760"/>
          </a:xfrm>
          <a:prstGeom prst="rect">
            <a:avLst/>
          </a:prstGeom>
          <a:noFill/>
          <a:ln/>
        </p:spPr>
        <p:txBody>
          <a:bodyPr wrap="square" lIns="0" tIns="0" rIns="0" bIns="0" rtlCol="0" anchor="ctr"/>
          <a:lstStyle/>
          <a:p>
            <a:pPr indent="0" marL="0">
              <a:buNone/>
            </a:pPr>
            <a:r>
              <a:rPr lang="en-US" sz="1300" dirty="0">
                <a:solidFill>
                  <a:srgbClr val="E6F1F2"/>
                </a:solidFill>
                <a:latin typeface="Consolas" pitchFamily="34" charset="0"/>
                <a:ea typeface="Consolas" pitchFamily="34" charset="-122"/>
                <a:cs typeface="Consolas" pitchFamily="34" charset="-120"/>
              </a:rPr>
              <a:t>contract/v1</a:t>
            </a:r>
            <a:endParaRPr lang="en-US" sz="1300" dirty="0"/>
          </a:p>
        </p:txBody>
      </p:sp>
      <p:sp>
        <p:nvSpPr>
          <p:cNvPr id="16" name="Text 14"/>
          <p:cNvSpPr/>
          <p:nvPr/>
        </p:nvSpPr>
        <p:spPr>
          <a:xfrm>
            <a:off x="9075420" y="5257800"/>
            <a:ext cx="2446020" cy="1280160"/>
          </a:xfrm>
          <a:prstGeom prst="rect">
            <a:avLst/>
          </a:prstGeom>
          <a:noFill/>
          <a:ln/>
        </p:spPr>
        <p:txBody>
          <a:bodyPr wrap="square" lIns="0" tIns="0" rIns="0" bIns="0" rtlCol="0" anchor="ctr"/>
          <a:lstStyle/>
          <a:p>
            <a:pPr indent="0" marL="0">
              <a:spcAft>
                <a:spcPts val="400"/>
              </a:spcAft>
              <a:buNone/>
            </a:pPr>
            <a:r>
              <a:rPr lang="en-US" sz="1200" dirty="0">
                <a:solidFill>
                  <a:srgbClr val="E6F1F2"/>
                </a:solidFill>
                <a:latin typeface="Helvetica" pitchFamily="34" charset="0"/>
                <a:ea typeface="Helvetica" pitchFamily="34" charset="-122"/>
                <a:cs typeface="Helvetica" pitchFamily="34" charset="-120"/>
              </a:rPr>
              <a:t>KARS_MODEL · KARS_RUNTIME_KIND · 127.0.0.1:8443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04</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§3 · ARCHITECTURE</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4000" b="1" dirty="0">
                <a:solidFill>
                  <a:srgbClr val="1A1A1A"/>
                </a:solidFill>
                <a:latin typeface="Helvetica" pitchFamily="34" charset="0"/>
                <a:ea typeface="Helvetica" pitchFamily="34" charset="-122"/>
                <a:cs typeface="Helvetica" pitchFamily="34" charset="-120"/>
              </a:rPr>
              <a:t>Three components.  One contract.</a:t>
            </a:r>
            <a:endParaRPr lang="en-US" sz="4000" dirty="0"/>
          </a:p>
        </p:txBody>
      </p:sp>
      <p:sp>
        <p:nvSpPr>
          <p:cNvPr id="5" name="Text 3"/>
          <p:cNvSpPr/>
          <p:nvPr/>
        </p:nvSpPr>
        <p:spPr>
          <a:xfrm>
            <a:off x="640080" y="2331720"/>
            <a:ext cx="10881360" cy="128016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Two Rust binaries and a set of CRDs do the work.  The controller turns desired state into Kubernetes primitives.  The router sits inside every sandbox pod and is the single egress path. The CRDs are the contract between them.</a:t>
            </a:r>
            <a:endParaRPr lang="en-US" sz="1800" dirty="0"/>
          </a:p>
        </p:txBody>
      </p:sp>
      <p:sp>
        <p:nvSpPr>
          <p:cNvPr id="6" name="Shape 4"/>
          <p:cNvSpPr/>
          <p:nvPr/>
        </p:nvSpPr>
        <p:spPr>
          <a:xfrm>
            <a:off x="640080" y="4023360"/>
            <a:ext cx="3413760" cy="2377440"/>
          </a:xfrm>
          <a:prstGeom prst="rect">
            <a:avLst/>
          </a:prstGeom>
          <a:solidFill>
            <a:srgbClr val="FFFFFF"/>
          </a:solidFill>
          <a:ln w="12700">
            <a:solidFill>
              <a:srgbClr val="028090"/>
            </a:solidFill>
            <a:prstDash val="solid"/>
          </a:ln>
        </p:spPr>
      </p:sp>
      <p:sp>
        <p:nvSpPr>
          <p:cNvPr id="7" name="Text 5"/>
          <p:cNvSpPr/>
          <p:nvPr/>
        </p:nvSpPr>
        <p:spPr>
          <a:xfrm>
            <a:off x="822960" y="4160520"/>
            <a:ext cx="3048000" cy="411480"/>
          </a:xfrm>
          <a:prstGeom prst="rect">
            <a:avLst/>
          </a:prstGeom>
          <a:noFill/>
          <a:ln/>
        </p:spPr>
        <p:txBody>
          <a:bodyPr wrap="square" lIns="0" tIns="0" rIns="0" bIns="0" rtlCol="0" anchor="ctr"/>
          <a:lstStyle/>
          <a:p>
            <a:pPr indent="0" marL="0">
              <a:buNone/>
            </a:pPr>
            <a:r>
              <a:rPr lang="en-US" sz="1800" b="1" dirty="0">
                <a:solidFill>
                  <a:srgbClr val="1A1A1A"/>
                </a:solidFill>
                <a:latin typeface="Helvetica" pitchFamily="34" charset="0"/>
                <a:ea typeface="Helvetica" pitchFamily="34" charset="-122"/>
                <a:cs typeface="Helvetica" pitchFamily="34" charset="-120"/>
              </a:rPr>
              <a:t>Controller</a:t>
            </a:r>
            <a:endParaRPr lang="en-US" sz="1800" dirty="0"/>
          </a:p>
        </p:txBody>
      </p:sp>
      <p:sp>
        <p:nvSpPr>
          <p:cNvPr id="8" name="Text 6"/>
          <p:cNvSpPr/>
          <p:nvPr/>
        </p:nvSpPr>
        <p:spPr>
          <a:xfrm>
            <a:off x="822960" y="4526280"/>
            <a:ext cx="3048000" cy="27432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controller/src/main.rs</a:t>
            </a:r>
            <a:endParaRPr lang="en-US" sz="1000" dirty="0"/>
          </a:p>
        </p:txBody>
      </p:sp>
      <p:sp>
        <p:nvSpPr>
          <p:cNvPr id="9" name="Text 7"/>
          <p:cNvSpPr/>
          <p:nvPr/>
        </p:nvSpPr>
        <p:spPr>
          <a:xfrm>
            <a:off x="822960" y="4892040"/>
            <a:ext cx="3048000" cy="1371600"/>
          </a:xfrm>
          <a:prstGeom prst="rect">
            <a:avLst/>
          </a:prstGeom>
          <a:noFill/>
          <a:ln/>
        </p:spPr>
        <p:txBody>
          <a:bodyPr wrap="square" lIns="0" tIns="0" rIns="0" bIns="0" rtlCol="0" anchor="ctr"/>
          <a:lstStyle/>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Rust 1.88 · kube-rs operator</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11 reconcilers (one per CRD kind)</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leader election · backoff · drift watch</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compiles policy → ConfigMaps</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stamps .status.phase + conditions</a:t>
            </a:r>
            <a:endParaRPr lang="en-US" sz="1150" dirty="0"/>
          </a:p>
        </p:txBody>
      </p:sp>
      <p:sp>
        <p:nvSpPr>
          <p:cNvPr id="10" name="Shape 8"/>
          <p:cNvSpPr/>
          <p:nvPr/>
        </p:nvSpPr>
        <p:spPr>
          <a:xfrm>
            <a:off x="4373880" y="4023360"/>
            <a:ext cx="3413760" cy="2377440"/>
          </a:xfrm>
          <a:prstGeom prst="rect">
            <a:avLst/>
          </a:prstGeom>
          <a:solidFill>
            <a:srgbClr val="FFFFFF"/>
          </a:solidFill>
          <a:ln w="12700">
            <a:solidFill>
              <a:srgbClr val="028090"/>
            </a:solidFill>
            <a:prstDash val="solid"/>
          </a:ln>
        </p:spPr>
      </p:sp>
      <p:sp>
        <p:nvSpPr>
          <p:cNvPr id="11" name="Text 9"/>
          <p:cNvSpPr/>
          <p:nvPr/>
        </p:nvSpPr>
        <p:spPr>
          <a:xfrm>
            <a:off x="4556760" y="4160520"/>
            <a:ext cx="3048000" cy="411480"/>
          </a:xfrm>
          <a:prstGeom prst="rect">
            <a:avLst/>
          </a:prstGeom>
          <a:noFill/>
          <a:ln/>
        </p:spPr>
        <p:txBody>
          <a:bodyPr wrap="square" lIns="0" tIns="0" rIns="0" bIns="0" rtlCol="0" anchor="ctr"/>
          <a:lstStyle/>
          <a:p>
            <a:pPr indent="0" marL="0">
              <a:buNone/>
            </a:pPr>
            <a:r>
              <a:rPr lang="en-US" sz="1800" b="1" dirty="0">
                <a:solidFill>
                  <a:srgbClr val="1A1A1A"/>
                </a:solidFill>
                <a:latin typeface="Helvetica" pitchFamily="34" charset="0"/>
                <a:ea typeface="Helvetica" pitchFamily="34" charset="-122"/>
                <a:cs typeface="Helvetica" pitchFamily="34" charset="-120"/>
              </a:rPr>
              <a:t>CRDs</a:t>
            </a:r>
            <a:endParaRPr lang="en-US" sz="1800" dirty="0"/>
          </a:p>
        </p:txBody>
      </p:sp>
      <p:sp>
        <p:nvSpPr>
          <p:cNvPr id="12" name="Text 10"/>
          <p:cNvSpPr/>
          <p:nvPr/>
        </p:nvSpPr>
        <p:spPr>
          <a:xfrm>
            <a:off x="4556760" y="4526280"/>
            <a:ext cx="3048000" cy="27432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deploy/helm/kars/templates/crd-*.yaml</a:t>
            </a:r>
            <a:endParaRPr lang="en-US" sz="1000" dirty="0"/>
          </a:p>
        </p:txBody>
      </p:sp>
      <p:sp>
        <p:nvSpPr>
          <p:cNvPr id="13" name="Text 11"/>
          <p:cNvSpPr/>
          <p:nvPr/>
        </p:nvSpPr>
        <p:spPr>
          <a:xfrm>
            <a:off x="4556760" y="4892040"/>
            <a:ext cx="3048000" cy="1371600"/>
          </a:xfrm>
          <a:prstGeom prst="rect">
            <a:avLst/>
          </a:prstGeom>
          <a:noFill/>
          <a:ln/>
        </p:spPr>
        <p:txBody>
          <a:bodyPr wrap="square" lIns="0" tIns="0" rIns="0" bIns="0" rtlCol="0" anchor="ctr"/>
          <a:lstStyle/>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11 kinds (9 namespaced · 2 cluster)</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OpenAPIv3 + Admission Policies</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owned by controller · GC via ownerRefs</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single source of truth</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kubectl-native diff/apply/explain</a:t>
            </a:r>
            <a:endParaRPr lang="en-US" sz="1150" dirty="0"/>
          </a:p>
        </p:txBody>
      </p:sp>
      <p:sp>
        <p:nvSpPr>
          <p:cNvPr id="14" name="Shape 12"/>
          <p:cNvSpPr/>
          <p:nvPr/>
        </p:nvSpPr>
        <p:spPr>
          <a:xfrm>
            <a:off x="8107680" y="4023360"/>
            <a:ext cx="3413760" cy="2377440"/>
          </a:xfrm>
          <a:prstGeom prst="rect">
            <a:avLst/>
          </a:prstGeom>
          <a:solidFill>
            <a:srgbClr val="FFFFFF"/>
          </a:solidFill>
          <a:ln w="12700">
            <a:solidFill>
              <a:srgbClr val="028090"/>
            </a:solidFill>
            <a:prstDash val="solid"/>
          </a:ln>
        </p:spPr>
      </p:sp>
      <p:sp>
        <p:nvSpPr>
          <p:cNvPr id="15" name="Text 13"/>
          <p:cNvSpPr/>
          <p:nvPr/>
        </p:nvSpPr>
        <p:spPr>
          <a:xfrm>
            <a:off x="8290560" y="4160520"/>
            <a:ext cx="3048000" cy="411480"/>
          </a:xfrm>
          <a:prstGeom prst="rect">
            <a:avLst/>
          </a:prstGeom>
          <a:noFill/>
          <a:ln/>
        </p:spPr>
        <p:txBody>
          <a:bodyPr wrap="square" lIns="0" tIns="0" rIns="0" bIns="0" rtlCol="0" anchor="ctr"/>
          <a:lstStyle/>
          <a:p>
            <a:pPr indent="0" marL="0">
              <a:buNone/>
            </a:pPr>
            <a:r>
              <a:rPr lang="en-US" sz="1800" b="1" dirty="0">
                <a:solidFill>
                  <a:srgbClr val="1A1A1A"/>
                </a:solidFill>
                <a:latin typeface="Helvetica" pitchFamily="34" charset="0"/>
                <a:ea typeface="Helvetica" pitchFamily="34" charset="-122"/>
                <a:cs typeface="Helvetica" pitchFamily="34" charset="-120"/>
              </a:rPr>
              <a:t>Inference Router</a:t>
            </a:r>
            <a:endParaRPr lang="en-US" sz="1800" dirty="0"/>
          </a:p>
        </p:txBody>
      </p:sp>
      <p:sp>
        <p:nvSpPr>
          <p:cNvPr id="16" name="Text 14"/>
          <p:cNvSpPr/>
          <p:nvPr/>
        </p:nvSpPr>
        <p:spPr>
          <a:xfrm>
            <a:off x="8290560" y="4526280"/>
            <a:ext cx="3048000" cy="27432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inference-router/src/main.rs</a:t>
            </a:r>
            <a:endParaRPr lang="en-US" sz="1000" dirty="0"/>
          </a:p>
        </p:txBody>
      </p:sp>
      <p:sp>
        <p:nvSpPr>
          <p:cNvPr id="17" name="Text 15"/>
          <p:cNvSpPr/>
          <p:nvPr/>
        </p:nvSpPr>
        <p:spPr>
          <a:xfrm>
            <a:off x="8290560" y="4892040"/>
            <a:ext cx="3048000" cy="1371600"/>
          </a:xfrm>
          <a:prstGeom prst="rect">
            <a:avLst/>
          </a:prstGeom>
          <a:noFill/>
          <a:ln/>
        </p:spPr>
        <p:txBody>
          <a:bodyPr wrap="square" lIns="0" tIns="0" rIns="0" bIns="0" rtlCol="0" anchor="ctr"/>
          <a:lstStyle/>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Rust 1.88 · axum sidecar (UID 1001)</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:8443 admin  ·  :8444 transparent proxy</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single egress path for the agent</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policy gate · audit · budget · failover</a:t>
            </a:r>
            <a:endParaRPr lang="en-US" sz="1150" dirty="0"/>
          </a:p>
          <a:p>
            <a:pPr indent="0" marL="0">
              <a:spcAft>
                <a:spcPts val="400"/>
              </a:spcAft>
              <a:buNone/>
            </a:pPr>
            <a:r>
              <a:rPr lang="en-US" sz="1150" dirty="0">
                <a:solidFill>
                  <a:srgbClr val="1A1A1A"/>
                </a:solidFill>
                <a:latin typeface="Helvetica" pitchFamily="34" charset="0"/>
                <a:ea typeface="Helvetica" pitchFamily="34" charset="-122"/>
                <a:cs typeface="Helvetica" pitchFamily="34" charset="-120"/>
              </a:rPr>
              <a:t>·  IMDS / Workload Identity — no keys in pod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05</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§3.1 · ARCHITECTURE · REQUEST PATH</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400" b="1" dirty="0">
                <a:solidFill>
                  <a:srgbClr val="1A1A1A"/>
                </a:solidFill>
                <a:latin typeface="Helvetica" pitchFamily="34" charset="0"/>
                <a:ea typeface="Helvetica" pitchFamily="34" charset="-122"/>
                <a:cs typeface="Helvetica" pitchFamily="34" charset="-120"/>
              </a:rPr>
              <a:t>Every call:  one hop, one decision, one record.</a:t>
            </a:r>
            <a:endParaRPr lang="en-US" sz="3400" dirty="0"/>
          </a:p>
        </p:txBody>
      </p:sp>
      <p:sp>
        <p:nvSpPr>
          <p:cNvPr id="5" name="Text 3"/>
          <p:cNvSpPr/>
          <p:nvPr/>
        </p:nvSpPr>
        <p:spPr>
          <a:xfrm>
            <a:off x="640080" y="2286000"/>
            <a:ext cx="10881360" cy="137160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The agent process never sees an API key, never sees an upstream URL, never knows the difference between Foundry, Anthropic, an MCP server, or an A2A peer.  iptables rewrites every outbound to the router sidecar.  The rest is policy and bookkeeping.</a:t>
            </a:r>
            <a:endParaRPr lang="en-US" sz="1800" dirty="0"/>
          </a:p>
        </p:txBody>
      </p:sp>
      <p:sp>
        <p:nvSpPr>
          <p:cNvPr id="6" name="Text 4"/>
          <p:cNvSpPr/>
          <p:nvPr/>
        </p:nvSpPr>
        <p:spPr>
          <a:xfrm>
            <a:off x="640080" y="3840480"/>
            <a:ext cx="411480" cy="420624"/>
          </a:xfrm>
          <a:prstGeom prst="rect">
            <a:avLst/>
          </a:prstGeom>
          <a:noFill/>
          <a:ln/>
        </p:spPr>
        <p:txBody>
          <a:bodyPr wrap="square" lIns="0" tIns="0" rIns="0" bIns="0" rtlCol="0" anchor="ctr"/>
          <a:lstStyle/>
          <a:p>
            <a:pPr algn="l" indent="0" marL="0">
              <a:buNone/>
            </a:pPr>
            <a:r>
              <a:rPr lang="en-US" sz="1600" b="1" dirty="0">
                <a:solidFill>
                  <a:srgbClr val="028090"/>
                </a:solidFill>
                <a:latin typeface="Consolas" pitchFamily="34" charset="0"/>
                <a:ea typeface="Consolas" pitchFamily="34" charset="-122"/>
                <a:cs typeface="Consolas" pitchFamily="34" charset="-120"/>
              </a:rPr>
              <a:t>1</a:t>
            </a:r>
            <a:endParaRPr lang="en-US" sz="1600" dirty="0"/>
          </a:p>
        </p:txBody>
      </p:sp>
      <p:sp>
        <p:nvSpPr>
          <p:cNvPr id="7" name="Text 5"/>
          <p:cNvSpPr/>
          <p:nvPr/>
        </p:nvSpPr>
        <p:spPr>
          <a:xfrm>
            <a:off x="1143000" y="3840480"/>
            <a:ext cx="2194560" cy="420624"/>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agent process</a:t>
            </a:r>
            <a:endParaRPr lang="en-US" sz="1400" dirty="0"/>
          </a:p>
        </p:txBody>
      </p:sp>
      <p:sp>
        <p:nvSpPr>
          <p:cNvPr id="8" name="Text 6"/>
          <p:cNvSpPr/>
          <p:nvPr/>
        </p:nvSpPr>
        <p:spPr>
          <a:xfrm>
            <a:off x="3429000" y="3840480"/>
            <a:ext cx="8092440" cy="420624"/>
          </a:xfrm>
          <a:prstGeom prst="rect">
            <a:avLst/>
          </a:prstGeom>
          <a:noFill/>
          <a:ln/>
        </p:spPr>
        <p:txBody>
          <a:bodyPr wrap="square" lIns="0" tIns="0" rIns="0" bIns="0" rtlCol="0" anchor="ctr"/>
          <a:lstStyle/>
          <a:p>
            <a:pPr indent="0" marL="0">
              <a:buNone/>
            </a:pPr>
            <a:r>
              <a:rPr lang="en-US" sz="1200" dirty="0">
                <a:solidFill>
                  <a:srgbClr val="1A1A1A"/>
                </a:solidFill>
                <a:latin typeface="Helvetica" pitchFamily="34" charset="0"/>
                <a:ea typeface="Helvetica" pitchFamily="34" charset="-122"/>
                <a:cs typeface="Helvetica" pitchFamily="34" charset="-120"/>
              </a:rPr>
              <a:t>UID 1000 makes a plain HTTPS call — no SDK, no special client</a:t>
            </a:r>
            <a:endParaRPr lang="en-US" sz="1200" dirty="0"/>
          </a:p>
        </p:txBody>
      </p:sp>
      <p:sp>
        <p:nvSpPr>
          <p:cNvPr id="9" name="Text 7"/>
          <p:cNvSpPr/>
          <p:nvPr/>
        </p:nvSpPr>
        <p:spPr>
          <a:xfrm>
            <a:off x="640080" y="4261104"/>
            <a:ext cx="411480" cy="420624"/>
          </a:xfrm>
          <a:prstGeom prst="rect">
            <a:avLst/>
          </a:prstGeom>
          <a:noFill/>
          <a:ln/>
        </p:spPr>
        <p:txBody>
          <a:bodyPr wrap="square" lIns="0" tIns="0" rIns="0" bIns="0" rtlCol="0" anchor="ctr"/>
          <a:lstStyle/>
          <a:p>
            <a:pPr algn="l" indent="0" marL="0">
              <a:buNone/>
            </a:pPr>
            <a:r>
              <a:rPr lang="en-US" sz="1600" b="1" dirty="0">
                <a:solidFill>
                  <a:srgbClr val="028090"/>
                </a:solidFill>
                <a:latin typeface="Consolas" pitchFamily="34" charset="0"/>
                <a:ea typeface="Consolas" pitchFamily="34" charset="-122"/>
                <a:cs typeface="Consolas" pitchFamily="34" charset="-120"/>
              </a:rPr>
              <a:t>2</a:t>
            </a:r>
            <a:endParaRPr lang="en-US" sz="1600" dirty="0"/>
          </a:p>
        </p:txBody>
      </p:sp>
      <p:sp>
        <p:nvSpPr>
          <p:cNvPr id="10" name="Text 8"/>
          <p:cNvSpPr/>
          <p:nvPr/>
        </p:nvSpPr>
        <p:spPr>
          <a:xfrm>
            <a:off x="1143000" y="4261104"/>
            <a:ext cx="2194560" cy="420624"/>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iptables DNAT</a:t>
            </a:r>
            <a:endParaRPr lang="en-US" sz="1400" dirty="0"/>
          </a:p>
        </p:txBody>
      </p:sp>
      <p:sp>
        <p:nvSpPr>
          <p:cNvPr id="11" name="Text 9"/>
          <p:cNvSpPr/>
          <p:nvPr/>
        </p:nvSpPr>
        <p:spPr>
          <a:xfrm>
            <a:off x="3429000" y="4261104"/>
            <a:ext cx="8092440" cy="420624"/>
          </a:xfrm>
          <a:prstGeom prst="rect">
            <a:avLst/>
          </a:prstGeom>
          <a:noFill/>
          <a:ln/>
        </p:spPr>
        <p:txBody>
          <a:bodyPr wrap="square" lIns="0" tIns="0" rIns="0" bIns="0" rtlCol="0" anchor="ctr"/>
          <a:lstStyle/>
          <a:p>
            <a:pPr indent="0" marL="0">
              <a:buNone/>
            </a:pPr>
            <a:r>
              <a:rPr lang="en-US" sz="1200" dirty="0">
                <a:solidFill>
                  <a:srgbClr val="1A1A1A"/>
                </a:solidFill>
                <a:latin typeface="Helvetica" pitchFamily="34" charset="0"/>
                <a:ea typeface="Helvetica" pitchFamily="34" charset="-122"/>
                <a:cs typeface="Helvetica" pitchFamily="34" charset="-120"/>
              </a:rPr>
              <a:t>kars-strict redirects :80/:443 → 127.0.0.1:8444  (egress-guard init-container)</a:t>
            </a:r>
            <a:endParaRPr lang="en-US" sz="1200" dirty="0"/>
          </a:p>
        </p:txBody>
      </p:sp>
      <p:sp>
        <p:nvSpPr>
          <p:cNvPr id="12" name="Text 10"/>
          <p:cNvSpPr/>
          <p:nvPr/>
        </p:nvSpPr>
        <p:spPr>
          <a:xfrm>
            <a:off x="640080" y="4681728"/>
            <a:ext cx="411480" cy="420624"/>
          </a:xfrm>
          <a:prstGeom prst="rect">
            <a:avLst/>
          </a:prstGeom>
          <a:noFill/>
          <a:ln/>
        </p:spPr>
        <p:txBody>
          <a:bodyPr wrap="square" lIns="0" tIns="0" rIns="0" bIns="0" rtlCol="0" anchor="ctr"/>
          <a:lstStyle/>
          <a:p>
            <a:pPr algn="l" indent="0" marL="0">
              <a:buNone/>
            </a:pPr>
            <a:r>
              <a:rPr lang="en-US" sz="1600" b="1" dirty="0">
                <a:solidFill>
                  <a:srgbClr val="028090"/>
                </a:solidFill>
                <a:latin typeface="Consolas" pitchFamily="34" charset="0"/>
                <a:ea typeface="Consolas" pitchFamily="34" charset="-122"/>
                <a:cs typeface="Consolas" pitchFamily="34" charset="-120"/>
              </a:rPr>
              <a:t>3</a:t>
            </a:r>
            <a:endParaRPr lang="en-US" sz="1600" dirty="0"/>
          </a:p>
        </p:txBody>
      </p:sp>
      <p:sp>
        <p:nvSpPr>
          <p:cNvPr id="13" name="Text 11"/>
          <p:cNvSpPr/>
          <p:nvPr/>
        </p:nvSpPr>
        <p:spPr>
          <a:xfrm>
            <a:off x="1143000" y="4681728"/>
            <a:ext cx="2194560" cy="420624"/>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router :8444</a:t>
            </a:r>
            <a:endParaRPr lang="en-US" sz="1400" dirty="0"/>
          </a:p>
        </p:txBody>
      </p:sp>
      <p:sp>
        <p:nvSpPr>
          <p:cNvPr id="14" name="Text 12"/>
          <p:cNvSpPr/>
          <p:nvPr/>
        </p:nvSpPr>
        <p:spPr>
          <a:xfrm>
            <a:off x="3429000" y="4681728"/>
            <a:ext cx="8092440" cy="420624"/>
          </a:xfrm>
          <a:prstGeom prst="rect">
            <a:avLst/>
          </a:prstGeom>
          <a:noFill/>
          <a:ln/>
        </p:spPr>
        <p:txBody>
          <a:bodyPr wrap="square" lIns="0" tIns="0" rIns="0" bIns="0" rtlCol="0" anchor="ctr"/>
          <a:lstStyle/>
          <a:p>
            <a:pPr indent="0" marL="0">
              <a:buNone/>
            </a:pPr>
            <a:r>
              <a:rPr lang="en-US" sz="1200" dirty="0">
                <a:solidFill>
                  <a:srgbClr val="1A1A1A"/>
                </a:solidFill>
                <a:latin typeface="Helvetica" pitchFamily="34" charset="0"/>
                <a:ea typeface="Helvetica" pitchFamily="34" charset="-122"/>
                <a:cs typeface="Helvetica" pitchFamily="34" charset="-120"/>
              </a:rPr>
              <a:t>transparent proxy terminates TLS, reconstitutes the request, looks up policy</a:t>
            </a:r>
            <a:endParaRPr lang="en-US" sz="1200" dirty="0"/>
          </a:p>
        </p:txBody>
      </p:sp>
      <p:sp>
        <p:nvSpPr>
          <p:cNvPr id="15" name="Text 13"/>
          <p:cNvSpPr/>
          <p:nvPr/>
        </p:nvSpPr>
        <p:spPr>
          <a:xfrm>
            <a:off x="640080" y="5102352"/>
            <a:ext cx="411480" cy="420624"/>
          </a:xfrm>
          <a:prstGeom prst="rect">
            <a:avLst/>
          </a:prstGeom>
          <a:noFill/>
          <a:ln/>
        </p:spPr>
        <p:txBody>
          <a:bodyPr wrap="square" lIns="0" tIns="0" rIns="0" bIns="0" rtlCol="0" anchor="ctr"/>
          <a:lstStyle/>
          <a:p>
            <a:pPr algn="l" indent="0" marL="0">
              <a:buNone/>
            </a:pPr>
            <a:r>
              <a:rPr lang="en-US" sz="1600" b="1" dirty="0">
                <a:solidFill>
                  <a:srgbClr val="028090"/>
                </a:solidFill>
                <a:latin typeface="Consolas" pitchFamily="34" charset="0"/>
                <a:ea typeface="Consolas" pitchFamily="34" charset="-122"/>
                <a:cs typeface="Consolas" pitchFamily="34" charset="-120"/>
              </a:rPr>
              <a:t>4</a:t>
            </a:r>
            <a:endParaRPr lang="en-US" sz="1600" dirty="0"/>
          </a:p>
        </p:txBody>
      </p:sp>
      <p:sp>
        <p:nvSpPr>
          <p:cNvPr id="16" name="Text 14"/>
          <p:cNvSpPr/>
          <p:nvPr/>
        </p:nvSpPr>
        <p:spPr>
          <a:xfrm>
            <a:off x="1143000" y="5102352"/>
            <a:ext cx="2194560" cy="420624"/>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policy gate</a:t>
            </a:r>
            <a:endParaRPr lang="en-US" sz="1400" dirty="0"/>
          </a:p>
        </p:txBody>
      </p:sp>
      <p:sp>
        <p:nvSpPr>
          <p:cNvPr id="17" name="Text 15"/>
          <p:cNvSpPr/>
          <p:nvPr/>
        </p:nvSpPr>
        <p:spPr>
          <a:xfrm>
            <a:off x="3429000" y="5102352"/>
            <a:ext cx="8092440" cy="420624"/>
          </a:xfrm>
          <a:prstGeom prst="rect">
            <a:avLst/>
          </a:prstGeom>
          <a:noFill/>
          <a:ln/>
        </p:spPr>
        <p:txBody>
          <a:bodyPr wrap="square" lIns="0" tIns="0" rIns="0" bIns="0" rtlCol="0" anchor="ctr"/>
          <a:lstStyle/>
          <a:p>
            <a:pPr indent="0" marL="0">
              <a:buNone/>
            </a:pPr>
            <a:r>
              <a:rPr lang="en-US" sz="1200" dirty="0">
                <a:solidFill>
                  <a:srgbClr val="1A1A1A"/>
                </a:solidFill>
                <a:latin typeface="Helvetica" pitchFamily="34" charset="0"/>
                <a:ea typeface="Helvetica" pitchFamily="34" charset="-122"/>
                <a:cs typeface="Helvetica" pitchFamily="34" charset="-120"/>
              </a:rPr>
              <a:t>InferencePolicy · ToolPolicy · EgressApproval · Content Safety prompt-shields</a:t>
            </a:r>
            <a:endParaRPr lang="en-US" sz="1200" dirty="0"/>
          </a:p>
        </p:txBody>
      </p:sp>
      <p:sp>
        <p:nvSpPr>
          <p:cNvPr id="18" name="Text 16"/>
          <p:cNvSpPr/>
          <p:nvPr/>
        </p:nvSpPr>
        <p:spPr>
          <a:xfrm>
            <a:off x="640080" y="5522976"/>
            <a:ext cx="411480" cy="420624"/>
          </a:xfrm>
          <a:prstGeom prst="rect">
            <a:avLst/>
          </a:prstGeom>
          <a:noFill/>
          <a:ln/>
        </p:spPr>
        <p:txBody>
          <a:bodyPr wrap="square" lIns="0" tIns="0" rIns="0" bIns="0" rtlCol="0" anchor="ctr"/>
          <a:lstStyle/>
          <a:p>
            <a:pPr algn="l" indent="0" marL="0">
              <a:buNone/>
            </a:pPr>
            <a:r>
              <a:rPr lang="en-US" sz="1600" b="1" dirty="0">
                <a:solidFill>
                  <a:srgbClr val="028090"/>
                </a:solidFill>
                <a:latin typeface="Consolas" pitchFamily="34" charset="0"/>
                <a:ea typeface="Consolas" pitchFamily="34" charset="-122"/>
                <a:cs typeface="Consolas" pitchFamily="34" charset="-120"/>
              </a:rPr>
              <a:t>5</a:t>
            </a:r>
            <a:endParaRPr lang="en-US" sz="1600" dirty="0"/>
          </a:p>
        </p:txBody>
      </p:sp>
      <p:sp>
        <p:nvSpPr>
          <p:cNvPr id="19" name="Text 17"/>
          <p:cNvSpPr/>
          <p:nvPr/>
        </p:nvSpPr>
        <p:spPr>
          <a:xfrm>
            <a:off x="1143000" y="5522976"/>
            <a:ext cx="2194560" cy="420624"/>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budget + audit</a:t>
            </a:r>
            <a:endParaRPr lang="en-US" sz="1400" dirty="0"/>
          </a:p>
        </p:txBody>
      </p:sp>
      <p:sp>
        <p:nvSpPr>
          <p:cNvPr id="20" name="Text 18"/>
          <p:cNvSpPr/>
          <p:nvPr/>
        </p:nvSpPr>
        <p:spPr>
          <a:xfrm>
            <a:off x="3429000" y="5522976"/>
            <a:ext cx="8092440" cy="420624"/>
          </a:xfrm>
          <a:prstGeom prst="rect">
            <a:avLst/>
          </a:prstGeom>
          <a:noFill/>
          <a:ln/>
        </p:spPr>
        <p:txBody>
          <a:bodyPr wrap="square" lIns="0" tIns="0" rIns="0" bIns="0" rtlCol="0" anchor="ctr"/>
          <a:lstStyle/>
          <a:p>
            <a:pPr indent="0" marL="0">
              <a:buNone/>
            </a:pPr>
            <a:r>
              <a:rPr lang="en-US" sz="1200" dirty="0">
                <a:solidFill>
                  <a:srgbClr val="1A1A1A"/>
                </a:solidFill>
                <a:latin typeface="Helvetica" pitchFamily="34" charset="0"/>
                <a:ea typeface="Helvetica" pitchFamily="34" charset="-122"/>
                <a:cs typeface="Helvetica" pitchFamily="34" charset="-120"/>
              </a:rPr>
              <a:t>per-sandbox token meter ticks · hash-chained JSONL row written · OTel emitted</a:t>
            </a:r>
            <a:endParaRPr lang="en-US" sz="1200" dirty="0"/>
          </a:p>
        </p:txBody>
      </p:sp>
      <p:sp>
        <p:nvSpPr>
          <p:cNvPr id="21" name="Text 19"/>
          <p:cNvSpPr/>
          <p:nvPr/>
        </p:nvSpPr>
        <p:spPr>
          <a:xfrm>
            <a:off x="640080" y="5943600"/>
            <a:ext cx="411480" cy="420624"/>
          </a:xfrm>
          <a:prstGeom prst="rect">
            <a:avLst/>
          </a:prstGeom>
          <a:noFill/>
          <a:ln/>
        </p:spPr>
        <p:txBody>
          <a:bodyPr wrap="square" lIns="0" tIns="0" rIns="0" bIns="0" rtlCol="0" anchor="ctr"/>
          <a:lstStyle/>
          <a:p>
            <a:pPr algn="l" indent="0" marL="0">
              <a:buNone/>
            </a:pPr>
            <a:r>
              <a:rPr lang="en-US" sz="1600" b="1" dirty="0">
                <a:solidFill>
                  <a:srgbClr val="028090"/>
                </a:solidFill>
                <a:latin typeface="Consolas" pitchFamily="34" charset="0"/>
                <a:ea typeface="Consolas" pitchFamily="34" charset="-122"/>
                <a:cs typeface="Consolas" pitchFamily="34" charset="-120"/>
              </a:rPr>
              <a:t>6</a:t>
            </a:r>
            <a:endParaRPr lang="en-US" sz="1600" dirty="0"/>
          </a:p>
        </p:txBody>
      </p:sp>
      <p:sp>
        <p:nvSpPr>
          <p:cNvPr id="22" name="Text 20"/>
          <p:cNvSpPr/>
          <p:nvPr/>
        </p:nvSpPr>
        <p:spPr>
          <a:xfrm>
            <a:off x="1143000" y="5943600"/>
            <a:ext cx="2194560" cy="420624"/>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upstream</a:t>
            </a:r>
            <a:endParaRPr lang="en-US" sz="1400" dirty="0"/>
          </a:p>
        </p:txBody>
      </p:sp>
      <p:sp>
        <p:nvSpPr>
          <p:cNvPr id="23" name="Text 21"/>
          <p:cNvSpPr/>
          <p:nvPr/>
        </p:nvSpPr>
        <p:spPr>
          <a:xfrm>
            <a:off x="3429000" y="5943600"/>
            <a:ext cx="8092440" cy="420624"/>
          </a:xfrm>
          <a:prstGeom prst="rect">
            <a:avLst/>
          </a:prstGeom>
          <a:noFill/>
          <a:ln/>
        </p:spPr>
        <p:txBody>
          <a:bodyPr wrap="square" lIns="0" tIns="0" rIns="0" bIns="0" rtlCol="0" anchor="ctr"/>
          <a:lstStyle/>
          <a:p>
            <a:pPr indent="0" marL="0">
              <a:buNone/>
            </a:pPr>
            <a:r>
              <a:rPr lang="en-US" sz="1200" dirty="0">
                <a:solidFill>
                  <a:srgbClr val="1A1A1A"/>
                </a:solidFill>
                <a:latin typeface="Helvetica" pitchFamily="34" charset="0"/>
                <a:ea typeface="Helvetica" pitchFamily="34" charset="-122"/>
                <a:cs typeface="Helvetica" pitchFamily="34" charset="-120"/>
              </a:rPr>
              <a:t>Azure OpenAI · Anthropic · OpenAI · Bedrock · MCP · A2A — chosen by failover chain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06</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§3.2 · ARCHITECTURE · ROUTER INTERNALS</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800" b="1" dirty="0">
                <a:solidFill>
                  <a:srgbClr val="1A1A1A"/>
                </a:solidFill>
                <a:latin typeface="Helvetica" pitchFamily="34" charset="0"/>
                <a:ea typeface="Helvetica" pitchFamily="34" charset="-122"/>
                <a:cs typeface="Helvetica" pitchFamily="34" charset="-120"/>
              </a:rPr>
              <a:t>Inside the sidecar.</a:t>
            </a:r>
            <a:endParaRPr lang="en-US" sz="3800" dirty="0"/>
          </a:p>
        </p:txBody>
      </p:sp>
      <p:sp>
        <p:nvSpPr>
          <p:cNvPr id="5" name="Text 3"/>
          <p:cNvSpPr/>
          <p:nvPr/>
        </p:nvSpPr>
        <p:spPr>
          <a:xfrm>
            <a:off x="640080" y="2286000"/>
            <a:ext cx="10881360" cy="109728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axum routes are mounted as merged sub-routers (inference, foundry, mesh, mcp, a2a, handoff, spawn, governance, egress, admin).  Cross-cutting subsystems are wired once as Tower layers and reused by every route.</a:t>
            </a:r>
            <a:endParaRPr lang="en-US" sz="1800" dirty="0"/>
          </a:p>
        </p:txBody>
      </p:sp>
      <p:sp>
        <p:nvSpPr>
          <p:cNvPr id="6" name="Text 4"/>
          <p:cNvSpPr/>
          <p:nvPr/>
        </p:nvSpPr>
        <p:spPr>
          <a:xfrm>
            <a:off x="640080" y="3611880"/>
            <a:ext cx="5486400" cy="365760"/>
          </a:xfrm>
          <a:prstGeom prst="rect">
            <a:avLst/>
          </a:prstGeom>
          <a:noFill/>
          <a:ln/>
        </p:spPr>
        <p:txBody>
          <a:bodyPr wrap="square" lIns="0" tIns="0" rIns="0" bIns="0" rtlCol="0" anchor="ctr"/>
          <a:lstStyle/>
          <a:p>
            <a:pPr indent="0" marL="0">
              <a:buNone/>
            </a:pPr>
            <a:r>
              <a:rPr lang="en-US" sz="1600" b="1" dirty="0">
                <a:solidFill>
                  <a:srgbClr val="1A1A1A"/>
                </a:solidFill>
                <a:latin typeface="Helvetica" pitchFamily="34" charset="0"/>
                <a:ea typeface="Helvetica" pitchFamily="34" charset="-122"/>
                <a:cs typeface="Helvetica" pitchFamily="34" charset="-120"/>
              </a:rPr>
              <a:t>Routes</a:t>
            </a:r>
            <a:endParaRPr lang="en-US" sz="1600" dirty="0"/>
          </a:p>
        </p:txBody>
      </p:sp>
      <p:sp>
        <p:nvSpPr>
          <p:cNvPr id="7" name="Text 5"/>
          <p:cNvSpPr/>
          <p:nvPr/>
        </p:nvSpPr>
        <p:spPr>
          <a:xfrm>
            <a:off x="640080" y="4023360"/>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/v1/chat/completions</a:t>
            </a:r>
            <a:endParaRPr lang="en-US" sz="1050" dirty="0"/>
          </a:p>
        </p:txBody>
      </p:sp>
      <p:sp>
        <p:nvSpPr>
          <p:cNvPr id="8" name="Text 6"/>
          <p:cNvSpPr/>
          <p:nvPr/>
        </p:nvSpPr>
        <p:spPr>
          <a:xfrm>
            <a:off x="3017520" y="4023360"/>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OpenAI-compatible inference (translated to Azure / Anthropic)</a:t>
            </a:r>
            <a:endParaRPr lang="en-US" sz="1050" dirty="0"/>
          </a:p>
        </p:txBody>
      </p:sp>
      <p:sp>
        <p:nvSpPr>
          <p:cNvPr id="9" name="Text 7"/>
          <p:cNvSpPr/>
          <p:nvPr/>
        </p:nvSpPr>
        <p:spPr>
          <a:xfrm>
            <a:off x="640080" y="4352544"/>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/v1/messages</a:t>
            </a:r>
            <a:endParaRPr lang="en-US" sz="1050" dirty="0"/>
          </a:p>
        </p:txBody>
      </p:sp>
      <p:sp>
        <p:nvSpPr>
          <p:cNvPr id="10" name="Text 8"/>
          <p:cNvSpPr/>
          <p:nvPr/>
        </p:nvSpPr>
        <p:spPr>
          <a:xfrm>
            <a:off x="3017520" y="4352544"/>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Anthropic Messages API · native passthrough</a:t>
            </a:r>
            <a:endParaRPr lang="en-US" sz="1050" dirty="0"/>
          </a:p>
        </p:txBody>
      </p:sp>
      <p:sp>
        <p:nvSpPr>
          <p:cNvPr id="11" name="Text 9"/>
          <p:cNvSpPr/>
          <p:nvPr/>
        </p:nvSpPr>
        <p:spPr>
          <a:xfrm>
            <a:off x="640080" y="4681728"/>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/mcp</a:t>
            </a:r>
            <a:endParaRPr lang="en-US" sz="1050" dirty="0"/>
          </a:p>
        </p:txBody>
      </p:sp>
      <p:sp>
        <p:nvSpPr>
          <p:cNvPr id="12" name="Text 10"/>
          <p:cNvSpPr/>
          <p:nvPr/>
        </p:nvSpPr>
        <p:spPr>
          <a:xfrm>
            <a:off x="3017520" y="4681728"/>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Model Context Protocol · Streamable HTTP + OAuth</a:t>
            </a:r>
            <a:endParaRPr lang="en-US" sz="1050" dirty="0"/>
          </a:p>
        </p:txBody>
      </p:sp>
      <p:sp>
        <p:nvSpPr>
          <p:cNvPr id="13" name="Text 11"/>
          <p:cNvSpPr/>
          <p:nvPr/>
        </p:nvSpPr>
        <p:spPr>
          <a:xfrm>
            <a:off x="640080" y="5010912"/>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/a2a + /.well-known/</a:t>
            </a:r>
            <a:endParaRPr lang="en-US" sz="1050" dirty="0"/>
          </a:p>
        </p:txBody>
      </p:sp>
      <p:sp>
        <p:nvSpPr>
          <p:cNvPr id="14" name="Text 12"/>
          <p:cNvSpPr/>
          <p:nvPr/>
        </p:nvSpPr>
        <p:spPr>
          <a:xfrm>
            <a:off x="3017520" y="5010912"/>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A2A 1.0.0 JSON-RPC + signed Agent Card (Ed25519)</a:t>
            </a:r>
            <a:endParaRPr lang="en-US" sz="1050" dirty="0"/>
          </a:p>
        </p:txBody>
      </p:sp>
      <p:sp>
        <p:nvSpPr>
          <p:cNvPr id="15" name="Text 13"/>
          <p:cNvSpPr/>
          <p:nvPr/>
        </p:nvSpPr>
        <p:spPr>
          <a:xfrm>
            <a:off x="640080" y="5340096"/>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/mesh</a:t>
            </a:r>
            <a:endParaRPr lang="en-US" sz="1050" dirty="0"/>
          </a:p>
        </p:txBody>
      </p:sp>
      <p:sp>
        <p:nvSpPr>
          <p:cNvPr id="16" name="Text 14"/>
          <p:cNvSpPr/>
          <p:nvPr/>
        </p:nvSpPr>
        <p:spPr>
          <a:xfrm>
            <a:off x="3017520" y="5340096"/>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WebSocket proxy to AGT relay (Signal-encrypted bytes only)</a:t>
            </a:r>
            <a:endParaRPr lang="en-US" sz="1050" dirty="0"/>
          </a:p>
        </p:txBody>
      </p:sp>
      <p:sp>
        <p:nvSpPr>
          <p:cNvPr id="17" name="Text 15"/>
          <p:cNvSpPr/>
          <p:nvPr/>
        </p:nvSpPr>
        <p:spPr>
          <a:xfrm>
            <a:off x="640080" y="5669280"/>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/spawn</a:t>
            </a:r>
            <a:endParaRPr lang="en-US" sz="1050" dirty="0"/>
          </a:p>
        </p:txBody>
      </p:sp>
      <p:sp>
        <p:nvSpPr>
          <p:cNvPr id="18" name="Text 16"/>
          <p:cNvSpPr/>
          <p:nvPr/>
        </p:nvSpPr>
        <p:spPr>
          <a:xfrm>
            <a:off x="3017520" y="5669280"/>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sub-agent spawn — governance-gated, parent-AMID-attested</a:t>
            </a:r>
            <a:endParaRPr lang="en-US" sz="1050" dirty="0"/>
          </a:p>
        </p:txBody>
      </p:sp>
      <p:sp>
        <p:nvSpPr>
          <p:cNvPr id="19" name="Text 17"/>
          <p:cNvSpPr/>
          <p:nvPr/>
        </p:nvSpPr>
        <p:spPr>
          <a:xfrm>
            <a:off x="640080" y="5998464"/>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/handoff/*</a:t>
            </a:r>
            <a:endParaRPr lang="en-US" sz="1050" dirty="0"/>
          </a:p>
        </p:txBody>
      </p:sp>
      <p:sp>
        <p:nvSpPr>
          <p:cNvPr id="20" name="Text 18"/>
          <p:cNvSpPr/>
          <p:nvPr/>
        </p:nvSpPr>
        <p:spPr>
          <a:xfrm>
            <a:off x="3017520" y="5998464"/>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agent succession with token replay + drain semantics</a:t>
            </a:r>
            <a:endParaRPr lang="en-US" sz="1050" dirty="0"/>
          </a:p>
        </p:txBody>
      </p:sp>
      <p:sp>
        <p:nvSpPr>
          <p:cNvPr id="21" name="Text 19"/>
          <p:cNvSpPr/>
          <p:nvPr/>
        </p:nvSpPr>
        <p:spPr>
          <a:xfrm>
            <a:off x="640080" y="6327648"/>
            <a:ext cx="23317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/admin/* + /metrics</a:t>
            </a:r>
            <a:endParaRPr lang="en-US" sz="1050" dirty="0"/>
          </a:p>
        </p:txBody>
      </p:sp>
      <p:sp>
        <p:nvSpPr>
          <p:cNvPr id="22" name="Text 20"/>
          <p:cNvSpPr/>
          <p:nvPr/>
        </p:nvSpPr>
        <p:spPr>
          <a:xfrm>
            <a:off x="3017520" y="6327648"/>
            <a:ext cx="310896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operator API · Prometheus exporters · health probes</a:t>
            </a:r>
            <a:endParaRPr lang="en-US" sz="1050" dirty="0"/>
          </a:p>
        </p:txBody>
      </p:sp>
      <p:sp>
        <p:nvSpPr>
          <p:cNvPr id="23" name="Text 21"/>
          <p:cNvSpPr/>
          <p:nvPr/>
        </p:nvSpPr>
        <p:spPr>
          <a:xfrm>
            <a:off x="6400800" y="3611880"/>
            <a:ext cx="5120640" cy="365760"/>
          </a:xfrm>
          <a:prstGeom prst="rect">
            <a:avLst/>
          </a:prstGeom>
          <a:noFill/>
          <a:ln/>
        </p:spPr>
        <p:txBody>
          <a:bodyPr wrap="square" lIns="0" tIns="0" rIns="0" bIns="0" rtlCol="0" anchor="ctr"/>
          <a:lstStyle/>
          <a:p>
            <a:pPr indent="0" marL="0">
              <a:buNone/>
            </a:pPr>
            <a:r>
              <a:rPr lang="en-US" sz="1600" b="1" dirty="0">
                <a:solidFill>
                  <a:srgbClr val="1A1A1A"/>
                </a:solidFill>
                <a:latin typeface="Helvetica" pitchFamily="34" charset="0"/>
                <a:ea typeface="Helvetica" pitchFamily="34" charset="-122"/>
                <a:cs typeface="Helvetica" pitchFamily="34" charset="-120"/>
              </a:rPr>
              <a:t>Subsystems</a:t>
            </a:r>
            <a:endParaRPr lang="en-US" sz="1600" dirty="0"/>
          </a:p>
        </p:txBody>
      </p:sp>
      <p:sp>
        <p:nvSpPr>
          <p:cNvPr id="24" name="Text 22"/>
          <p:cNvSpPr/>
          <p:nvPr/>
        </p:nvSpPr>
        <p:spPr>
          <a:xfrm>
            <a:off x="6400800" y="4023360"/>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audit</a:t>
            </a:r>
            <a:endParaRPr lang="en-US" sz="1050" dirty="0"/>
          </a:p>
        </p:txBody>
      </p:sp>
      <p:sp>
        <p:nvSpPr>
          <p:cNvPr id="25" name="Text 23"/>
          <p:cNvSpPr/>
          <p:nvPr/>
        </p:nvSpPr>
        <p:spPr>
          <a:xfrm>
            <a:off x="8046720" y="4023360"/>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hash-chained JSONL — prev_hash / hash per row</a:t>
            </a:r>
            <a:endParaRPr lang="en-US" sz="1050" dirty="0"/>
          </a:p>
        </p:txBody>
      </p:sp>
      <p:sp>
        <p:nvSpPr>
          <p:cNvPr id="26" name="Text 24"/>
          <p:cNvSpPr/>
          <p:nvPr/>
        </p:nvSpPr>
        <p:spPr>
          <a:xfrm>
            <a:off x="6400800" y="4352544"/>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budget</a:t>
            </a:r>
            <a:endParaRPr lang="en-US" sz="1050" dirty="0"/>
          </a:p>
        </p:txBody>
      </p:sp>
      <p:sp>
        <p:nvSpPr>
          <p:cNvPr id="27" name="Text 25"/>
          <p:cNvSpPr/>
          <p:nvPr/>
        </p:nvSpPr>
        <p:spPr>
          <a:xfrm>
            <a:off x="8046720" y="4352544"/>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per-sandbox token meter · per-tool RPS · 429 on exhaustion</a:t>
            </a:r>
            <a:endParaRPr lang="en-US" sz="1050" dirty="0"/>
          </a:p>
        </p:txBody>
      </p:sp>
      <p:sp>
        <p:nvSpPr>
          <p:cNvPr id="28" name="Text 26"/>
          <p:cNvSpPr/>
          <p:nvPr/>
        </p:nvSpPr>
        <p:spPr>
          <a:xfrm>
            <a:off x="6400800" y="4681728"/>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failover</a:t>
            </a:r>
            <a:endParaRPr lang="en-US" sz="1050" dirty="0"/>
          </a:p>
        </p:txBody>
      </p:sp>
      <p:sp>
        <p:nvSpPr>
          <p:cNvPr id="29" name="Text 27"/>
          <p:cNvSpPr/>
          <p:nvPr/>
        </p:nvSpPr>
        <p:spPr>
          <a:xfrm>
            <a:off x="8046720" y="4681728"/>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provider chain · 503/RateLimit auto-fallback · Copilot JWT refresh</a:t>
            </a:r>
            <a:endParaRPr lang="en-US" sz="1050" dirty="0"/>
          </a:p>
        </p:txBody>
      </p:sp>
      <p:sp>
        <p:nvSpPr>
          <p:cNvPr id="30" name="Text 28"/>
          <p:cNvSpPr/>
          <p:nvPr/>
        </p:nvSpPr>
        <p:spPr>
          <a:xfrm>
            <a:off x="6400800" y="5010912"/>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content safety</a:t>
            </a:r>
            <a:endParaRPr lang="en-US" sz="1050" dirty="0"/>
          </a:p>
        </p:txBody>
      </p:sp>
      <p:sp>
        <p:nvSpPr>
          <p:cNvPr id="31" name="Text 29"/>
          <p:cNvSpPr/>
          <p:nvPr/>
        </p:nvSpPr>
        <p:spPr>
          <a:xfrm>
            <a:off x="8046720" y="5010912"/>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Azure prompt-shields · jailbreak detection · blocked-output rewrite</a:t>
            </a:r>
            <a:endParaRPr lang="en-US" sz="1050" dirty="0"/>
          </a:p>
        </p:txBody>
      </p:sp>
      <p:sp>
        <p:nvSpPr>
          <p:cNvPr id="32" name="Text 30"/>
          <p:cNvSpPr/>
          <p:nvPr/>
        </p:nvSpPr>
        <p:spPr>
          <a:xfrm>
            <a:off x="6400800" y="5340096"/>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trust store</a:t>
            </a:r>
            <a:endParaRPr lang="en-US" sz="1050" dirty="0"/>
          </a:p>
        </p:txBody>
      </p:sp>
      <p:sp>
        <p:nvSpPr>
          <p:cNvPr id="33" name="Text 31"/>
          <p:cNvSpPr/>
          <p:nvPr/>
        </p:nvSpPr>
        <p:spPr>
          <a:xfrm>
            <a:off x="8046720" y="5340096"/>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Ed25519 identities · X25519 keys · X3DH bundles · Double Ratchet sessions</a:t>
            </a:r>
            <a:endParaRPr lang="en-US" sz="1050" dirty="0"/>
          </a:p>
        </p:txBody>
      </p:sp>
      <p:sp>
        <p:nvSpPr>
          <p:cNvPr id="34" name="Text 32"/>
          <p:cNvSpPr/>
          <p:nvPr/>
        </p:nvSpPr>
        <p:spPr>
          <a:xfrm>
            <a:off x="6400800" y="5669280"/>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auth</a:t>
            </a:r>
            <a:endParaRPr lang="en-US" sz="1050" dirty="0"/>
          </a:p>
        </p:txBody>
      </p:sp>
      <p:sp>
        <p:nvSpPr>
          <p:cNvPr id="35" name="Text 33"/>
          <p:cNvSpPr/>
          <p:nvPr/>
        </p:nvSpPr>
        <p:spPr>
          <a:xfrm>
            <a:off x="8046720" y="5669280"/>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IMDS / Workload Identity · no API keys ever land in the pod</a:t>
            </a:r>
            <a:endParaRPr lang="en-US" sz="1050" dirty="0"/>
          </a:p>
        </p:txBody>
      </p:sp>
      <p:sp>
        <p:nvSpPr>
          <p:cNvPr id="36" name="Text 34"/>
          <p:cNvSpPr/>
          <p:nvPr/>
        </p:nvSpPr>
        <p:spPr>
          <a:xfrm>
            <a:off x="6400800" y="5998464"/>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mtls</a:t>
            </a:r>
            <a:endParaRPr lang="en-US" sz="1050" dirty="0"/>
          </a:p>
        </p:txBody>
      </p:sp>
      <p:sp>
        <p:nvSpPr>
          <p:cNvPr id="37" name="Text 35"/>
          <p:cNvSpPr/>
          <p:nvPr/>
        </p:nvSpPr>
        <p:spPr>
          <a:xfrm>
            <a:off x="8046720" y="5998464"/>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A2A inter-cluster mTLS · trust-graph projection</a:t>
            </a:r>
            <a:endParaRPr lang="en-US" sz="1050" dirty="0"/>
          </a:p>
        </p:txBody>
      </p:sp>
      <p:sp>
        <p:nvSpPr>
          <p:cNvPr id="38" name="Text 36"/>
          <p:cNvSpPr/>
          <p:nvPr/>
        </p:nvSpPr>
        <p:spPr>
          <a:xfrm>
            <a:off x="6400800" y="6327648"/>
            <a:ext cx="1645920" cy="292608"/>
          </a:xfrm>
          <a:prstGeom prst="rect">
            <a:avLst/>
          </a:prstGeom>
          <a:noFill/>
          <a:ln/>
        </p:spPr>
        <p:txBody>
          <a:bodyPr wrap="square" lIns="0" tIns="0" rIns="0" bIns="0" rtlCol="0" anchor="ctr"/>
          <a:lstStyle/>
          <a:p>
            <a:pPr indent="0" marL="0">
              <a:buNone/>
            </a:pPr>
            <a:r>
              <a:rPr lang="en-US" sz="1050" dirty="0">
                <a:solidFill>
                  <a:srgbClr val="028090"/>
                </a:solidFill>
                <a:latin typeface="Consolas" pitchFamily="34" charset="0"/>
                <a:ea typeface="Consolas" pitchFamily="34" charset="-122"/>
                <a:cs typeface="Consolas" pitchFamily="34" charset="-120"/>
              </a:rPr>
              <a:t>mesh transport</a:t>
            </a:r>
            <a:endParaRPr lang="en-US" sz="1050" dirty="0"/>
          </a:p>
        </p:txBody>
      </p:sp>
      <p:sp>
        <p:nvSpPr>
          <p:cNvPr id="39" name="Text 37"/>
          <p:cNvSpPr/>
          <p:nvPr/>
        </p:nvSpPr>
        <p:spPr>
          <a:xfrm>
            <a:off x="8046720" y="6327648"/>
            <a:ext cx="347472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AGT MeshClient · KNOCK proof-of-possession · sealed-sender mode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07</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§3.3 · ARCHITECTURE · THE CONTROLLER LOOP</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000" b="1" dirty="0">
                <a:solidFill>
                  <a:srgbClr val="1A1A1A"/>
                </a:solidFill>
                <a:latin typeface="Helvetica" pitchFamily="34" charset="0"/>
                <a:ea typeface="Helvetica" pitchFamily="34" charset="-122"/>
                <a:cs typeface="Helvetica" pitchFamily="34" charset="-120"/>
              </a:rPr>
              <a:t>KarsSandbox  →  nine Kubernetes primitives.</a:t>
            </a:r>
            <a:endParaRPr lang="en-US" sz="3000" dirty="0"/>
          </a:p>
        </p:txBody>
      </p:sp>
      <p:sp>
        <p:nvSpPr>
          <p:cNvPr id="5" name="Text 3"/>
          <p:cNvSpPr/>
          <p:nvPr/>
        </p:nvSpPr>
        <p:spPr>
          <a:xfrm>
            <a:off x="640080" y="2240280"/>
            <a:ext cx="10881360" cy="146304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Reconciliation is idempotent.  Every apply walks nine steps under server-side apply with field managers per step (so other controllers can co-own pieces).  ownerRefs guarantee garbage collection — delete the KarsSandbox, the namespace and everything in it go too.  Source:  controller/src/reconciler/mod.rs:668-2927.</a:t>
            </a:r>
            <a:endParaRPr lang="en-US" sz="1800" dirty="0"/>
          </a:p>
        </p:txBody>
      </p:sp>
      <p:sp>
        <p:nvSpPr>
          <p:cNvPr id="6" name="Text 4"/>
          <p:cNvSpPr/>
          <p:nvPr/>
        </p:nvSpPr>
        <p:spPr>
          <a:xfrm>
            <a:off x="640080" y="3886200"/>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1</a:t>
            </a:r>
            <a:endParaRPr lang="en-US" sz="1200" dirty="0"/>
          </a:p>
        </p:txBody>
      </p:sp>
      <p:sp>
        <p:nvSpPr>
          <p:cNvPr id="7" name="Text 5"/>
          <p:cNvSpPr/>
          <p:nvPr/>
        </p:nvSpPr>
        <p:spPr>
          <a:xfrm>
            <a:off x="1005840" y="3886200"/>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Namespace</a:t>
            </a:r>
            <a:endParaRPr lang="en-US" sz="1200" dirty="0"/>
          </a:p>
        </p:txBody>
      </p:sp>
      <p:sp>
        <p:nvSpPr>
          <p:cNvPr id="8" name="Text 6"/>
          <p:cNvSpPr/>
          <p:nvPr/>
        </p:nvSpPr>
        <p:spPr>
          <a:xfrm>
            <a:off x="2880360" y="3886200"/>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kars-&lt;name&gt; — isolation boundary; only the controller-managed objects exist here</a:t>
            </a:r>
            <a:endParaRPr lang="en-US" sz="1050" dirty="0"/>
          </a:p>
        </p:txBody>
      </p:sp>
      <p:sp>
        <p:nvSpPr>
          <p:cNvPr id="9" name="Text 7"/>
          <p:cNvSpPr/>
          <p:nvPr/>
        </p:nvSpPr>
        <p:spPr>
          <a:xfrm>
            <a:off x="640080" y="4178808"/>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2</a:t>
            </a:r>
            <a:endParaRPr lang="en-US" sz="1200" dirty="0"/>
          </a:p>
        </p:txBody>
      </p:sp>
      <p:sp>
        <p:nvSpPr>
          <p:cNvPr id="10" name="Text 8"/>
          <p:cNvSpPr/>
          <p:nvPr/>
        </p:nvSpPr>
        <p:spPr>
          <a:xfrm>
            <a:off x="1005840" y="4178808"/>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ServiceAccount + WI</a:t>
            </a:r>
            <a:endParaRPr lang="en-US" sz="1200" dirty="0"/>
          </a:p>
        </p:txBody>
      </p:sp>
      <p:sp>
        <p:nvSpPr>
          <p:cNvPr id="11" name="Text 9"/>
          <p:cNvSpPr/>
          <p:nvPr/>
        </p:nvSpPr>
        <p:spPr>
          <a:xfrm>
            <a:off x="2880360" y="4178808"/>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Azure Workload Identity binding · per-sandbox FedCred · short-lived OIDC tokens</a:t>
            </a:r>
            <a:endParaRPr lang="en-US" sz="1050" dirty="0"/>
          </a:p>
        </p:txBody>
      </p:sp>
      <p:sp>
        <p:nvSpPr>
          <p:cNvPr id="12" name="Text 10"/>
          <p:cNvSpPr/>
          <p:nvPr/>
        </p:nvSpPr>
        <p:spPr>
          <a:xfrm>
            <a:off x="640080" y="4471416"/>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3</a:t>
            </a:r>
            <a:endParaRPr lang="en-US" sz="1200" dirty="0"/>
          </a:p>
        </p:txBody>
      </p:sp>
      <p:sp>
        <p:nvSpPr>
          <p:cNvPr id="13" name="Text 11"/>
          <p:cNvSpPr/>
          <p:nvPr/>
        </p:nvSpPr>
        <p:spPr>
          <a:xfrm>
            <a:off x="1005840" y="4471416"/>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NetworkPolicy</a:t>
            </a:r>
            <a:endParaRPr lang="en-US" sz="1200" dirty="0"/>
          </a:p>
        </p:txBody>
      </p:sp>
      <p:sp>
        <p:nvSpPr>
          <p:cNvPr id="14" name="Text 12"/>
          <p:cNvSpPr/>
          <p:nvPr/>
        </p:nvSpPr>
        <p:spPr>
          <a:xfrm>
            <a:off x="2880360" y="4471416"/>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default-deny + allowlist · ingress :8443 from monitoring · DNS + IMDS only egress</a:t>
            </a:r>
            <a:endParaRPr lang="en-US" sz="1050" dirty="0"/>
          </a:p>
        </p:txBody>
      </p:sp>
      <p:sp>
        <p:nvSpPr>
          <p:cNvPr id="15" name="Text 13"/>
          <p:cNvSpPr/>
          <p:nvPr/>
        </p:nvSpPr>
        <p:spPr>
          <a:xfrm>
            <a:off x="640080" y="4764024"/>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4</a:t>
            </a:r>
            <a:endParaRPr lang="en-US" sz="1200" dirty="0"/>
          </a:p>
        </p:txBody>
      </p:sp>
      <p:sp>
        <p:nvSpPr>
          <p:cNvPr id="16" name="Text 14"/>
          <p:cNvSpPr/>
          <p:nvPr/>
        </p:nvSpPr>
        <p:spPr>
          <a:xfrm>
            <a:off x="1005840" y="4764024"/>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ConfigMaps</a:t>
            </a:r>
            <a:endParaRPr lang="en-US" sz="1200" dirty="0"/>
          </a:p>
        </p:txBody>
      </p:sp>
      <p:sp>
        <p:nvSpPr>
          <p:cNvPr id="17" name="Text 15"/>
          <p:cNvSpPr/>
          <p:nvPr/>
        </p:nvSpPr>
        <p:spPr>
          <a:xfrm>
            <a:off x="2880360" y="4764024"/>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policy bundles (Inference + Tool + Egress + Memory) · AGT envelope · run-tag</a:t>
            </a:r>
            <a:endParaRPr lang="en-US" sz="1050" dirty="0"/>
          </a:p>
        </p:txBody>
      </p:sp>
      <p:sp>
        <p:nvSpPr>
          <p:cNvPr id="18" name="Text 16"/>
          <p:cNvSpPr/>
          <p:nvPr/>
        </p:nvSpPr>
        <p:spPr>
          <a:xfrm>
            <a:off x="640080" y="5056632"/>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5</a:t>
            </a:r>
            <a:endParaRPr lang="en-US" sz="1200" dirty="0"/>
          </a:p>
        </p:txBody>
      </p:sp>
      <p:sp>
        <p:nvSpPr>
          <p:cNvPr id="19" name="Text 17"/>
          <p:cNvSpPr/>
          <p:nvPr/>
        </p:nvSpPr>
        <p:spPr>
          <a:xfrm>
            <a:off x="1005840" y="5056632"/>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Secret</a:t>
            </a:r>
            <a:endParaRPr lang="en-US" sz="1200" dirty="0"/>
          </a:p>
        </p:txBody>
      </p:sp>
      <p:sp>
        <p:nvSpPr>
          <p:cNvPr id="20" name="Text 18"/>
          <p:cNvSpPr/>
          <p:nvPr/>
        </p:nvSpPr>
        <p:spPr>
          <a:xfrm>
            <a:off x="2880360" y="5056632"/>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gateway token (rotated) · router admin token · seccomp profile path</a:t>
            </a:r>
            <a:endParaRPr lang="en-US" sz="1050" dirty="0"/>
          </a:p>
        </p:txBody>
      </p:sp>
      <p:sp>
        <p:nvSpPr>
          <p:cNvPr id="21" name="Text 19"/>
          <p:cNvSpPr/>
          <p:nvPr/>
        </p:nvSpPr>
        <p:spPr>
          <a:xfrm>
            <a:off x="640080" y="5349240"/>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6</a:t>
            </a:r>
            <a:endParaRPr lang="en-US" sz="1200" dirty="0"/>
          </a:p>
        </p:txBody>
      </p:sp>
      <p:sp>
        <p:nvSpPr>
          <p:cNvPr id="22" name="Text 20"/>
          <p:cNvSpPr/>
          <p:nvPr/>
        </p:nvSpPr>
        <p:spPr>
          <a:xfrm>
            <a:off x="1005840" y="5349240"/>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Deployment</a:t>
            </a:r>
            <a:endParaRPr lang="en-US" sz="1200" dirty="0"/>
          </a:p>
        </p:txBody>
      </p:sp>
      <p:sp>
        <p:nvSpPr>
          <p:cNvPr id="23" name="Text 21"/>
          <p:cNvSpPr/>
          <p:nvPr/>
        </p:nvSpPr>
        <p:spPr>
          <a:xfrm>
            <a:off x="2880360" y="5349240"/>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1 init container (egress-guard) + 2 app containers (openclaw + inference-router)</a:t>
            </a:r>
            <a:endParaRPr lang="en-US" sz="1050" dirty="0"/>
          </a:p>
        </p:txBody>
      </p:sp>
      <p:sp>
        <p:nvSpPr>
          <p:cNvPr id="24" name="Text 22"/>
          <p:cNvSpPr/>
          <p:nvPr/>
        </p:nvSpPr>
        <p:spPr>
          <a:xfrm>
            <a:off x="640080" y="5641848"/>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7</a:t>
            </a:r>
            <a:endParaRPr lang="en-US" sz="1200" dirty="0"/>
          </a:p>
        </p:txBody>
      </p:sp>
      <p:sp>
        <p:nvSpPr>
          <p:cNvPr id="25" name="Text 23"/>
          <p:cNvSpPr/>
          <p:nvPr/>
        </p:nvSpPr>
        <p:spPr>
          <a:xfrm>
            <a:off x="1005840" y="5641848"/>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Service</a:t>
            </a:r>
            <a:endParaRPr lang="en-US" sz="1200" dirty="0"/>
          </a:p>
        </p:txBody>
      </p:sp>
      <p:sp>
        <p:nvSpPr>
          <p:cNvPr id="26" name="Text 24"/>
          <p:cNvSpPr/>
          <p:nvPr/>
        </p:nvSpPr>
        <p:spPr>
          <a:xfrm>
            <a:off x="2880360" y="5641848"/>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cluster-internal :8443 router admin + :18789 OpenClaw WebUI</a:t>
            </a:r>
            <a:endParaRPr lang="en-US" sz="1050" dirty="0"/>
          </a:p>
        </p:txBody>
      </p:sp>
      <p:sp>
        <p:nvSpPr>
          <p:cNvPr id="27" name="Text 25"/>
          <p:cNvSpPr/>
          <p:nvPr/>
        </p:nvSpPr>
        <p:spPr>
          <a:xfrm>
            <a:off x="640080" y="5934456"/>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8</a:t>
            </a:r>
            <a:endParaRPr lang="en-US" sz="1200" dirty="0"/>
          </a:p>
        </p:txBody>
      </p:sp>
      <p:sp>
        <p:nvSpPr>
          <p:cNvPr id="28" name="Text 26"/>
          <p:cNvSpPr/>
          <p:nvPr/>
        </p:nvSpPr>
        <p:spPr>
          <a:xfrm>
            <a:off x="1005840" y="5934456"/>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ClusterRoleBinding</a:t>
            </a:r>
            <a:endParaRPr lang="en-US" sz="1200" dirty="0"/>
          </a:p>
        </p:txBody>
      </p:sp>
      <p:sp>
        <p:nvSpPr>
          <p:cNvPr id="29" name="Text 27"/>
          <p:cNvSpPr/>
          <p:nvPr/>
        </p:nvSpPr>
        <p:spPr>
          <a:xfrm>
            <a:off x="2880360" y="5934456"/>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spawn permissions — sandbox SA may create sub-sandbox KarsSandbox CRs</a:t>
            </a:r>
            <a:endParaRPr lang="en-US" sz="1050" dirty="0"/>
          </a:p>
        </p:txBody>
      </p:sp>
      <p:sp>
        <p:nvSpPr>
          <p:cNvPr id="30" name="Text 28"/>
          <p:cNvSpPr/>
          <p:nvPr/>
        </p:nvSpPr>
        <p:spPr>
          <a:xfrm>
            <a:off x="640080" y="6227064"/>
            <a:ext cx="320040" cy="292608"/>
          </a:xfrm>
          <a:prstGeom prst="rect">
            <a:avLst/>
          </a:prstGeom>
          <a:noFill/>
          <a:ln/>
        </p:spPr>
        <p:txBody>
          <a:bodyPr wrap="square" lIns="0" tIns="0" rIns="0" bIns="0" rtlCol="0" anchor="ctr"/>
          <a:lstStyle/>
          <a:p>
            <a:pPr indent="0" marL="0">
              <a:buNone/>
            </a:pPr>
            <a:r>
              <a:rPr lang="en-US" sz="1200" b="1" dirty="0">
                <a:solidFill>
                  <a:srgbClr val="028090"/>
                </a:solidFill>
                <a:latin typeface="Consolas" pitchFamily="34" charset="0"/>
                <a:ea typeface="Consolas" pitchFamily="34" charset="-122"/>
                <a:cs typeface="Consolas" pitchFamily="34" charset="-120"/>
              </a:rPr>
              <a:t>9</a:t>
            </a:r>
            <a:endParaRPr lang="en-US" sz="1200" dirty="0"/>
          </a:p>
        </p:txBody>
      </p:sp>
      <p:sp>
        <p:nvSpPr>
          <p:cNvPr id="31" name="Text 29"/>
          <p:cNvSpPr/>
          <p:nvPr/>
        </p:nvSpPr>
        <p:spPr>
          <a:xfrm>
            <a:off x="1005840" y="6227064"/>
            <a:ext cx="1828800" cy="292608"/>
          </a:xfrm>
          <a:prstGeom prst="rect">
            <a:avLst/>
          </a:prstGeom>
          <a:noFill/>
          <a:ln/>
        </p:spPr>
        <p:txBody>
          <a:bodyPr wrap="square" lIns="0" tIns="0" rIns="0" bIns="0" rtlCol="0" anchor="ctr"/>
          <a:lstStyle/>
          <a:p>
            <a:pPr indent="0" marL="0">
              <a:buNone/>
            </a:pPr>
            <a:r>
              <a:rPr lang="en-US" sz="1200" b="1" dirty="0">
                <a:solidFill>
                  <a:srgbClr val="1A1A1A"/>
                </a:solidFill>
                <a:latin typeface="Helvetica" pitchFamily="34" charset="0"/>
                <a:ea typeface="Helvetica" pitchFamily="34" charset="-122"/>
                <a:cs typeface="Helvetica" pitchFamily="34" charset="-120"/>
              </a:rPr>
              <a:t>CronJob</a:t>
            </a:r>
            <a:endParaRPr lang="en-US" sz="1200" dirty="0"/>
          </a:p>
        </p:txBody>
      </p:sp>
      <p:sp>
        <p:nvSpPr>
          <p:cNvPr id="32" name="Text 30"/>
          <p:cNvSpPr/>
          <p:nvPr/>
        </p:nvSpPr>
        <p:spPr>
          <a:xfrm>
            <a:off x="2880360" y="6227064"/>
            <a:ext cx="8641080" cy="292608"/>
          </a:xfrm>
          <a:prstGeom prst="rect">
            <a:avLst/>
          </a:prstGeom>
          <a:noFill/>
          <a:ln/>
        </p:spPr>
        <p:txBody>
          <a:bodyPr wrap="square" lIns="0" tIns="0" rIns="0" bIns="0" rtlCol="0" anchor="ctr"/>
          <a:lstStyle/>
          <a:p>
            <a:pPr indent="0" marL="0">
              <a:buNone/>
            </a:pPr>
            <a:r>
              <a:rPr lang="en-US" sz="1050" dirty="0">
                <a:solidFill>
                  <a:srgbClr val="1A1A1A"/>
                </a:solidFill>
                <a:latin typeface="Helvetica" pitchFamily="34" charset="0"/>
                <a:ea typeface="Helvetica" pitchFamily="34" charset="-122"/>
                <a:cs typeface="Helvetica" pitchFamily="34" charset="-120"/>
              </a:rPr>
              <a:t>blocklist refresh every 6 h — pulls signed allowlist deltas + updates router CM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08</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§3.4 · ARCHITECTURE · STATUS</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200" b="1" dirty="0">
                <a:solidFill>
                  <a:srgbClr val="1A1A1A"/>
                </a:solidFill>
                <a:latin typeface="Helvetica" pitchFamily="34" charset="0"/>
                <a:ea typeface="Helvetica" pitchFamily="34" charset="-122"/>
                <a:cs typeface="Helvetica" pitchFamily="34" charset="-120"/>
              </a:rPr>
              <a:t>Status is the operator contract.</a:t>
            </a:r>
            <a:endParaRPr lang="en-US" sz="3200" dirty="0"/>
          </a:p>
        </p:txBody>
      </p:sp>
      <p:sp>
        <p:nvSpPr>
          <p:cNvPr id="5" name="Text 3"/>
          <p:cNvSpPr/>
          <p:nvPr/>
        </p:nvSpPr>
        <p:spPr>
          <a:xfrm>
            <a:off x="640080" y="2240280"/>
            <a:ext cx="10881360" cy="155448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Every CRD carries `.status.phase` from a fixed taxonomy, generation-tracked conditions, last-reconciled timestamp, and a degradation reason. Drift surfaces as Kubernetes Warning Events.  The router emits Prometheus counters + GenAI OpenTelemetry.</a:t>
            </a:r>
            <a:endParaRPr lang="en-US" sz="1800" dirty="0"/>
          </a:p>
        </p:txBody>
      </p:sp>
      <p:sp>
        <p:nvSpPr>
          <p:cNvPr id="6" name="Shape 4"/>
          <p:cNvSpPr/>
          <p:nvPr/>
        </p:nvSpPr>
        <p:spPr>
          <a:xfrm>
            <a:off x="640080" y="3931920"/>
            <a:ext cx="5943600" cy="2651760"/>
          </a:xfrm>
          <a:prstGeom prst="rect">
            <a:avLst/>
          </a:prstGeom>
          <a:solidFill>
            <a:srgbClr val="F6F8FA"/>
          </a:solidFill>
          <a:ln w="9525">
            <a:solidFill>
              <a:srgbClr val="E1E4E8"/>
            </a:solidFill>
            <a:prstDash val="solid"/>
          </a:ln>
        </p:spPr>
      </p:sp>
      <p:sp>
        <p:nvSpPr>
          <p:cNvPr id="7" name="Text 5"/>
          <p:cNvSpPr/>
          <p:nvPr/>
        </p:nvSpPr>
        <p:spPr>
          <a:xfrm>
            <a:off x="868680" y="4160520"/>
            <a:ext cx="5486400" cy="2194560"/>
          </a:xfrm>
          <a:prstGeom prst="rect">
            <a:avLst/>
          </a:prstGeom>
          <a:noFill/>
          <a:ln/>
        </p:spPr>
        <p:txBody>
          <a:bodyPr wrap="square" lIns="0" tIns="0" rIns="0" bIns="0" rtlCol="0" anchor="t"/>
          <a:lstStyle/>
          <a:p>
            <a:pPr algn="l" indent="0" marL="0">
              <a:buNone/>
            </a:pPr>
            <a:r>
              <a:rPr lang="en-US" sz="1100" dirty="0">
                <a:solidFill>
                  <a:srgbClr val="1A1A1A"/>
                </a:solidFill>
                <a:latin typeface="Consolas" pitchFamily="34" charset="0"/>
                <a:ea typeface="Consolas" pitchFamily="34" charset="-122"/>
                <a:cs typeface="Consolas" pitchFamily="34" charset="-120"/>
              </a:rPr>
              <a:t>status:
</a:t>
            </a:r>
            <a:pPr algn="l" indent="0" marL="0">
              <a:buNone/>
            </a:pPr>
            <a:r>
              <a:rPr lang="en-US" sz="1100" dirty="0">
                <a:solidFill>
                  <a:srgbClr val="C53030"/>
                </a:solidFill>
                <a:latin typeface="Consolas" pitchFamily="34" charset="0"/>
                <a:ea typeface="Consolas" pitchFamily="34" charset="-122"/>
                <a:cs typeface="Consolas" pitchFamily="34" charset="-120"/>
              </a:rPr>
              <a:t>  phase: </a:t>
            </a:r>
            <a:pPr algn="l" indent="0" marL="0">
              <a:buNone/>
            </a:pPr>
            <a:r>
              <a:rPr lang="en-US" sz="1100" dirty="0">
                <a:solidFill>
                  <a:srgbClr val="276749"/>
                </a:solidFill>
                <a:latin typeface="Consolas" pitchFamily="34" charset="0"/>
                <a:ea typeface="Consolas" pitchFamily="34" charset="-122"/>
                <a:cs typeface="Consolas" pitchFamily="34" charset="-120"/>
              </a:rPr>
              <a:t>Running
</a:t>
            </a:r>
            <a:pPr algn="l" indent="0" marL="0">
              <a:buNone/>
            </a:pPr>
            <a:r>
              <a:rPr lang="en-US" sz="1100" dirty="0">
                <a:solidFill>
                  <a:srgbClr val="C53030"/>
                </a:solidFill>
                <a:latin typeface="Consolas" pitchFamily="34" charset="0"/>
                <a:ea typeface="Consolas" pitchFamily="34" charset="-122"/>
                <a:cs typeface="Consolas" pitchFamily="34" charset="-120"/>
              </a:rPr>
              <a:t>  observedGeneration: </a:t>
            </a:r>
            <a:pPr algn="l" indent="0" marL="0">
              <a:buNone/>
            </a:pPr>
            <a:r>
              <a:rPr lang="en-US" sz="1100" dirty="0">
                <a:solidFill>
                  <a:srgbClr val="276749"/>
                </a:solidFill>
                <a:latin typeface="Consolas" pitchFamily="34" charset="0"/>
                <a:ea typeface="Consolas" pitchFamily="34" charset="-122"/>
                <a:cs typeface="Consolas" pitchFamily="34" charset="-120"/>
              </a:rPr>
              <a:t>7
</a:t>
            </a:r>
            <a:pPr algn="l" indent="0" marL="0">
              <a:buNone/>
            </a:pPr>
            <a:r>
              <a:rPr lang="en-US" sz="1100" dirty="0">
                <a:solidFill>
                  <a:srgbClr val="C53030"/>
                </a:solidFill>
                <a:latin typeface="Consolas" pitchFamily="34" charset="0"/>
                <a:ea typeface="Consolas" pitchFamily="34" charset="-122"/>
                <a:cs typeface="Consolas" pitchFamily="34" charset="-120"/>
              </a:rPr>
              <a:t>  lastReconciled: </a:t>
            </a:r>
            <a:pPr algn="l" indent="0" marL="0">
              <a:buNone/>
            </a:pPr>
            <a:r>
              <a:rPr lang="en-US" sz="1100" dirty="0">
                <a:solidFill>
                  <a:srgbClr val="276749"/>
                </a:solidFill>
                <a:latin typeface="Consolas" pitchFamily="34" charset="0"/>
                <a:ea typeface="Consolas" pitchFamily="34" charset="-122"/>
                <a:cs typeface="Consolas" pitchFamily="34" charset="-120"/>
              </a:rPr>
              <a:t>"2026-06-08T18:23:11Z"
</a:t>
            </a:r>
            <a:pPr algn="l" indent="0" marL="0">
              <a:buNone/>
            </a:pPr>
            <a:r>
              <a:rPr lang="en-US" sz="1100" dirty="0">
                <a:solidFill>
                  <a:srgbClr val="1A1A1A"/>
                </a:solidFill>
                <a:latin typeface="Consolas" pitchFamily="34" charset="0"/>
                <a:ea typeface="Consolas" pitchFamily="34" charset="-122"/>
                <a:cs typeface="Consolas" pitchFamily="34" charset="-120"/>
              </a:rPr>
              <a:t>  conditions:
</a:t>
            </a:r>
            <a:pPr algn="l" indent="0" marL="0">
              <a:buNone/>
            </a:pPr>
            <a:r>
              <a:rPr lang="en-US" sz="1100" dirty="0">
                <a:solidFill>
                  <a:srgbClr val="C53030"/>
                </a:solidFill>
                <a:latin typeface="Consolas" pitchFamily="34" charset="0"/>
                <a:ea typeface="Consolas" pitchFamily="34" charset="-122"/>
                <a:cs typeface="Consolas" pitchFamily="34" charset="-120"/>
              </a:rPr>
              <a:t>    - type: </a:t>
            </a:r>
            <a:pPr algn="l" indent="0" marL="0">
              <a:buNone/>
            </a:pPr>
            <a:r>
              <a:rPr lang="en-US" sz="1100" dirty="0">
                <a:solidFill>
                  <a:srgbClr val="276749"/>
                </a:solidFill>
                <a:latin typeface="Consolas" pitchFamily="34" charset="0"/>
                <a:ea typeface="Consolas" pitchFamily="34" charset="-122"/>
                <a:cs typeface="Consolas" pitchFamily="34" charset="-120"/>
              </a:rPr>
              <a:t>PolicyCompiled
</a:t>
            </a:r>
            <a:pPr algn="l" indent="0" marL="0">
              <a:buNone/>
            </a:pPr>
            <a:r>
              <a:rPr lang="en-US" sz="1100" dirty="0">
                <a:solidFill>
                  <a:srgbClr val="C53030"/>
                </a:solidFill>
                <a:latin typeface="Consolas" pitchFamily="34" charset="0"/>
                <a:ea typeface="Consolas" pitchFamily="34" charset="-122"/>
                <a:cs typeface="Consolas" pitchFamily="34" charset="-120"/>
              </a:rPr>
              <a:t>      status: </a:t>
            </a:r>
            <a:pPr algn="l" indent="0" marL="0">
              <a:buNone/>
            </a:pPr>
            <a:r>
              <a:rPr lang="en-US" sz="1100" dirty="0">
                <a:solidFill>
                  <a:srgbClr val="276749"/>
                </a:solidFill>
                <a:latin typeface="Consolas" pitchFamily="34" charset="0"/>
                <a:ea typeface="Consolas" pitchFamily="34" charset="-122"/>
                <a:cs typeface="Consolas" pitchFamily="34" charset="-120"/>
              </a:rPr>
              <a:t>"True"
</a:t>
            </a:r>
            <a:pPr algn="l" indent="0" marL="0">
              <a:buNone/>
            </a:pPr>
            <a:r>
              <a:rPr lang="en-US" sz="1100" dirty="0">
                <a:solidFill>
                  <a:srgbClr val="C53030"/>
                </a:solidFill>
                <a:latin typeface="Consolas" pitchFamily="34" charset="0"/>
                <a:ea typeface="Consolas" pitchFamily="34" charset="-122"/>
                <a:cs typeface="Consolas" pitchFamily="34" charset="-120"/>
              </a:rPr>
              <a:t>      reason: </a:t>
            </a:r>
            <a:pPr algn="l" indent="0" marL="0">
              <a:buNone/>
            </a:pPr>
            <a:r>
              <a:rPr lang="en-US" sz="1100" dirty="0">
                <a:solidFill>
                  <a:srgbClr val="276749"/>
                </a:solidFill>
                <a:latin typeface="Consolas" pitchFamily="34" charset="0"/>
                <a:ea typeface="Consolas" pitchFamily="34" charset="-122"/>
                <a:cs typeface="Consolas" pitchFamily="34" charset="-120"/>
              </a:rPr>
              <a:t>EnvelopeApplied
</a:t>
            </a:r>
            <a:pPr algn="l" indent="0" marL="0">
              <a:buNone/>
            </a:pPr>
            <a:r>
              <a:rPr lang="en-US" sz="1100" dirty="0">
                <a:solidFill>
                  <a:srgbClr val="C53030"/>
                </a:solidFill>
                <a:latin typeface="Consolas" pitchFamily="34" charset="0"/>
                <a:ea typeface="Consolas" pitchFamily="34" charset="-122"/>
                <a:cs typeface="Consolas" pitchFamily="34" charset="-120"/>
              </a:rPr>
              <a:t>    - type: </a:t>
            </a:r>
            <a:pPr algn="l" indent="0" marL="0">
              <a:buNone/>
            </a:pPr>
            <a:r>
              <a:rPr lang="en-US" sz="1100" dirty="0">
                <a:solidFill>
                  <a:srgbClr val="276749"/>
                </a:solidFill>
                <a:latin typeface="Consolas" pitchFamily="34" charset="0"/>
                <a:ea typeface="Consolas" pitchFamily="34" charset="-122"/>
                <a:cs typeface="Consolas" pitchFamily="34" charset="-120"/>
              </a:rPr>
              <a:t>RouterEnforcing
</a:t>
            </a:r>
            <a:pPr algn="l" indent="0" marL="0">
              <a:buNone/>
            </a:pPr>
            <a:r>
              <a:rPr lang="en-US" sz="1100" dirty="0">
                <a:solidFill>
                  <a:srgbClr val="C53030"/>
                </a:solidFill>
                <a:latin typeface="Consolas" pitchFamily="34" charset="0"/>
                <a:ea typeface="Consolas" pitchFamily="34" charset="-122"/>
                <a:cs typeface="Consolas" pitchFamily="34" charset="-120"/>
              </a:rPr>
              <a:t>      status: </a:t>
            </a:r>
            <a:pPr algn="l" indent="0" marL="0">
              <a:buNone/>
            </a:pPr>
            <a:r>
              <a:rPr lang="en-US" sz="1100" dirty="0">
                <a:solidFill>
                  <a:srgbClr val="276749"/>
                </a:solidFill>
                <a:latin typeface="Consolas" pitchFamily="34" charset="0"/>
                <a:ea typeface="Consolas" pitchFamily="34" charset="-122"/>
                <a:cs typeface="Consolas" pitchFamily="34" charset="-120"/>
              </a:rPr>
              <a:t>"True"
</a:t>
            </a:r>
            <a:pPr algn="l" indent="0" marL="0">
              <a:buNone/>
            </a:pPr>
            <a:r>
              <a:rPr lang="en-US" sz="1100" dirty="0">
                <a:solidFill>
                  <a:srgbClr val="C53030"/>
                </a:solidFill>
                <a:latin typeface="Consolas" pitchFamily="34" charset="0"/>
                <a:ea typeface="Consolas" pitchFamily="34" charset="-122"/>
                <a:cs typeface="Consolas" pitchFamily="34" charset="-120"/>
              </a:rPr>
              <a:t>      reason: </a:t>
            </a:r>
            <a:pPr algn="l" indent="0" marL="0">
              <a:buNone/>
            </a:pPr>
            <a:r>
              <a:rPr lang="en-US" sz="1100" dirty="0">
                <a:solidFill>
                  <a:srgbClr val="276749"/>
                </a:solidFill>
                <a:latin typeface="Consolas" pitchFamily="34" charset="0"/>
                <a:ea typeface="Consolas" pitchFamily="34" charset="-122"/>
                <a:cs typeface="Consolas" pitchFamily="34" charset="-120"/>
              </a:rPr>
              <a:t>ConfirmedDigest
</a:t>
            </a:r>
            <a:pPr algn="l" indent="0" marL="0">
              <a:buNone/>
            </a:pPr>
            <a:r>
              <a:rPr lang="en-US" sz="1100" dirty="0">
                <a:solidFill>
                  <a:srgbClr val="C53030"/>
                </a:solidFill>
                <a:latin typeface="Consolas" pitchFamily="34" charset="0"/>
                <a:ea typeface="Consolas" pitchFamily="34" charset="-122"/>
                <a:cs typeface="Consolas" pitchFamily="34" charset="-120"/>
              </a:rPr>
              <a:t>    - type: </a:t>
            </a:r>
            <a:pPr algn="l" indent="0" marL="0">
              <a:buNone/>
            </a:pPr>
            <a:r>
              <a:rPr lang="en-US" sz="1100" dirty="0">
                <a:solidFill>
                  <a:srgbClr val="276749"/>
                </a:solidFill>
                <a:latin typeface="Consolas" pitchFamily="34" charset="0"/>
                <a:ea typeface="Consolas" pitchFamily="34" charset="-122"/>
                <a:cs typeface="Consolas" pitchFamily="34" charset="-120"/>
              </a:rPr>
              <a:t>Available
</a:t>
            </a:r>
            <a:pPr algn="l" indent="0" marL="0">
              <a:buNone/>
            </a:pPr>
            <a:r>
              <a:rPr lang="en-US" sz="1100" dirty="0">
                <a:solidFill>
                  <a:srgbClr val="C53030"/>
                </a:solidFill>
                <a:latin typeface="Consolas" pitchFamily="34" charset="0"/>
                <a:ea typeface="Consolas" pitchFamily="34" charset="-122"/>
                <a:cs typeface="Consolas" pitchFamily="34" charset="-120"/>
              </a:rPr>
              <a:t>      status: </a:t>
            </a:r>
            <a:pPr algn="l" indent="0" marL="0">
              <a:buNone/>
            </a:pPr>
            <a:r>
              <a:rPr lang="en-US" sz="1100" dirty="0">
                <a:solidFill>
                  <a:srgbClr val="276749"/>
                </a:solidFill>
                <a:latin typeface="Consolas" pitchFamily="34" charset="0"/>
                <a:ea typeface="Consolas" pitchFamily="34" charset="-122"/>
                <a:cs typeface="Consolas" pitchFamily="34" charset="-120"/>
              </a:rPr>
              <a:t>"True"
</a:t>
            </a:r>
            <a:pPr algn="l" indent="0" marL="0">
              <a:buNone/>
            </a:pPr>
            <a:r>
              <a:rPr lang="en-US" sz="1100" dirty="0">
                <a:solidFill>
                  <a:srgbClr val="C53030"/>
                </a:solidFill>
                <a:latin typeface="Consolas" pitchFamily="34" charset="0"/>
                <a:ea typeface="Consolas" pitchFamily="34" charset="-122"/>
                <a:cs typeface="Consolas" pitchFamily="34" charset="-120"/>
              </a:rPr>
              <a:t>      reason: </a:t>
            </a:r>
            <a:pPr algn="l" indent="0" marL="0">
              <a:buNone/>
            </a:pPr>
            <a:r>
              <a:rPr lang="en-US" sz="1100" dirty="0">
                <a:solidFill>
                  <a:srgbClr val="276749"/>
                </a:solidFill>
                <a:latin typeface="Consolas" pitchFamily="34" charset="0"/>
                <a:ea typeface="Consolas" pitchFamily="34" charset="-122"/>
                <a:cs typeface="Consolas" pitchFamily="34" charset="-120"/>
              </a:rPr>
              <a:t>PodReady
</a:t>
            </a:r>
            <a:endParaRPr lang="en-US" sz="1100" dirty="0"/>
          </a:p>
        </p:txBody>
      </p:sp>
      <p:sp>
        <p:nvSpPr>
          <p:cNvPr id="8" name="Text 6"/>
          <p:cNvSpPr/>
          <p:nvPr/>
        </p:nvSpPr>
        <p:spPr>
          <a:xfrm>
            <a:off x="6675120" y="3931920"/>
            <a:ext cx="4846320" cy="320040"/>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Phase taxonomy</a:t>
            </a:r>
            <a:endParaRPr lang="en-US" sz="1400" dirty="0"/>
          </a:p>
        </p:txBody>
      </p:sp>
      <p:sp>
        <p:nvSpPr>
          <p:cNvPr id="9" name="Text 7"/>
          <p:cNvSpPr/>
          <p:nvPr/>
        </p:nvSpPr>
        <p:spPr>
          <a:xfrm>
            <a:off x="6675120" y="4297680"/>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Pending</a:t>
            </a:r>
            <a:endParaRPr lang="en-US" sz="1000" dirty="0"/>
          </a:p>
        </p:txBody>
      </p:sp>
      <p:sp>
        <p:nvSpPr>
          <p:cNvPr id="10" name="Text 8"/>
          <p:cNvSpPr/>
          <p:nvPr/>
        </p:nvSpPr>
        <p:spPr>
          <a:xfrm>
            <a:off x="7955280" y="4297680"/>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controller accepted CR</a:t>
            </a:r>
            <a:endParaRPr lang="en-US" sz="1000" dirty="0"/>
          </a:p>
        </p:txBody>
      </p:sp>
      <p:sp>
        <p:nvSpPr>
          <p:cNvPr id="11" name="Text 9"/>
          <p:cNvSpPr/>
          <p:nvPr/>
        </p:nvSpPr>
        <p:spPr>
          <a:xfrm>
            <a:off x="6675120" y="4544568"/>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Compiled</a:t>
            </a:r>
            <a:endParaRPr lang="en-US" sz="1000" dirty="0"/>
          </a:p>
        </p:txBody>
      </p:sp>
      <p:sp>
        <p:nvSpPr>
          <p:cNvPr id="12" name="Text 10"/>
          <p:cNvSpPr/>
          <p:nvPr/>
        </p:nvSpPr>
        <p:spPr>
          <a:xfrm>
            <a:off x="7955280" y="4544568"/>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spec parsed → ConfigMaps written</a:t>
            </a:r>
            <a:endParaRPr lang="en-US" sz="1000" dirty="0"/>
          </a:p>
        </p:txBody>
      </p:sp>
      <p:sp>
        <p:nvSpPr>
          <p:cNvPr id="13" name="Text 11"/>
          <p:cNvSpPr/>
          <p:nvPr/>
        </p:nvSpPr>
        <p:spPr>
          <a:xfrm>
            <a:off x="6675120" y="4791456"/>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Ready</a:t>
            </a:r>
            <a:endParaRPr lang="en-US" sz="1000" dirty="0"/>
          </a:p>
        </p:txBody>
      </p:sp>
      <p:sp>
        <p:nvSpPr>
          <p:cNvPr id="14" name="Text 12"/>
          <p:cNvSpPr/>
          <p:nvPr/>
        </p:nvSpPr>
        <p:spPr>
          <a:xfrm>
            <a:off x="7955280" y="4791456"/>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data plane confirmed enforcing</a:t>
            </a:r>
            <a:endParaRPr lang="en-US" sz="1000" dirty="0"/>
          </a:p>
        </p:txBody>
      </p:sp>
      <p:sp>
        <p:nvSpPr>
          <p:cNvPr id="15" name="Text 13"/>
          <p:cNvSpPr/>
          <p:nvPr/>
        </p:nvSpPr>
        <p:spPr>
          <a:xfrm>
            <a:off x="6675120" y="5038344"/>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Running</a:t>
            </a:r>
            <a:endParaRPr lang="en-US" sz="1000" dirty="0"/>
          </a:p>
        </p:txBody>
      </p:sp>
      <p:sp>
        <p:nvSpPr>
          <p:cNvPr id="16" name="Text 14"/>
          <p:cNvSpPr/>
          <p:nvPr/>
        </p:nvSpPr>
        <p:spPr>
          <a:xfrm>
            <a:off x="7955280" y="5038344"/>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Pod ready (sandbox only)</a:t>
            </a:r>
            <a:endParaRPr lang="en-US" sz="1000" dirty="0"/>
          </a:p>
        </p:txBody>
      </p:sp>
      <p:sp>
        <p:nvSpPr>
          <p:cNvPr id="17" name="Text 15"/>
          <p:cNvSpPr/>
          <p:nvPr/>
        </p:nvSpPr>
        <p:spPr>
          <a:xfrm>
            <a:off x="6675120" y="5285232"/>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Degraded</a:t>
            </a:r>
            <a:endParaRPr lang="en-US" sz="1000" dirty="0"/>
          </a:p>
        </p:txBody>
      </p:sp>
      <p:sp>
        <p:nvSpPr>
          <p:cNvPr id="18" name="Text 16"/>
          <p:cNvSpPr/>
          <p:nvPr/>
        </p:nvSpPr>
        <p:spPr>
          <a:xfrm>
            <a:off x="7955280" y="5285232"/>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valid but partial — see reason</a:t>
            </a:r>
            <a:endParaRPr lang="en-US" sz="1000" dirty="0"/>
          </a:p>
        </p:txBody>
      </p:sp>
      <p:sp>
        <p:nvSpPr>
          <p:cNvPr id="19" name="Text 17"/>
          <p:cNvSpPr/>
          <p:nvPr/>
        </p:nvSpPr>
        <p:spPr>
          <a:xfrm>
            <a:off x="6675120" y="5532120"/>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Failed</a:t>
            </a:r>
            <a:endParaRPr lang="en-US" sz="1000" dirty="0"/>
          </a:p>
        </p:txBody>
      </p:sp>
      <p:sp>
        <p:nvSpPr>
          <p:cNvPr id="20" name="Text 18"/>
          <p:cNvSpPr/>
          <p:nvPr/>
        </p:nvSpPr>
        <p:spPr>
          <a:xfrm>
            <a:off x="7955280" y="5532120"/>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hard prereq broken</a:t>
            </a:r>
            <a:endParaRPr lang="en-US" sz="1000" dirty="0"/>
          </a:p>
        </p:txBody>
      </p:sp>
      <p:sp>
        <p:nvSpPr>
          <p:cNvPr id="21" name="Text 19"/>
          <p:cNvSpPr/>
          <p:nvPr/>
        </p:nvSpPr>
        <p:spPr>
          <a:xfrm>
            <a:off x="6675120" y="5779008"/>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Active</a:t>
            </a:r>
            <a:endParaRPr lang="en-US" sz="1000" dirty="0"/>
          </a:p>
        </p:txBody>
      </p:sp>
      <p:sp>
        <p:nvSpPr>
          <p:cNvPr id="22" name="Text 20"/>
          <p:cNvSpPr/>
          <p:nvPr/>
        </p:nvSpPr>
        <p:spPr>
          <a:xfrm>
            <a:off x="7955280" y="5779008"/>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grant phase (EgressApproval)</a:t>
            </a:r>
            <a:endParaRPr lang="en-US" sz="1000" dirty="0"/>
          </a:p>
        </p:txBody>
      </p:sp>
      <p:sp>
        <p:nvSpPr>
          <p:cNvPr id="23" name="Text 21"/>
          <p:cNvSpPr/>
          <p:nvPr/>
        </p:nvSpPr>
        <p:spPr>
          <a:xfrm>
            <a:off x="6675120" y="6025896"/>
            <a:ext cx="1280160" cy="228600"/>
          </a:xfrm>
          <a:prstGeom prst="rect">
            <a:avLst/>
          </a:prstGeom>
          <a:noFill/>
          <a:ln/>
        </p:spPr>
        <p:txBody>
          <a:bodyPr wrap="square" lIns="0" tIns="0" rIns="0" bIns="0" rtlCol="0" anchor="ctr"/>
          <a:lstStyle/>
          <a:p>
            <a:pPr indent="0" marL="0">
              <a:buNone/>
            </a:pPr>
            <a:r>
              <a:rPr lang="en-US" sz="1000" dirty="0">
                <a:solidFill>
                  <a:srgbClr val="028090"/>
                </a:solidFill>
                <a:latin typeface="Consolas" pitchFamily="34" charset="0"/>
                <a:ea typeface="Consolas" pitchFamily="34" charset="-122"/>
                <a:cs typeface="Consolas" pitchFamily="34" charset="-120"/>
              </a:rPr>
              <a:t>Expired</a:t>
            </a:r>
            <a:endParaRPr lang="en-US" sz="1000" dirty="0"/>
          </a:p>
        </p:txBody>
      </p:sp>
      <p:sp>
        <p:nvSpPr>
          <p:cNvPr id="24" name="Text 22"/>
          <p:cNvSpPr/>
          <p:nvPr/>
        </p:nvSpPr>
        <p:spPr>
          <a:xfrm>
            <a:off x="7955280" y="6025896"/>
            <a:ext cx="3566160" cy="228600"/>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grant terminal phase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09</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§3.5 · ARCHITECTURE · THE CRD SET</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4200" b="1" dirty="0">
                <a:solidFill>
                  <a:srgbClr val="1A1A1A"/>
                </a:solidFill>
                <a:latin typeface="Helvetica" pitchFamily="34" charset="0"/>
                <a:ea typeface="Helvetica" pitchFamily="34" charset="-122"/>
                <a:cs typeface="Helvetica" pitchFamily="34" charset="-120"/>
              </a:rPr>
              <a:t>Eleven CRDs.</a:t>
            </a:r>
            <a:endParaRPr lang="en-US" sz="4200" dirty="0"/>
          </a:p>
        </p:txBody>
      </p:sp>
      <p:sp>
        <p:nvSpPr>
          <p:cNvPr id="5" name="Text 3"/>
          <p:cNvSpPr/>
          <p:nvPr/>
        </p:nvSpPr>
        <p:spPr>
          <a:xfrm>
            <a:off x="640080" y="2240280"/>
            <a:ext cx="10881360" cy="118872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Nine namespaced (one per sandbox concern) plus two cluster-scoped (tenant-wide identity + cross-cluster trust topology).  Every kind has an OpenAPIv3 schema, a dedicated reconciler, and ValidatingAdmissionPolicy guard-rails.</a:t>
            </a:r>
            <a:endParaRPr lang="en-US" sz="1800" dirty="0"/>
          </a:p>
        </p:txBody>
      </p:sp>
      <p:sp>
        <p:nvSpPr>
          <p:cNvPr id="6" name="Text 4"/>
          <p:cNvSpPr/>
          <p:nvPr/>
        </p:nvSpPr>
        <p:spPr>
          <a:xfrm>
            <a:off x="640080" y="3703320"/>
            <a:ext cx="1737360" cy="256032"/>
          </a:xfrm>
          <a:prstGeom prst="rect">
            <a:avLst/>
          </a:prstGeom>
          <a:noFill/>
          <a:ln/>
        </p:spPr>
        <p:txBody>
          <a:bodyPr wrap="square" lIns="0" tIns="0" rIns="0" bIns="0" rtlCol="0" anchor="ctr"/>
          <a:lstStyle/>
          <a:p>
            <a:pPr indent="0" marL="0">
              <a:buNone/>
            </a:pPr>
            <a:r>
              <a:rPr lang="en-US" sz="900" spc="300" kern="0" dirty="0">
                <a:solidFill>
                  <a:srgbClr val="6E7681"/>
                </a:solidFill>
                <a:latin typeface="Helvetica" pitchFamily="34" charset="0"/>
                <a:ea typeface="Helvetica" pitchFamily="34" charset="-122"/>
                <a:cs typeface="Helvetica" pitchFamily="34" charset="-120"/>
              </a:rPr>
              <a:t>KIND</a:t>
            </a:r>
            <a:endParaRPr lang="en-US" sz="900" dirty="0"/>
          </a:p>
        </p:txBody>
      </p:sp>
      <p:sp>
        <p:nvSpPr>
          <p:cNvPr id="7" name="Text 5"/>
          <p:cNvSpPr/>
          <p:nvPr/>
        </p:nvSpPr>
        <p:spPr>
          <a:xfrm>
            <a:off x="2423160" y="3703320"/>
            <a:ext cx="868680" cy="256032"/>
          </a:xfrm>
          <a:prstGeom prst="rect">
            <a:avLst/>
          </a:prstGeom>
          <a:noFill/>
          <a:ln/>
        </p:spPr>
        <p:txBody>
          <a:bodyPr wrap="square" lIns="0" tIns="0" rIns="0" bIns="0" rtlCol="0" anchor="ctr"/>
          <a:lstStyle/>
          <a:p>
            <a:pPr indent="0" marL="0">
              <a:buNone/>
            </a:pPr>
            <a:r>
              <a:rPr lang="en-US" sz="900" spc="300" kern="0" dirty="0">
                <a:solidFill>
                  <a:srgbClr val="6E7681"/>
                </a:solidFill>
                <a:latin typeface="Helvetica" pitchFamily="34" charset="0"/>
                <a:ea typeface="Helvetica" pitchFamily="34" charset="-122"/>
                <a:cs typeface="Helvetica" pitchFamily="34" charset="-120"/>
              </a:rPr>
              <a:t>SCOPE</a:t>
            </a:r>
            <a:endParaRPr lang="en-US" sz="900" dirty="0"/>
          </a:p>
        </p:txBody>
      </p:sp>
      <p:sp>
        <p:nvSpPr>
          <p:cNvPr id="8" name="Text 6"/>
          <p:cNvSpPr/>
          <p:nvPr/>
        </p:nvSpPr>
        <p:spPr>
          <a:xfrm>
            <a:off x="3337560" y="3703320"/>
            <a:ext cx="5943600" cy="256032"/>
          </a:xfrm>
          <a:prstGeom prst="rect">
            <a:avLst/>
          </a:prstGeom>
          <a:noFill/>
          <a:ln/>
        </p:spPr>
        <p:txBody>
          <a:bodyPr wrap="square" lIns="0" tIns="0" rIns="0" bIns="0" rtlCol="0" anchor="ctr"/>
          <a:lstStyle/>
          <a:p>
            <a:pPr indent="0" marL="0">
              <a:buNone/>
            </a:pPr>
            <a:r>
              <a:rPr lang="en-US" sz="900" spc="300" kern="0" dirty="0">
                <a:solidFill>
                  <a:srgbClr val="6E7681"/>
                </a:solidFill>
                <a:latin typeface="Helvetica" pitchFamily="34" charset="0"/>
                <a:ea typeface="Helvetica" pitchFamily="34" charset="-122"/>
                <a:cs typeface="Helvetica" pitchFamily="34" charset="-120"/>
              </a:rPr>
              <a:t>WHAT IT DOES</a:t>
            </a:r>
            <a:endParaRPr lang="en-US" sz="900" dirty="0"/>
          </a:p>
        </p:txBody>
      </p:sp>
      <p:sp>
        <p:nvSpPr>
          <p:cNvPr id="9" name="Text 7"/>
          <p:cNvSpPr/>
          <p:nvPr/>
        </p:nvSpPr>
        <p:spPr>
          <a:xfrm>
            <a:off x="9372600" y="3703320"/>
            <a:ext cx="2743200" cy="256032"/>
          </a:xfrm>
          <a:prstGeom prst="rect">
            <a:avLst/>
          </a:prstGeom>
          <a:noFill/>
          <a:ln/>
        </p:spPr>
        <p:txBody>
          <a:bodyPr wrap="square" lIns="0" tIns="0" rIns="0" bIns="0" rtlCol="0" anchor="ctr"/>
          <a:lstStyle/>
          <a:p>
            <a:pPr indent="0" marL="0">
              <a:buNone/>
            </a:pPr>
            <a:r>
              <a:rPr lang="en-US" sz="900" spc="300" kern="0" dirty="0">
                <a:solidFill>
                  <a:srgbClr val="6E7681"/>
                </a:solidFill>
                <a:latin typeface="Helvetica" pitchFamily="34" charset="0"/>
                <a:ea typeface="Helvetica" pitchFamily="34" charset="-122"/>
                <a:cs typeface="Helvetica" pitchFamily="34" charset="-120"/>
              </a:rPr>
              <a:t>RECONCILER</a:t>
            </a:r>
            <a:endParaRPr lang="en-US" sz="900" dirty="0"/>
          </a:p>
        </p:txBody>
      </p:sp>
      <p:sp>
        <p:nvSpPr>
          <p:cNvPr id="10" name="Shape 8"/>
          <p:cNvSpPr/>
          <p:nvPr/>
        </p:nvSpPr>
        <p:spPr>
          <a:xfrm>
            <a:off x="640080" y="3995928"/>
            <a:ext cx="10881360" cy="0"/>
          </a:xfrm>
          <a:prstGeom prst="line">
            <a:avLst/>
          </a:prstGeom>
          <a:noFill/>
          <a:ln w="9525">
            <a:solidFill>
              <a:srgbClr val="028090"/>
            </a:solidFill>
            <a:prstDash val="solid"/>
          </a:ln>
        </p:spPr>
      </p:sp>
      <p:sp>
        <p:nvSpPr>
          <p:cNvPr id="11" name="Text 9"/>
          <p:cNvSpPr/>
          <p:nvPr/>
        </p:nvSpPr>
        <p:spPr>
          <a:xfrm>
            <a:off x="640080" y="3931920"/>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KarsSandbox</a:t>
            </a:r>
            <a:endParaRPr lang="en-US" sz="1000" dirty="0"/>
          </a:p>
        </p:txBody>
      </p:sp>
      <p:sp>
        <p:nvSpPr>
          <p:cNvPr id="12" name="Text 10"/>
          <p:cNvSpPr/>
          <p:nvPr/>
        </p:nvSpPr>
        <p:spPr>
          <a:xfrm>
            <a:off x="2423160" y="3931920"/>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13" name="Text 11"/>
          <p:cNvSpPr/>
          <p:nvPr/>
        </p:nvSpPr>
        <p:spPr>
          <a:xfrm>
            <a:off x="3337560" y="3931920"/>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provisions a governed sandbox (9 K8s primitives)</a:t>
            </a:r>
            <a:endParaRPr lang="en-US" sz="1000" dirty="0"/>
          </a:p>
        </p:txBody>
      </p:sp>
      <p:sp>
        <p:nvSpPr>
          <p:cNvPr id="14" name="Text 12"/>
          <p:cNvSpPr/>
          <p:nvPr/>
        </p:nvSpPr>
        <p:spPr>
          <a:xfrm>
            <a:off x="9372600" y="3931920"/>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reconciler/mod.rs</a:t>
            </a:r>
            <a:endParaRPr lang="en-US" sz="900" dirty="0"/>
          </a:p>
        </p:txBody>
      </p:sp>
      <p:sp>
        <p:nvSpPr>
          <p:cNvPr id="15" name="Text 13"/>
          <p:cNvSpPr/>
          <p:nvPr/>
        </p:nvSpPr>
        <p:spPr>
          <a:xfrm>
            <a:off x="640080" y="4155948"/>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InferencePolicy</a:t>
            </a:r>
            <a:endParaRPr lang="en-US" sz="1000" dirty="0"/>
          </a:p>
        </p:txBody>
      </p:sp>
      <p:sp>
        <p:nvSpPr>
          <p:cNvPr id="16" name="Text 14"/>
          <p:cNvSpPr/>
          <p:nvPr/>
        </p:nvSpPr>
        <p:spPr>
          <a:xfrm>
            <a:off x="2423160" y="4155948"/>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17" name="Text 15"/>
          <p:cNvSpPr/>
          <p:nvPr/>
        </p:nvSpPr>
        <p:spPr>
          <a:xfrm>
            <a:off x="3337560" y="4155948"/>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model preference · content safety · token budget</a:t>
            </a:r>
            <a:endParaRPr lang="en-US" sz="1000" dirty="0"/>
          </a:p>
        </p:txBody>
      </p:sp>
      <p:sp>
        <p:nvSpPr>
          <p:cNvPr id="18" name="Text 16"/>
          <p:cNvSpPr/>
          <p:nvPr/>
        </p:nvSpPr>
        <p:spPr>
          <a:xfrm>
            <a:off x="9372600" y="4155948"/>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inference_policy</a:t>
            </a:r>
            <a:endParaRPr lang="en-US" sz="900" dirty="0"/>
          </a:p>
        </p:txBody>
      </p:sp>
      <p:sp>
        <p:nvSpPr>
          <p:cNvPr id="19" name="Text 17"/>
          <p:cNvSpPr/>
          <p:nvPr/>
        </p:nvSpPr>
        <p:spPr>
          <a:xfrm>
            <a:off x="640080" y="4379976"/>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ToolPolicy</a:t>
            </a:r>
            <a:endParaRPr lang="en-US" sz="1000" dirty="0"/>
          </a:p>
        </p:txBody>
      </p:sp>
      <p:sp>
        <p:nvSpPr>
          <p:cNvPr id="20" name="Text 18"/>
          <p:cNvSpPr/>
          <p:nvPr/>
        </p:nvSpPr>
        <p:spPr>
          <a:xfrm>
            <a:off x="2423160" y="4379976"/>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21" name="Text 19"/>
          <p:cNvSpPr/>
          <p:nvPr/>
        </p:nvSpPr>
        <p:spPr>
          <a:xfrm>
            <a:off x="3337560" y="4379976"/>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per-tool approval channel · rate limit · audit hooks</a:t>
            </a:r>
            <a:endParaRPr lang="en-US" sz="1000" dirty="0"/>
          </a:p>
        </p:txBody>
      </p:sp>
      <p:sp>
        <p:nvSpPr>
          <p:cNvPr id="22" name="Text 20"/>
          <p:cNvSpPr/>
          <p:nvPr/>
        </p:nvSpPr>
        <p:spPr>
          <a:xfrm>
            <a:off x="9372600" y="4379976"/>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tool_policy</a:t>
            </a:r>
            <a:endParaRPr lang="en-US" sz="900" dirty="0"/>
          </a:p>
        </p:txBody>
      </p:sp>
      <p:sp>
        <p:nvSpPr>
          <p:cNvPr id="23" name="Text 21"/>
          <p:cNvSpPr/>
          <p:nvPr/>
        </p:nvSpPr>
        <p:spPr>
          <a:xfrm>
            <a:off x="640080" y="4604004"/>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EgressApproval</a:t>
            </a:r>
            <a:endParaRPr lang="en-US" sz="1000" dirty="0"/>
          </a:p>
        </p:txBody>
      </p:sp>
      <p:sp>
        <p:nvSpPr>
          <p:cNvPr id="24" name="Text 22"/>
          <p:cNvSpPr/>
          <p:nvPr/>
        </p:nvSpPr>
        <p:spPr>
          <a:xfrm>
            <a:off x="2423160" y="4604004"/>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25" name="Text 23"/>
          <p:cNvSpPr/>
          <p:nvPr/>
        </p:nvSpPr>
        <p:spPr>
          <a:xfrm>
            <a:off x="3337560" y="4604004"/>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time-boxed egress grant (reason + ticket + TTL)</a:t>
            </a:r>
            <a:endParaRPr lang="en-US" sz="1000" dirty="0"/>
          </a:p>
        </p:txBody>
      </p:sp>
      <p:sp>
        <p:nvSpPr>
          <p:cNvPr id="26" name="Text 24"/>
          <p:cNvSpPr/>
          <p:nvPr/>
        </p:nvSpPr>
        <p:spPr>
          <a:xfrm>
            <a:off x="9372600" y="4604004"/>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egress_approval</a:t>
            </a:r>
            <a:endParaRPr lang="en-US" sz="900" dirty="0"/>
          </a:p>
        </p:txBody>
      </p:sp>
      <p:sp>
        <p:nvSpPr>
          <p:cNvPr id="27" name="Text 25"/>
          <p:cNvSpPr/>
          <p:nvPr/>
        </p:nvSpPr>
        <p:spPr>
          <a:xfrm>
            <a:off x="640080" y="4828032"/>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KarsMemory</a:t>
            </a:r>
            <a:endParaRPr lang="en-US" sz="1000" dirty="0"/>
          </a:p>
        </p:txBody>
      </p:sp>
      <p:sp>
        <p:nvSpPr>
          <p:cNvPr id="28" name="Text 26"/>
          <p:cNvSpPr/>
          <p:nvPr/>
        </p:nvSpPr>
        <p:spPr>
          <a:xfrm>
            <a:off x="2423160" y="4828032"/>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29" name="Text 27"/>
          <p:cNvSpPr/>
          <p:nvPr/>
        </p:nvSpPr>
        <p:spPr>
          <a:xfrm>
            <a:off x="3337560" y="4828032"/>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Foundry Memory Store binding · scope + retention</a:t>
            </a:r>
            <a:endParaRPr lang="en-US" sz="1000" dirty="0"/>
          </a:p>
        </p:txBody>
      </p:sp>
      <p:sp>
        <p:nvSpPr>
          <p:cNvPr id="30" name="Text 28"/>
          <p:cNvSpPr/>
          <p:nvPr/>
        </p:nvSpPr>
        <p:spPr>
          <a:xfrm>
            <a:off x="9372600" y="4828032"/>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kars_memory</a:t>
            </a:r>
            <a:endParaRPr lang="en-US" sz="900" dirty="0"/>
          </a:p>
        </p:txBody>
      </p:sp>
      <p:sp>
        <p:nvSpPr>
          <p:cNvPr id="31" name="Text 29"/>
          <p:cNvSpPr/>
          <p:nvPr/>
        </p:nvSpPr>
        <p:spPr>
          <a:xfrm>
            <a:off x="640080" y="5052060"/>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KarsEval</a:t>
            </a:r>
            <a:endParaRPr lang="en-US" sz="1000" dirty="0"/>
          </a:p>
        </p:txBody>
      </p:sp>
      <p:sp>
        <p:nvSpPr>
          <p:cNvPr id="32" name="Text 30"/>
          <p:cNvSpPr/>
          <p:nvPr/>
        </p:nvSpPr>
        <p:spPr>
          <a:xfrm>
            <a:off x="2423160" y="5052060"/>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33" name="Text 31"/>
          <p:cNvSpPr/>
          <p:nvPr/>
        </p:nvSpPr>
        <p:spPr>
          <a:xfrm>
            <a:off x="3337560" y="5052060"/>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conformance run over a sandbox · signed corpus ref</a:t>
            </a:r>
            <a:endParaRPr lang="en-US" sz="1000" dirty="0"/>
          </a:p>
        </p:txBody>
      </p:sp>
      <p:sp>
        <p:nvSpPr>
          <p:cNvPr id="34" name="Text 32"/>
          <p:cNvSpPr/>
          <p:nvPr/>
        </p:nvSpPr>
        <p:spPr>
          <a:xfrm>
            <a:off x="9372600" y="5052060"/>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kars_eval</a:t>
            </a:r>
            <a:endParaRPr lang="en-US" sz="900" dirty="0"/>
          </a:p>
        </p:txBody>
      </p:sp>
      <p:sp>
        <p:nvSpPr>
          <p:cNvPr id="35" name="Text 33"/>
          <p:cNvSpPr/>
          <p:nvPr/>
        </p:nvSpPr>
        <p:spPr>
          <a:xfrm>
            <a:off x="640080" y="5276088"/>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A2AAgent</a:t>
            </a:r>
            <a:endParaRPr lang="en-US" sz="1000" dirty="0"/>
          </a:p>
        </p:txBody>
      </p:sp>
      <p:sp>
        <p:nvSpPr>
          <p:cNvPr id="36" name="Text 34"/>
          <p:cNvSpPr/>
          <p:nvPr/>
        </p:nvSpPr>
        <p:spPr>
          <a:xfrm>
            <a:off x="2423160" y="5276088"/>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37" name="Text 35"/>
          <p:cNvSpPr/>
          <p:nvPr/>
        </p:nvSpPr>
        <p:spPr>
          <a:xfrm>
            <a:off x="3337560" y="5276088"/>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A2A 1.0.0 agent + signed Agent Card · trust roots</a:t>
            </a:r>
            <a:endParaRPr lang="en-US" sz="1000" dirty="0"/>
          </a:p>
        </p:txBody>
      </p:sp>
      <p:sp>
        <p:nvSpPr>
          <p:cNvPr id="38" name="Text 36"/>
          <p:cNvSpPr/>
          <p:nvPr/>
        </p:nvSpPr>
        <p:spPr>
          <a:xfrm>
            <a:off x="9372600" y="5276088"/>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a2a_agent</a:t>
            </a:r>
            <a:endParaRPr lang="en-US" sz="900" dirty="0"/>
          </a:p>
        </p:txBody>
      </p:sp>
      <p:sp>
        <p:nvSpPr>
          <p:cNvPr id="39" name="Text 37"/>
          <p:cNvSpPr/>
          <p:nvPr/>
        </p:nvSpPr>
        <p:spPr>
          <a:xfrm>
            <a:off x="640080" y="5500116"/>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McpServer</a:t>
            </a:r>
            <a:endParaRPr lang="en-US" sz="1000" dirty="0"/>
          </a:p>
        </p:txBody>
      </p:sp>
      <p:sp>
        <p:nvSpPr>
          <p:cNvPr id="40" name="Text 38"/>
          <p:cNvSpPr/>
          <p:nvPr/>
        </p:nvSpPr>
        <p:spPr>
          <a:xfrm>
            <a:off x="2423160" y="5500116"/>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41" name="Text 39"/>
          <p:cNvSpPr/>
          <p:nvPr/>
        </p:nvSpPr>
        <p:spPr>
          <a:xfrm>
            <a:off x="3337560" y="5500116"/>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MCP server registry · OAuth · tool exposure rules</a:t>
            </a:r>
            <a:endParaRPr lang="en-US" sz="1000" dirty="0"/>
          </a:p>
        </p:txBody>
      </p:sp>
      <p:sp>
        <p:nvSpPr>
          <p:cNvPr id="42" name="Text 40"/>
          <p:cNvSpPr/>
          <p:nvPr/>
        </p:nvSpPr>
        <p:spPr>
          <a:xfrm>
            <a:off x="9372600" y="5500116"/>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mcp_server</a:t>
            </a:r>
            <a:endParaRPr lang="en-US" sz="900" dirty="0"/>
          </a:p>
        </p:txBody>
      </p:sp>
      <p:sp>
        <p:nvSpPr>
          <p:cNvPr id="43" name="Text 41"/>
          <p:cNvSpPr/>
          <p:nvPr/>
        </p:nvSpPr>
        <p:spPr>
          <a:xfrm>
            <a:off x="640080" y="5724144"/>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KarsPairing</a:t>
            </a:r>
            <a:endParaRPr lang="en-US" sz="1000" dirty="0"/>
          </a:p>
        </p:txBody>
      </p:sp>
      <p:sp>
        <p:nvSpPr>
          <p:cNvPr id="44" name="Text 42"/>
          <p:cNvSpPr/>
          <p:nvPr/>
        </p:nvSpPr>
        <p:spPr>
          <a:xfrm>
            <a:off x="2423160" y="5724144"/>
            <a:ext cx="868680" cy="224028"/>
          </a:xfrm>
          <a:prstGeom prst="rect">
            <a:avLst/>
          </a:prstGeom>
          <a:noFill/>
          <a:ln/>
        </p:spPr>
        <p:txBody>
          <a:bodyPr wrap="square" lIns="0" tIns="0" rIns="0" bIns="0" rtlCol="0" anchor="ctr"/>
          <a:lstStyle/>
          <a:p>
            <a:pPr indent="0" marL="0">
              <a:buNone/>
            </a:pPr>
            <a:r>
              <a:rPr lang="en-US" sz="1000" dirty="0">
                <a:solidFill>
                  <a:srgbClr val="6E7681"/>
                </a:solidFill>
                <a:latin typeface="Helvetica" pitchFamily="34" charset="0"/>
                <a:ea typeface="Helvetica" pitchFamily="34" charset="-122"/>
                <a:cs typeface="Helvetica" pitchFamily="34" charset="-120"/>
              </a:rPr>
              <a:t>ns</a:t>
            </a:r>
            <a:endParaRPr lang="en-US" sz="1000" dirty="0"/>
          </a:p>
        </p:txBody>
      </p:sp>
      <p:sp>
        <p:nvSpPr>
          <p:cNvPr id="45" name="Text 43"/>
          <p:cNvSpPr/>
          <p:nvPr/>
        </p:nvSpPr>
        <p:spPr>
          <a:xfrm>
            <a:off x="3337560" y="5724144"/>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single-use mesh-peer pairing token · TTL + AMID bind</a:t>
            </a:r>
            <a:endParaRPr lang="en-US" sz="1000" dirty="0"/>
          </a:p>
        </p:txBody>
      </p:sp>
      <p:sp>
        <p:nvSpPr>
          <p:cNvPr id="46" name="Text 44"/>
          <p:cNvSpPr/>
          <p:nvPr/>
        </p:nvSpPr>
        <p:spPr>
          <a:xfrm>
            <a:off x="9372600" y="5724144"/>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pairing</a:t>
            </a:r>
            <a:endParaRPr lang="en-US" sz="900" dirty="0"/>
          </a:p>
        </p:txBody>
      </p:sp>
      <p:sp>
        <p:nvSpPr>
          <p:cNvPr id="47" name="Text 45"/>
          <p:cNvSpPr/>
          <p:nvPr/>
        </p:nvSpPr>
        <p:spPr>
          <a:xfrm>
            <a:off x="640080" y="5948172"/>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KarsAuthConfig</a:t>
            </a:r>
            <a:endParaRPr lang="en-US" sz="1000" dirty="0"/>
          </a:p>
        </p:txBody>
      </p:sp>
      <p:sp>
        <p:nvSpPr>
          <p:cNvPr id="48" name="Text 46"/>
          <p:cNvSpPr/>
          <p:nvPr/>
        </p:nvSpPr>
        <p:spPr>
          <a:xfrm>
            <a:off x="2423160" y="5948172"/>
            <a:ext cx="868680" cy="224028"/>
          </a:xfrm>
          <a:prstGeom prst="rect">
            <a:avLst/>
          </a:prstGeom>
          <a:noFill/>
          <a:ln/>
        </p:spPr>
        <p:txBody>
          <a:bodyPr wrap="square" lIns="0" tIns="0" rIns="0" bIns="0" rtlCol="0" anchor="ctr"/>
          <a:lstStyle/>
          <a:p>
            <a:pPr indent="0" marL="0">
              <a:buNone/>
            </a:pPr>
            <a:r>
              <a:rPr lang="en-US" sz="1000" dirty="0">
                <a:solidFill>
                  <a:srgbClr val="028090"/>
                </a:solidFill>
                <a:latin typeface="Helvetica" pitchFamily="34" charset="0"/>
                <a:ea typeface="Helvetica" pitchFamily="34" charset="-122"/>
                <a:cs typeface="Helvetica" pitchFamily="34" charset="-120"/>
              </a:rPr>
              <a:t>cluster</a:t>
            </a:r>
            <a:endParaRPr lang="en-US" sz="1000" dirty="0"/>
          </a:p>
        </p:txBody>
      </p:sp>
      <p:sp>
        <p:nvSpPr>
          <p:cNvPr id="49" name="Text 47"/>
          <p:cNvSpPr/>
          <p:nvPr/>
        </p:nvSpPr>
        <p:spPr>
          <a:xfrm>
            <a:off x="3337560" y="5948172"/>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Entra tenant + authority + sponsor identities</a:t>
            </a:r>
            <a:endParaRPr lang="en-US" sz="1000" dirty="0"/>
          </a:p>
        </p:txBody>
      </p:sp>
      <p:sp>
        <p:nvSpPr>
          <p:cNvPr id="50" name="Text 48"/>
          <p:cNvSpPr/>
          <p:nvPr/>
        </p:nvSpPr>
        <p:spPr>
          <a:xfrm>
            <a:off x="9372600" y="5948172"/>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auth_config</a:t>
            </a:r>
            <a:endParaRPr lang="en-US" sz="900" dirty="0"/>
          </a:p>
        </p:txBody>
      </p:sp>
      <p:sp>
        <p:nvSpPr>
          <p:cNvPr id="51" name="Text 49"/>
          <p:cNvSpPr/>
          <p:nvPr/>
        </p:nvSpPr>
        <p:spPr>
          <a:xfrm>
            <a:off x="640080" y="6172200"/>
            <a:ext cx="1737360" cy="224028"/>
          </a:xfrm>
          <a:prstGeom prst="rect">
            <a:avLst/>
          </a:prstGeom>
          <a:noFill/>
          <a:ln/>
        </p:spPr>
        <p:txBody>
          <a:bodyPr wrap="square" lIns="0" tIns="0" rIns="0" bIns="0" rtlCol="0" anchor="ctr"/>
          <a:lstStyle/>
          <a:p>
            <a:pPr indent="0" marL="0">
              <a:buNone/>
            </a:pPr>
            <a:r>
              <a:rPr lang="en-US" sz="1000" dirty="0">
                <a:solidFill>
                  <a:srgbClr val="1A1A1A"/>
                </a:solidFill>
                <a:latin typeface="Consolas" pitchFamily="34" charset="0"/>
                <a:ea typeface="Consolas" pitchFamily="34" charset="-122"/>
                <a:cs typeface="Consolas" pitchFamily="34" charset="-120"/>
              </a:rPr>
              <a:t>TrustGraph</a:t>
            </a:r>
            <a:endParaRPr lang="en-US" sz="1000" dirty="0"/>
          </a:p>
        </p:txBody>
      </p:sp>
      <p:sp>
        <p:nvSpPr>
          <p:cNvPr id="52" name="Text 50"/>
          <p:cNvSpPr/>
          <p:nvPr/>
        </p:nvSpPr>
        <p:spPr>
          <a:xfrm>
            <a:off x="2423160" y="6172200"/>
            <a:ext cx="868680" cy="224028"/>
          </a:xfrm>
          <a:prstGeom prst="rect">
            <a:avLst/>
          </a:prstGeom>
          <a:noFill/>
          <a:ln/>
        </p:spPr>
        <p:txBody>
          <a:bodyPr wrap="square" lIns="0" tIns="0" rIns="0" bIns="0" rtlCol="0" anchor="ctr"/>
          <a:lstStyle/>
          <a:p>
            <a:pPr indent="0" marL="0">
              <a:buNone/>
            </a:pPr>
            <a:r>
              <a:rPr lang="en-US" sz="1000" dirty="0">
                <a:solidFill>
                  <a:srgbClr val="028090"/>
                </a:solidFill>
                <a:latin typeface="Helvetica" pitchFamily="34" charset="0"/>
                <a:ea typeface="Helvetica" pitchFamily="34" charset="-122"/>
                <a:cs typeface="Helvetica" pitchFamily="34" charset="-120"/>
              </a:rPr>
              <a:t>cluster</a:t>
            </a:r>
            <a:endParaRPr lang="en-US" sz="1000" dirty="0"/>
          </a:p>
        </p:txBody>
      </p:sp>
      <p:sp>
        <p:nvSpPr>
          <p:cNvPr id="53" name="Text 51"/>
          <p:cNvSpPr/>
          <p:nvPr/>
        </p:nvSpPr>
        <p:spPr>
          <a:xfrm>
            <a:off x="3337560" y="6172200"/>
            <a:ext cx="5943600" cy="224028"/>
          </a:xfrm>
          <a:prstGeom prst="rect">
            <a:avLst/>
          </a:prstGeom>
          <a:noFill/>
          <a:ln/>
        </p:spPr>
        <p:txBody>
          <a:bodyPr wrap="square" lIns="0" tIns="0" rIns="0" bIns="0" rtlCol="0" anchor="ctr"/>
          <a:lstStyle/>
          <a:p>
            <a:pPr indent="0" marL="0">
              <a:buNone/>
            </a:pPr>
            <a:r>
              <a:rPr lang="en-US" sz="1000" dirty="0">
                <a:solidFill>
                  <a:srgbClr val="1A1A1A"/>
                </a:solidFill>
                <a:latin typeface="Helvetica" pitchFamily="34" charset="0"/>
                <a:ea typeface="Helvetica" pitchFamily="34" charset="-122"/>
                <a:cs typeface="Helvetica" pitchFamily="34" charset="-120"/>
              </a:rPr>
              <a:t>cross-cluster trust topology · signed edges (A2A)</a:t>
            </a:r>
            <a:endParaRPr lang="en-US" sz="1000" dirty="0"/>
          </a:p>
        </p:txBody>
      </p:sp>
      <p:sp>
        <p:nvSpPr>
          <p:cNvPr id="54" name="Text 52"/>
          <p:cNvSpPr/>
          <p:nvPr/>
        </p:nvSpPr>
        <p:spPr>
          <a:xfrm>
            <a:off x="9372600" y="6172200"/>
            <a:ext cx="2743200" cy="224028"/>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trust_graph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10</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§4 · POLICY · INFERENCEPOLICY</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4200" b="1" dirty="0">
                <a:solidFill>
                  <a:srgbClr val="1A1A1A"/>
                </a:solidFill>
                <a:latin typeface="Helvetica" pitchFamily="34" charset="0"/>
                <a:ea typeface="Helvetica" pitchFamily="34" charset="-122"/>
                <a:cs typeface="Helvetica" pitchFamily="34" charset="-120"/>
              </a:rPr>
              <a:t>Policy is data.</a:t>
            </a:r>
            <a:endParaRPr lang="en-US" sz="4200" dirty="0"/>
          </a:p>
        </p:txBody>
      </p:sp>
      <p:sp>
        <p:nvSpPr>
          <p:cNvPr id="5" name="Shape 3"/>
          <p:cNvSpPr/>
          <p:nvPr/>
        </p:nvSpPr>
        <p:spPr>
          <a:xfrm>
            <a:off x="640080" y="2194560"/>
            <a:ext cx="6035040" cy="4297680"/>
          </a:xfrm>
          <a:prstGeom prst="rect">
            <a:avLst/>
          </a:prstGeom>
          <a:solidFill>
            <a:srgbClr val="F6F8FA"/>
          </a:solidFill>
          <a:ln w="9525">
            <a:solidFill>
              <a:srgbClr val="E1E4E8"/>
            </a:solidFill>
            <a:prstDash val="solid"/>
          </a:ln>
        </p:spPr>
      </p:sp>
      <p:sp>
        <p:nvSpPr>
          <p:cNvPr id="6" name="Text 4"/>
          <p:cNvSpPr/>
          <p:nvPr/>
        </p:nvSpPr>
        <p:spPr>
          <a:xfrm>
            <a:off x="868680" y="2423160"/>
            <a:ext cx="5577840" cy="3840480"/>
          </a:xfrm>
          <a:prstGeom prst="rect">
            <a:avLst/>
          </a:prstGeom>
          <a:noFill/>
          <a:ln/>
        </p:spPr>
        <p:txBody>
          <a:bodyPr wrap="square" lIns="0" tIns="0" rIns="0" bIns="0" rtlCol="0" anchor="t"/>
          <a:lstStyle/>
          <a:p>
            <a:pPr algn="l" indent="0" marL="0">
              <a:buNone/>
            </a:pPr>
            <a:r>
              <a:rPr lang="en-US" sz="1100" dirty="0">
                <a:solidFill>
                  <a:srgbClr val="C53030"/>
                </a:solidFill>
                <a:latin typeface="Consolas" pitchFamily="34" charset="0"/>
                <a:ea typeface="Consolas" pitchFamily="34" charset="-122"/>
                <a:cs typeface="Consolas" pitchFamily="34" charset="-120"/>
              </a:rPr>
              <a:t>apiVersion: </a:t>
            </a:r>
            <a:pPr algn="l" indent="0" marL="0">
              <a:buNone/>
            </a:pPr>
            <a:r>
              <a:rPr lang="en-US" sz="1100" dirty="0">
                <a:solidFill>
                  <a:srgbClr val="276749"/>
                </a:solidFill>
                <a:latin typeface="Consolas" pitchFamily="34" charset="0"/>
                <a:ea typeface="Consolas" pitchFamily="34" charset="-122"/>
                <a:cs typeface="Consolas" pitchFamily="34" charset="-120"/>
              </a:rPr>
              <a:t>kars.azure.com/v1alpha1
</a:t>
            </a:r>
            <a:pPr algn="l" indent="0" marL="0">
              <a:buNone/>
            </a:pPr>
            <a:r>
              <a:rPr lang="en-US" sz="1100" dirty="0">
                <a:solidFill>
                  <a:srgbClr val="C53030"/>
                </a:solidFill>
                <a:latin typeface="Consolas" pitchFamily="34" charset="0"/>
                <a:ea typeface="Consolas" pitchFamily="34" charset="-122"/>
                <a:cs typeface="Consolas" pitchFamily="34" charset="-120"/>
              </a:rPr>
              <a:t>kind: </a:t>
            </a:r>
            <a:pPr algn="l" indent="0" marL="0">
              <a:buNone/>
            </a:pPr>
            <a:r>
              <a:rPr lang="en-US" sz="1100" dirty="0">
                <a:solidFill>
                  <a:srgbClr val="276749"/>
                </a:solidFill>
                <a:latin typeface="Consolas" pitchFamily="34" charset="0"/>
                <a:ea typeface="Consolas" pitchFamily="34" charset="-122"/>
                <a:cs typeface="Consolas" pitchFamily="34" charset="-120"/>
              </a:rPr>
              <a:t>InferencePolicy
</a:t>
            </a:r>
            <a:pPr algn="l" indent="0" marL="0">
              <a:buNone/>
            </a:pPr>
            <a:r>
              <a:rPr lang="en-US" sz="1100" dirty="0">
                <a:solidFill>
                  <a:srgbClr val="1A1A1A"/>
                </a:solidFill>
                <a:latin typeface="Consolas" pitchFamily="34" charset="0"/>
                <a:ea typeface="Consolas" pitchFamily="34" charset="-122"/>
                <a:cs typeface="Consolas" pitchFamily="34" charset="-120"/>
              </a:rPr>
              <a:t>metadata:
  name: research-agent-policy
</a:t>
            </a:r>
            <a:pPr algn="l" indent="0" marL="0">
              <a:buNone/>
            </a:pPr>
            <a:r>
              <a:rPr lang="en-US" sz="1100" dirty="0">
                <a:solidFill>
                  <a:srgbClr val="1A1A1A"/>
                </a:solidFill>
                <a:latin typeface="Consolas" pitchFamily="34" charset="0"/>
                <a:ea typeface="Consolas" pitchFamily="34" charset="-122"/>
                <a:cs typeface="Consolas" pitchFamily="34" charset="-120"/>
              </a:rPr>
              <a:t>spec:
</a:t>
            </a:r>
            <a:pPr algn="l" indent="0" marL="0">
              <a:buNone/>
            </a:pPr>
            <a:r>
              <a:rPr lang="en-US" sz="1100" dirty="0">
                <a:solidFill>
                  <a:srgbClr val="1A1A1A"/>
                </a:solidFill>
                <a:latin typeface="Consolas" pitchFamily="34" charset="0"/>
                <a:ea typeface="Consolas" pitchFamily="34" charset="-122"/>
                <a:cs typeface="Consolas" pitchFamily="34" charset="-120"/>
              </a:rPr>
              <a:t>  appliesTo:
</a:t>
            </a:r>
            <a:pPr algn="l" indent="0" marL="0">
              <a:buNone/>
            </a:pPr>
            <a:r>
              <a:rPr lang="en-US" sz="1100" dirty="0">
                <a:solidFill>
                  <a:srgbClr val="C53030"/>
                </a:solidFill>
                <a:latin typeface="Consolas" pitchFamily="34" charset="0"/>
                <a:ea typeface="Consolas" pitchFamily="34" charset="-122"/>
                <a:cs typeface="Consolas" pitchFamily="34" charset="-120"/>
              </a:rPr>
              <a:t>    sandboxName: </a:t>
            </a:r>
            <a:pPr algn="l" indent="0" marL="0">
              <a:buNone/>
            </a:pPr>
            <a:r>
              <a:rPr lang="en-US" sz="1100" dirty="0">
                <a:solidFill>
                  <a:srgbClr val="276749"/>
                </a:solidFill>
                <a:latin typeface="Consolas" pitchFamily="34" charset="0"/>
                <a:ea typeface="Consolas" pitchFamily="34" charset="-122"/>
                <a:cs typeface="Consolas" pitchFamily="34" charset="-120"/>
              </a:rPr>
              <a:t>research-agent
</a:t>
            </a:r>
            <a:pPr algn="l" indent="0" marL="0">
              <a:buNone/>
            </a:pPr>
            <a:r>
              <a:rPr lang="en-US" sz="1100" dirty="0">
                <a:solidFill>
                  <a:srgbClr val="1A1A1A"/>
                </a:solidFill>
                <a:latin typeface="Consolas" pitchFamily="34" charset="0"/>
                <a:ea typeface="Consolas" pitchFamily="34" charset="-122"/>
                <a:cs typeface="Consolas" pitchFamily="34" charset="-120"/>
              </a:rPr>
              <a:t>  modelPreference:
</a:t>
            </a:r>
            <a:pPr algn="l" indent="0" marL="0">
              <a:buNone/>
            </a:pPr>
            <a:r>
              <a:rPr lang="en-US" sz="1100" dirty="0">
                <a:solidFill>
                  <a:srgbClr val="1A1A1A"/>
                </a:solidFill>
                <a:latin typeface="Consolas" pitchFamily="34" charset="0"/>
                <a:ea typeface="Consolas" pitchFamily="34" charset="-122"/>
                <a:cs typeface="Consolas" pitchFamily="34" charset="-120"/>
              </a:rPr>
              <a:t>    primary:
</a:t>
            </a:r>
            <a:pPr algn="l" indent="0" marL="0">
              <a:buNone/>
            </a:pPr>
            <a:r>
              <a:rPr lang="en-US" sz="1100" dirty="0">
                <a:solidFill>
                  <a:srgbClr val="C53030"/>
                </a:solidFill>
                <a:latin typeface="Consolas" pitchFamily="34" charset="0"/>
                <a:ea typeface="Consolas" pitchFamily="34" charset="-122"/>
                <a:cs typeface="Consolas" pitchFamily="34" charset="-120"/>
              </a:rPr>
              <a:t>      provider: </a:t>
            </a:r>
            <a:pPr algn="l" indent="0" marL="0">
              <a:buNone/>
            </a:pPr>
            <a:r>
              <a:rPr lang="en-US" sz="1100" dirty="0">
                <a:solidFill>
                  <a:srgbClr val="276749"/>
                </a:solidFill>
                <a:latin typeface="Consolas" pitchFamily="34" charset="0"/>
                <a:ea typeface="Consolas" pitchFamily="34" charset="-122"/>
                <a:cs typeface="Consolas" pitchFamily="34" charset="-120"/>
              </a:rPr>
              <a:t>azure-openai
</a:t>
            </a:r>
            <a:pPr algn="l" indent="0" marL="0">
              <a:buNone/>
            </a:pPr>
            <a:r>
              <a:rPr lang="en-US" sz="1100" dirty="0">
                <a:solidFill>
                  <a:srgbClr val="C53030"/>
                </a:solidFill>
                <a:latin typeface="Consolas" pitchFamily="34" charset="0"/>
                <a:ea typeface="Consolas" pitchFamily="34" charset="-122"/>
                <a:cs typeface="Consolas" pitchFamily="34" charset="-120"/>
              </a:rPr>
              <a:t>      deployment: </a:t>
            </a:r>
            <a:pPr algn="l" indent="0" marL="0">
              <a:buNone/>
            </a:pPr>
            <a:r>
              <a:rPr lang="en-US" sz="1100" dirty="0">
                <a:solidFill>
                  <a:srgbClr val="276749"/>
                </a:solidFill>
                <a:latin typeface="Consolas" pitchFamily="34" charset="0"/>
                <a:ea typeface="Consolas" pitchFamily="34" charset="-122"/>
                <a:cs typeface="Consolas" pitchFamily="34" charset="-120"/>
              </a:rPr>
              <a:t>gpt-4.1
</a:t>
            </a:r>
            <a:pPr algn="l" indent="0" marL="0">
              <a:buNone/>
            </a:pPr>
            <a:r>
              <a:rPr lang="en-US" sz="1100" dirty="0">
                <a:solidFill>
                  <a:srgbClr val="1A1A1A"/>
                </a:solidFill>
                <a:latin typeface="Consolas" pitchFamily="34" charset="0"/>
                <a:ea typeface="Consolas" pitchFamily="34" charset="-122"/>
                <a:cs typeface="Consolas" pitchFamily="34" charset="-120"/>
              </a:rPr>
              <a:t>    fallback:
</a:t>
            </a:r>
            <a:pPr algn="l" indent="0" marL="0">
              <a:buNone/>
            </a:pPr>
            <a:r>
              <a:rPr lang="en-US" sz="1100" dirty="0">
                <a:solidFill>
                  <a:srgbClr val="C53030"/>
                </a:solidFill>
                <a:latin typeface="Consolas" pitchFamily="34" charset="0"/>
                <a:ea typeface="Consolas" pitchFamily="34" charset="-122"/>
                <a:cs typeface="Consolas" pitchFamily="34" charset="-120"/>
              </a:rPr>
              <a:t>      - provider: </a:t>
            </a:r>
            <a:pPr algn="l" indent="0" marL="0">
              <a:buNone/>
            </a:pPr>
            <a:r>
              <a:rPr lang="en-US" sz="1100" dirty="0">
                <a:solidFill>
                  <a:srgbClr val="276749"/>
                </a:solidFill>
                <a:latin typeface="Consolas" pitchFamily="34" charset="0"/>
                <a:ea typeface="Consolas" pitchFamily="34" charset="-122"/>
                <a:cs typeface="Consolas" pitchFamily="34" charset="-120"/>
              </a:rPr>
              <a:t>anthropic
</a:t>
            </a:r>
            <a:pPr algn="l" indent="0" marL="0">
              <a:buNone/>
            </a:pPr>
            <a:r>
              <a:rPr lang="en-US" sz="1100" dirty="0">
                <a:solidFill>
                  <a:srgbClr val="C53030"/>
                </a:solidFill>
                <a:latin typeface="Consolas" pitchFamily="34" charset="0"/>
                <a:ea typeface="Consolas" pitchFamily="34" charset="-122"/>
                <a:cs typeface="Consolas" pitchFamily="34" charset="-120"/>
              </a:rPr>
              <a:t>        model: </a:t>
            </a:r>
            <a:pPr algn="l" indent="0" marL="0">
              <a:buNone/>
            </a:pPr>
            <a:r>
              <a:rPr lang="en-US" sz="1100" dirty="0">
                <a:solidFill>
                  <a:srgbClr val="276749"/>
                </a:solidFill>
                <a:latin typeface="Consolas" pitchFamily="34" charset="0"/>
                <a:ea typeface="Consolas" pitchFamily="34" charset="-122"/>
                <a:cs typeface="Consolas" pitchFamily="34" charset="-120"/>
              </a:rPr>
              <a:t>claude-opus-4.7
</a:t>
            </a:r>
            <a:pPr algn="l" indent="0" marL="0">
              <a:buNone/>
            </a:pPr>
            <a:r>
              <a:rPr lang="en-US" sz="1100" dirty="0">
                <a:solidFill>
                  <a:srgbClr val="1A1A1A"/>
                </a:solidFill>
                <a:latin typeface="Consolas" pitchFamily="34" charset="0"/>
                <a:ea typeface="Consolas" pitchFamily="34" charset="-122"/>
                <a:cs typeface="Consolas" pitchFamily="34" charset="-120"/>
              </a:rPr>
              <a:t>  contentSafety:
</a:t>
            </a:r>
            <a:pPr algn="l" indent="0" marL="0">
              <a:buNone/>
            </a:pPr>
            <a:r>
              <a:rPr lang="en-US" sz="1100" dirty="0">
                <a:solidFill>
                  <a:srgbClr val="C53030"/>
                </a:solidFill>
                <a:latin typeface="Consolas" pitchFamily="34" charset="0"/>
                <a:ea typeface="Consolas" pitchFamily="34" charset="-122"/>
                <a:cs typeface="Consolas" pitchFamily="34" charset="-120"/>
              </a:rPr>
              <a:t>    requirePromptShields: </a:t>
            </a:r>
            <a:pPr algn="l" indent="0" marL="0">
              <a:buNone/>
            </a:pPr>
            <a:r>
              <a:rPr lang="en-US" sz="1100" dirty="0">
                <a:solidFill>
                  <a:srgbClr val="276749"/>
                </a:solidFill>
                <a:latin typeface="Consolas" pitchFamily="34" charset="0"/>
                <a:ea typeface="Consolas" pitchFamily="34" charset="-122"/>
                <a:cs typeface="Consolas" pitchFamily="34" charset="-120"/>
              </a:rPr>
              <a:t>true
</a:t>
            </a:r>
            <a:pPr algn="l" indent="0" marL="0">
              <a:buNone/>
            </a:pPr>
            <a:r>
              <a:rPr lang="en-US" sz="1100" dirty="0">
                <a:solidFill>
                  <a:srgbClr val="1A1A1A"/>
                </a:solidFill>
                <a:latin typeface="Consolas" pitchFamily="34" charset="0"/>
                <a:ea typeface="Consolas" pitchFamily="34" charset="-122"/>
                <a:cs typeface="Consolas" pitchFamily="34" charset="-120"/>
              </a:rPr>
              <a:t>  tokenBudget:
</a:t>
            </a:r>
            <a:pPr algn="l" indent="0" marL="0">
              <a:buNone/>
            </a:pPr>
            <a:r>
              <a:rPr lang="en-US" sz="1100" dirty="0">
                <a:solidFill>
                  <a:srgbClr val="C53030"/>
                </a:solidFill>
                <a:latin typeface="Consolas" pitchFamily="34" charset="0"/>
                <a:ea typeface="Consolas" pitchFamily="34" charset="-122"/>
                <a:cs typeface="Consolas" pitchFamily="34" charset="-120"/>
              </a:rPr>
              <a:t>    perRequestTokens: </a:t>
            </a:r>
            <a:pPr algn="l" indent="0" marL="0">
              <a:buNone/>
            </a:pPr>
            <a:r>
              <a:rPr lang="en-US" sz="1100" dirty="0">
                <a:solidFill>
                  <a:srgbClr val="276749"/>
                </a:solidFill>
                <a:latin typeface="Consolas" pitchFamily="34" charset="0"/>
                <a:ea typeface="Consolas" pitchFamily="34" charset="-122"/>
                <a:cs typeface="Consolas" pitchFamily="34" charset="-120"/>
              </a:rPr>
              <a:t>32000
</a:t>
            </a:r>
            <a:pPr algn="l" indent="0" marL="0">
              <a:buNone/>
            </a:pPr>
            <a:r>
              <a:rPr lang="en-US" sz="1100" dirty="0">
                <a:solidFill>
                  <a:srgbClr val="C53030"/>
                </a:solidFill>
                <a:latin typeface="Consolas" pitchFamily="34" charset="0"/>
                <a:ea typeface="Consolas" pitchFamily="34" charset="-122"/>
                <a:cs typeface="Consolas" pitchFamily="34" charset="-120"/>
              </a:rPr>
              <a:t>    perWindow:        </a:t>
            </a:r>
            <a:pPr algn="l" indent="0" marL="0">
              <a:buNone/>
            </a:pPr>
            <a:r>
              <a:rPr lang="en-US" sz="1100" dirty="0">
                <a:solidFill>
                  <a:srgbClr val="276749"/>
                </a:solidFill>
                <a:latin typeface="Consolas" pitchFamily="34" charset="0"/>
                <a:ea typeface="Consolas" pitchFamily="34" charset="-122"/>
                <a:cs typeface="Consolas" pitchFamily="34" charset="-120"/>
              </a:rPr>
              <a:t>{ window: 1h, tokens: 200000 }
</a:t>
            </a:r>
            <a:endParaRPr lang="en-US" sz="1100" dirty="0"/>
          </a:p>
        </p:txBody>
      </p:sp>
      <p:sp>
        <p:nvSpPr>
          <p:cNvPr id="7" name="Text 5"/>
          <p:cNvSpPr/>
          <p:nvPr/>
        </p:nvSpPr>
        <p:spPr>
          <a:xfrm>
            <a:off x="7406640" y="2194560"/>
            <a:ext cx="4114800" cy="365760"/>
          </a:xfrm>
          <a:prstGeom prst="rect">
            <a:avLst/>
          </a:prstGeom>
          <a:noFill/>
          <a:ln/>
        </p:spPr>
        <p:txBody>
          <a:bodyPr wrap="square" lIns="0" tIns="0" rIns="0" bIns="0" rtlCol="0" anchor="ctr"/>
          <a:lstStyle/>
          <a:p>
            <a:pPr indent="0" marL="0">
              <a:buNone/>
            </a:pPr>
            <a:r>
              <a:rPr lang="en-US" sz="1800" b="1" dirty="0">
                <a:solidFill>
                  <a:srgbClr val="1A1A1A"/>
                </a:solidFill>
                <a:latin typeface="Helvetica" pitchFamily="34" charset="0"/>
                <a:ea typeface="Helvetica" pitchFamily="34" charset="-122"/>
                <a:cs typeface="Helvetica" pitchFamily="34" charset="-120"/>
              </a:rPr>
              <a:t>What the controller does</a:t>
            </a:r>
            <a:endParaRPr lang="en-US" sz="1800" dirty="0"/>
          </a:p>
        </p:txBody>
      </p:sp>
      <p:sp>
        <p:nvSpPr>
          <p:cNvPr id="8" name="Text 6"/>
          <p:cNvSpPr/>
          <p:nvPr/>
        </p:nvSpPr>
        <p:spPr>
          <a:xfrm>
            <a:off x="7406640" y="2606040"/>
            <a:ext cx="4114800" cy="3840480"/>
          </a:xfrm>
          <a:prstGeom prst="rect">
            <a:avLst/>
          </a:prstGeom>
          <a:noFill/>
          <a:ln/>
        </p:spPr>
        <p:txBody>
          <a:bodyPr wrap="square" lIns="0" tIns="0" rIns="0" bIns="0" rtlCol="0" anchor="ctr"/>
          <a:lstStyle/>
          <a:p>
            <a:pPr indent="0" marL="0">
              <a:spcAft>
                <a:spcPts val="800"/>
              </a:spcAft>
              <a:buNone/>
            </a:pPr>
            <a:r>
              <a:rPr lang="en-US" sz="1250" dirty="0">
                <a:solidFill>
                  <a:srgbClr val="1A1A1A"/>
                </a:solidFill>
                <a:latin typeface="Helvetica" pitchFamily="34" charset="0"/>
                <a:ea typeface="Helvetica" pitchFamily="34" charset="-122"/>
                <a:cs typeface="Helvetica" pitchFamily="34" charset="-120"/>
              </a:rPr>
              <a:t>Compiles the spec to a router-side policy envelope.  Writes it into the sandbox ConfigMap.  Stamps the digest on the sandbox status. Router refuses to start until digest matches.</a:t>
            </a:r>
            <a:endParaRPr lang="en-US" sz="1250" dirty="0"/>
          </a:p>
          <a:p>
            <a:pPr indent="0" marL="0">
              <a:spcAft>
                <a:spcPts val="800"/>
              </a:spcAft>
              <a:buNone/>
            </a:pPr>
            <a:r>
              <a:rPr lang="en-US" sz="1250" dirty="0">
                <a:solidFill>
                  <a:srgbClr val="1A1A1A"/>
                </a:solidFill>
                <a:latin typeface="Helvetica" pitchFamily="34" charset="0"/>
                <a:ea typeface="Helvetica" pitchFamily="34" charset="-122"/>
                <a:cs typeface="Helvetica" pitchFamily="34" charset="-120"/>
              </a:rPr>
              <a:t>On a model call, the router checks: provider available?  budget under limit?  Content Safety green? — then routes (with failover) and writes the audit row.</a:t>
            </a:r>
            <a:endParaRPr lang="en-US" sz="1250" dirty="0"/>
          </a:p>
          <a:p>
            <a:pPr indent="0" marL="0">
              <a:spcAft>
                <a:spcPts val="600"/>
              </a:spcAft>
              <a:buNone/>
            </a:pPr>
            <a:r>
              <a:rPr lang="en-US" sz="1250" dirty="0">
                <a:solidFill>
                  <a:srgbClr val="1A1A1A"/>
                </a:solidFill>
                <a:latin typeface="Helvetica" pitchFamily="34" charset="0"/>
                <a:ea typeface="Helvetica" pitchFamily="34" charset="-122"/>
                <a:cs typeface="Helvetica" pitchFamily="34" charset="-120"/>
              </a:rPr>
              <a:t>Edit the CR, re-apply.  Drift surfaces as a Warning Event.  Next call uses the new policy. No restart.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11</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§4.1 · POLICY · TWO MORE</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2800" b="1" dirty="0">
                <a:solidFill>
                  <a:srgbClr val="1A1A1A"/>
                </a:solidFill>
                <a:latin typeface="Helvetica" pitchFamily="34" charset="0"/>
                <a:ea typeface="Helvetica" pitchFamily="34" charset="-122"/>
                <a:cs typeface="Helvetica" pitchFamily="34" charset="-120"/>
              </a:rPr>
              <a:t>Approval channels.  Time-boxed exceptions.</a:t>
            </a:r>
            <a:endParaRPr lang="en-US" sz="2800" dirty="0"/>
          </a:p>
        </p:txBody>
      </p:sp>
      <p:sp>
        <p:nvSpPr>
          <p:cNvPr id="5" name="Text 3"/>
          <p:cNvSpPr/>
          <p:nvPr/>
        </p:nvSpPr>
        <p:spPr>
          <a:xfrm>
            <a:off x="640080" y="2148840"/>
            <a:ext cx="10881360" cy="100584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ToolPolicy gates a single tool — approval mode + channel + rate limit. EgressApproval overlays a temporary outbound grant that auto-expires.  Both compile to the same router envelope as InferencePolicy.</a:t>
            </a:r>
            <a:endParaRPr lang="en-US" sz="1800" dirty="0"/>
          </a:p>
        </p:txBody>
      </p:sp>
      <p:sp>
        <p:nvSpPr>
          <p:cNvPr id="6" name="Text 4"/>
          <p:cNvSpPr/>
          <p:nvPr/>
        </p:nvSpPr>
        <p:spPr>
          <a:xfrm>
            <a:off x="640080" y="3337560"/>
            <a:ext cx="5760720" cy="365760"/>
          </a:xfrm>
          <a:prstGeom prst="rect">
            <a:avLst/>
          </a:prstGeom>
          <a:noFill/>
          <a:ln/>
        </p:spPr>
        <p:txBody>
          <a:bodyPr wrap="square" lIns="0" tIns="0" rIns="0" bIns="0" rtlCol="0" anchor="ctr"/>
          <a:lstStyle/>
          <a:p>
            <a:pPr indent="0" marL="0">
              <a:buNone/>
            </a:pPr>
            <a:r>
              <a:rPr lang="en-US" sz="1600" b="1" dirty="0">
                <a:solidFill>
                  <a:srgbClr val="1A1A1A"/>
                </a:solidFill>
                <a:latin typeface="Helvetica" pitchFamily="34" charset="0"/>
                <a:ea typeface="Helvetica" pitchFamily="34" charset="-122"/>
                <a:cs typeface="Helvetica" pitchFamily="34" charset="-120"/>
              </a:rPr>
              <a:t>ToolPolicy</a:t>
            </a:r>
            <a:endParaRPr lang="en-US" sz="1600" dirty="0"/>
          </a:p>
        </p:txBody>
      </p:sp>
      <p:sp>
        <p:nvSpPr>
          <p:cNvPr id="7" name="Shape 5"/>
          <p:cNvSpPr/>
          <p:nvPr/>
        </p:nvSpPr>
        <p:spPr>
          <a:xfrm>
            <a:off x="640080" y="3703320"/>
            <a:ext cx="5760720" cy="3108960"/>
          </a:xfrm>
          <a:prstGeom prst="rect">
            <a:avLst/>
          </a:prstGeom>
          <a:solidFill>
            <a:srgbClr val="F6F8FA"/>
          </a:solidFill>
          <a:ln w="9525">
            <a:solidFill>
              <a:srgbClr val="E1E4E8"/>
            </a:solidFill>
            <a:prstDash val="solid"/>
          </a:ln>
        </p:spPr>
      </p:sp>
      <p:sp>
        <p:nvSpPr>
          <p:cNvPr id="8" name="Text 6"/>
          <p:cNvSpPr/>
          <p:nvPr/>
        </p:nvSpPr>
        <p:spPr>
          <a:xfrm>
            <a:off x="868680" y="3931920"/>
            <a:ext cx="5303520" cy="2651760"/>
          </a:xfrm>
          <a:prstGeom prst="rect">
            <a:avLst/>
          </a:prstGeom>
          <a:noFill/>
          <a:ln/>
        </p:spPr>
        <p:txBody>
          <a:bodyPr wrap="square" lIns="0" tIns="0" rIns="0" bIns="0" rtlCol="0" anchor="t"/>
          <a:lstStyle/>
          <a:p>
            <a:pPr algn="l" indent="0" marL="0">
              <a:buNone/>
            </a:pPr>
            <a:r>
              <a:rPr lang="en-US" sz="1050" dirty="0">
                <a:solidFill>
                  <a:srgbClr val="C53030"/>
                </a:solidFill>
                <a:latin typeface="Consolas" pitchFamily="34" charset="0"/>
                <a:ea typeface="Consolas" pitchFamily="34" charset="-122"/>
                <a:cs typeface="Consolas" pitchFamily="34" charset="-120"/>
              </a:rPr>
              <a:t>kind: </a:t>
            </a:r>
            <a:pPr algn="l" indent="0" marL="0">
              <a:buNone/>
            </a:pPr>
            <a:r>
              <a:rPr lang="en-US" sz="1050" dirty="0">
                <a:solidFill>
                  <a:srgbClr val="276749"/>
                </a:solidFill>
                <a:latin typeface="Consolas" pitchFamily="34" charset="0"/>
                <a:ea typeface="Consolas" pitchFamily="34" charset="-122"/>
                <a:cs typeface="Consolas" pitchFamily="34" charset="-120"/>
              </a:rPr>
              <a:t>ToolPolicy
</a:t>
            </a:r>
            <a:pPr algn="l" indent="0" marL="0">
              <a:buNone/>
            </a:pPr>
            <a:r>
              <a:rPr lang="en-US" sz="1050" dirty="0">
                <a:solidFill>
                  <a:srgbClr val="1A1A1A"/>
                </a:solidFill>
                <a:latin typeface="Consolas" pitchFamily="34" charset="0"/>
                <a:ea typeface="Consolas" pitchFamily="34" charset="-122"/>
                <a:cs typeface="Consolas" pitchFamily="34" charset="-120"/>
              </a:rPr>
              <a:t>metadata:
  name: demo-web-fetch
</a:t>
            </a:r>
            <a:pPr algn="l" indent="0" marL="0">
              <a:buNone/>
            </a:pPr>
            <a:r>
              <a:rPr lang="en-US" sz="1050" dirty="0">
                <a:solidFill>
                  <a:srgbClr val="1A1A1A"/>
                </a:solidFill>
                <a:latin typeface="Consolas" pitchFamily="34" charset="0"/>
                <a:ea typeface="Consolas" pitchFamily="34" charset="-122"/>
                <a:cs typeface="Consolas" pitchFamily="34" charset="-120"/>
              </a:rPr>
              <a:t>spec:
</a:t>
            </a:r>
            <a:pPr algn="l" indent="0" marL="0">
              <a:buNone/>
            </a:pPr>
            <a:r>
              <a:rPr lang="en-US" sz="1050" dirty="0">
                <a:solidFill>
                  <a:srgbClr val="C53030"/>
                </a:solidFill>
                <a:latin typeface="Consolas" pitchFamily="34" charset="0"/>
                <a:ea typeface="Consolas" pitchFamily="34" charset="-122"/>
                <a:cs typeface="Consolas" pitchFamily="34" charset="-120"/>
              </a:rPr>
              <a:t>  appliesTo:</a:t>
            </a:r>
            <a:endParaRPr lang="en-US" sz="1050" dirty="0"/>
          </a:p>
          <a:p>
            <a:pPr algn="l" indent="0" marL="0">
              <a:buNone/>
            </a:pPr>
            <a:r>
              <a:rPr lang="en-US" sz="1050" dirty="0">
                <a:solidFill>
                  <a:srgbClr val="C53030"/>
                </a:solidFill>
                <a:latin typeface="Consolas" pitchFamily="34" charset="0"/>
                <a:ea typeface="Consolas" pitchFamily="34" charset="-122"/>
                <a:cs typeface="Consolas" pitchFamily="34" charset="-120"/>
              </a:rPr>
              <a:t>    tool: </a:t>
            </a:r>
            <a:endParaRPr lang="en-US" sz="1050" dirty="0"/>
          </a:p>
          <a:p>
            <a:pPr algn="l" indent="0" marL="0">
              <a:buNone/>
            </a:pPr>
            <a:r>
              <a:rPr lang="en-US" sz="1050" dirty="0">
                <a:solidFill>
                  <a:srgbClr val="276749"/>
                </a:solidFill>
                <a:latin typeface="Consolas" pitchFamily="34" charset="0"/>
                <a:ea typeface="Consolas" pitchFamily="34" charset="-122"/>
                <a:cs typeface="Consolas" pitchFamily="34" charset="-120"/>
              </a:rPr>
              <a:t>"web.fetch"
</a:t>
            </a:r>
            <a:pPr algn="l" indent="0" marL="0">
              <a:buNone/>
            </a:pPr>
            <a:r>
              <a:rPr lang="en-US" sz="1050" dirty="0">
                <a:solidFill>
                  <a:srgbClr val="1A1A1A"/>
                </a:solidFill>
                <a:latin typeface="Consolas" pitchFamily="34" charset="0"/>
                <a:ea typeface="Consolas" pitchFamily="34" charset="-122"/>
                <a:cs typeface="Consolas" pitchFamily="34" charset="-120"/>
              </a:rPr>
              <a:t>    sandboxMatchLabels:
</a:t>
            </a:r>
            <a:pPr algn="l" indent="0" marL="0">
              <a:buNone/>
            </a:pPr>
            <a:r>
              <a:rPr lang="en-US" sz="1050" dirty="0">
                <a:solidFill>
                  <a:srgbClr val="C53030"/>
                </a:solidFill>
                <a:latin typeface="Consolas" pitchFamily="34" charset="0"/>
                <a:ea typeface="Consolas" pitchFamily="34" charset="-122"/>
                <a:cs typeface="Consolas" pitchFamily="34" charset="-120"/>
              </a:rPr>
              <a:t>      kars.azure.com/sandbox: </a:t>
            </a:r>
            <a:pPr algn="l" indent="0" marL="0">
              <a:buNone/>
            </a:pPr>
            <a:r>
              <a:rPr lang="en-US" sz="1050" dirty="0">
                <a:solidFill>
                  <a:srgbClr val="276749"/>
                </a:solidFill>
                <a:latin typeface="Consolas" pitchFamily="34" charset="0"/>
                <a:ea typeface="Consolas" pitchFamily="34" charset="-122"/>
                <a:cs typeface="Consolas" pitchFamily="34" charset="-120"/>
              </a:rPr>
              <a:t>demo-agent
</a:t>
            </a:r>
            <a:pPr algn="l" indent="0" marL="0">
              <a:buNone/>
            </a:pPr>
            <a:r>
              <a:rPr lang="en-US" sz="1050" dirty="0">
                <a:solidFill>
                  <a:srgbClr val="1A1A1A"/>
                </a:solidFill>
                <a:latin typeface="Consolas" pitchFamily="34" charset="0"/>
                <a:ea typeface="Consolas" pitchFamily="34" charset="-122"/>
                <a:cs typeface="Consolas" pitchFamily="34" charset="-120"/>
              </a:rPr>
              <a:t>  approval:
</a:t>
            </a:r>
            <a:pPr algn="l" indent="0" marL="0">
              <a:buNone/>
            </a:pPr>
            <a:r>
              <a:rPr lang="en-US" sz="1050" dirty="0">
                <a:solidFill>
                  <a:srgbClr val="C53030"/>
                </a:solidFill>
                <a:latin typeface="Consolas" pitchFamily="34" charset="0"/>
                <a:ea typeface="Consolas" pitchFamily="34" charset="-122"/>
                <a:cs typeface="Consolas" pitchFamily="34" charset="-120"/>
              </a:rPr>
              <a:t>    mode: </a:t>
            </a:r>
            <a:pPr algn="l" indent="0" marL="0">
              <a:buNone/>
            </a:pPr>
            <a:r>
              <a:rPr lang="en-US" sz="1050" dirty="0">
                <a:solidFill>
                  <a:srgbClr val="276749"/>
                </a:solidFill>
                <a:latin typeface="Consolas" pitchFamily="34" charset="0"/>
                <a:ea typeface="Consolas" pitchFamily="34" charset="-122"/>
                <a:cs typeface="Consolas" pitchFamily="34" charset="-120"/>
              </a:rPr>
              <a:t>always
</a:t>
            </a:r>
            <a:pPr algn="l" indent="0" marL="0">
              <a:buNone/>
            </a:pPr>
            <a:r>
              <a:rPr lang="en-US" sz="1050" dirty="0">
                <a:solidFill>
                  <a:srgbClr val="C53030"/>
                </a:solidFill>
                <a:latin typeface="Consolas" pitchFamily="34" charset="0"/>
                <a:ea typeface="Consolas" pitchFamily="34" charset="-122"/>
                <a:cs typeface="Consolas" pitchFamily="34" charset="-120"/>
              </a:rPr>
              <a:t>    channel: </a:t>
            </a:r>
            <a:pPr algn="l" indent="0" marL="0">
              <a:buNone/>
            </a:pPr>
            <a:r>
              <a:rPr lang="en-US" sz="1050" dirty="0">
                <a:solidFill>
                  <a:srgbClr val="276749"/>
                </a:solidFill>
                <a:latin typeface="Consolas" pitchFamily="34" charset="0"/>
                <a:ea typeface="Consolas" pitchFamily="34" charset="-122"/>
                <a:cs typeface="Consolas" pitchFamily="34" charset="-120"/>
              </a:rPr>
              <a:t>telegram
</a:t>
            </a:r>
            <a:pPr algn="l" indent="0" marL="0">
              <a:buNone/>
            </a:pPr>
            <a:r>
              <a:rPr lang="en-US" sz="1050" dirty="0">
                <a:solidFill>
                  <a:srgbClr val="1A1A1A"/>
                </a:solidFill>
                <a:latin typeface="Consolas" pitchFamily="34" charset="0"/>
                <a:ea typeface="Consolas" pitchFamily="34" charset="-122"/>
                <a:cs typeface="Consolas" pitchFamily="34" charset="-120"/>
              </a:rPr>
              <a:t>  rateLimit:
</a:t>
            </a:r>
            <a:pPr algn="l" indent="0" marL="0">
              <a:buNone/>
            </a:pPr>
            <a:r>
              <a:rPr lang="en-US" sz="1050" dirty="0">
                <a:solidFill>
                  <a:srgbClr val="C53030"/>
                </a:solidFill>
                <a:latin typeface="Consolas" pitchFamily="34" charset="0"/>
                <a:ea typeface="Consolas" pitchFamily="34" charset="-122"/>
                <a:cs typeface="Consolas" pitchFamily="34" charset="-120"/>
              </a:rPr>
              <a:t>    rps: </a:t>
            </a:r>
            <a:pPr algn="l" indent="0" marL="0">
              <a:buNone/>
            </a:pPr>
            <a:r>
              <a:rPr lang="en-US" sz="1050" dirty="0">
                <a:solidFill>
                  <a:srgbClr val="276749"/>
                </a:solidFill>
                <a:latin typeface="Consolas" pitchFamily="34" charset="0"/>
                <a:ea typeface="Consolas" pitchFamily="34" charset="-122"/>
                <a:cs typeface="Consolas" pitchFamily="34" charset="-120"/>
              </a:rPr>
              <a:t>1
</a:t>
            </a:r>
            <a:pPr algn="l" indent="0" marL="0">
              <a:buNone/>
            </a:pPr>
            <a:r>
              <a:rPr lang="en-US" sz="1050" dirty="0">
                <a:solidFill>
                  <a:srgbClr val="C53030"/>
                </a:solidFill>
                <a:latin typeface="Consolas" pitchFamily="34" charset="0"/>
                <a:ea typeface="Consolas" pitchFamily="34" charset="-122"/>
                <a:cs typeface="Consolas" pitchFamily="34" charset="-120"/>
              </a:rPr>
              <a:t>    burst: </a:t>
            </a:r>
            <a:pPr algn="l" indent="0" marL="0">
              <a:buNone/>
            </a:pPr>
            <a:r>
              <a:rPr lang="en-US" sz="1050" dirty="0">
                <a:solidFill>
                  <a:srgbClr val="276749"/>
                </a:solidFill>
                <a:latin typeface="Consolas" pitchFamily="34" charset="0"/>
                <a:ea typeface="Consolas" pitchFamily="34" charset="-122"/>
                <a:cs typeface="Consolas" pitchFamily="34" charset="-120"/>
              </a:rPr>
              <a:t>3
</a:t>
            </a:r>
            <a:pPr algn="l" indent="0" marL="0">
              <a:buNone/>
            </a:pPr>
            <a:r>
              <a:rPr lang="en-US" sz="1050" dirty="0">
                <a:solidFill>
                  <a:srgbClr val="C53030"/>
                </a:solidFill>
                <a:latin typeface="Consolas" pitchFamily="34" charset="0"/>
                <a:ea typeface="Consolas" pitchFamily="34" charset="-122"/>
                <a:cs typeface="Consolas" pitchFamily="34" charset="-120"/>
              </a:rPr>
              <a:t>    window: </a:t>
            </a:r>
            <a:pPr algn="l" indent="0" marL="0">
              <a:buNone/>
            </a:pPr>
            <a:r>
              <a:rPr lang="en-US" sz="1050" dirty="0">
                <a:solidFill>
                  <a:srgbClr val="276749"/>
                </a:solidFill>
                <a:latin typeface="Consolas" pitchFamily="34" charset="0"/>
                <a:ea typeface="Consolas" pitchFamily="34" charset="-122"/>
                <a:cs typeface="Consolas" pitchFamily="34" charset="-120"/>
              </a:rPr>
              <a:t>"1m"
</a:t>
            </a:r>
            <a:endParaRPr lang="en-US" sz="1050" dirty="0"/>
          </a:p>
        </p:txBody>
      </p:sp>
      <p:sp>
        <p:nvSpPr>
          <p:cNvPr id="9" name="Text 7"/>
          <p:cNvSpPr/>
          <p:nvPr/>
        </p:nvSpPr>
        <p:spPr>
          <a:xfrm>
            <a:off x="6400800" y="3337560"/>
            <a:ext cx="5120640" cy="365760"/>
          </a:xfrm>
          <a:prstGeom prst="rect">
            <a:avLst/>
          </a:prstGeom>
          <a:noFill/>
          <a:ln/>
        </p:spPr>
        <p:txBody>
          <a:bodyPr wrap="square" lIns="0" tIns="0" rIns="0" bIns="0" rtlCol="0" anchor="ctr"/>
          <a:lstStyle/>
          <a:p>
            <a:pPr indent="0" marL="0">
              <a:buNone/>
            </a:pPr>
            <a:r>
              <a:rPr lang="en-US" sz="1600" b="1" dirty="0">
                <a:solidFill>
                  <a:srgbClr val="1A1A1A"/>
                </a:solidFill>
                <a:latin typeface="Helvetica" pitchFamily="34" charset="0"/>
                <a:ea typeface="Helvetica" pitchFamily="34" charset="-122"/>
                <a:cs typeface="Helvetica" pitchFamily="34" charset="-120"/>
              </a:rPr>
              <a:t>EgressApproval</a:t>
            </a:r>
            <a:endParaRPr lang="en-US" sz="1600" dirty="0"/>
          </a:p>
        </p:txBody>
      </p:sp>
      <p:sp>
        <p:nvSpPr>
          <p:cNvPr id="10" name="Shape 8"/>
          <p:cNvSpPr/>
          <p:nvPr/>
        </p:nvSpPr>
        <p:spPr>
          <a:xfrm>
            <a:off x="6400800" y="3703320"/>
            <a:ext cx="5120640" cy="3108960"/>
          </a:xfrm>
          <a:prstGeom prst="rect">
            <a:avLst/>
          </a:prstGeom>
          <a:solidFill>
            <a:srgbClr val="F6F8FA"/>
          </a:solidFill>
          <a:ln w="9525">
            <a:solidFill>
              <a:srgbClr val="E1E4E8"/>
            </a:solidFill>
            <a:prstDash val="solid"/>
          </a:ln>
        </p:spPr>
      </p:sp>
      <p:sp>
        <p:nvSpPr>
          <p:cNvPr id="11" name="Text 9"/>
          <p:cNvSpPr/>
          <p:nvPr/>
        </p:nvSpPr>
        <p:spPr>
          <a:xfrm>
            <a:off x="6629400" y="3931920"/>
            <a:ext cx="4663440" cy="2651760"/>
          </a:xfrm>
          <a:prstGeom prst="rect">
            <a:avLst/>
          </a:prstGeom>
          <a:noFill/>
          <a:ln/>
        </p:spPr>
        <p:txBody>
          <a:bodyPr wrap="square" lIns="0" tIns="0" rIns="0" bIns="0" rtlCol="0" anchor="t"/>
          <a:lstStyle/>
          <a:p>
            <a:pPr algn="l" indent="0" marL="0">
              <a:buNone/>
            </a:pPr>
            <a:r>
              <a:rPr lang="en-US" sz="1050" dirty="0">
                <a:solidFill>
                  <a:srgbClr val="C53030"/>
                </a:solidFill>
                <a:latin typeface="Consolas" pitchFamily="34" charset="0"/>
                <a:ea typeface="Consolas" pitchFamily="34" charset="-122"/>
                <a:cs typeface="Consolas" pitchFamily="34" charset="-120"/>
              </a:rPr>
              <a:t>kind: </a:t>
            </a:r>
            <a:pPr algn="l" indent="0" marL="0">
              <a:buNone/>
            </a:pPr>
            <a:r>
              <a:rPr lang="en-US" sz="1050" dirty="0">
                <a:solidFill>
                  <a:srgbClr val="276749"/>
                </a:solidFill>
                <a:latin typeface="Consolas" pitchFamily="34" charset="0"/>
                <a:ea typeface="Consolas" pitchFamily="34" charset="-122"/>
                <a:cs typeface="Consolas" pitchFamily="34" charset="-120"/>
              </a:rPr>
              <a:t>EgressApproval
</a:t>
            </a:r>
            <a:pPr algn="l" indent="0" marL="0">
              <a:buNone/>
            </a:pPr>
            <a:r>
              <a:rPr lang="en-US" sz="1050" dirty="0">
                <a:solidFill>
                  <a:srgbClr val="1A1A1A"/>
                </a:solidFill>
                <a:latin typeface="Consolas" pitchFamily="34" charset="0"/>
                <a:ea typeface="Consolas" pitchFamily="34" charset="-122"/>
                <a:cs typeface="Consolas" pitchFamily="34" charset="-120"/>
              </a:rPr>
              <a:t>metadata:
  name: demo-stripe-grant
</a:t>
            </a:r>
            <a:pPr algn="l" indent="0" marL="0">
              <a:buNone/>
            </a:pPr>
            <a:r>
              <a:rPr lang="en-US" sz="1050" dirty="0">
                <a:solidFill>
                  <a:srgbClr val="1A1A1A"/>
                </a:solidFill>
                <a:latin typeface="Consolas" pitchFamily="34" charset="0"/>
                <a:ea typeface="Consolas" pitchFamily="34" charset="-122"/>
                <a:cs typeface="Consolas" pitchFamily="34" charset="-120"/>
              </a:rPr>
              <a:t>spec:
</a:t>
            </a:r>
            <a:pPr algn="l" indent="0" marL="0">
              <a:buNone/>
            </a:pPr>
            <a:r>
              <a:rPr lang="en-US" sz="1050" dirty="0">
                <a:solidFill>
                  <a:srgbClr val="C53030"/>
                </a:solidFill>
                <a:latin typeface="Consolas" pitchFamily="34" charset="0"/>
                <a:ea typeface="Consolas" pitchFamily="34" charset="-122"/>
                <a:cs typeface="Consolas" pitchFamily="34" charset="-120"/>
              </a:rPr>
              <a:t>  sandbox: </a:t>
            </a:r>
            <a:pPr algn="l" indent="0" marL="0">
              <a:buNone/>
            </a:pPr>
            <a:r>
              <a:rPr lang="en-US" sz="1050" dirty="0">
                <a:solidFill>
                  <a:srgbClr val="276749"/>
                </a:solidFill>
                <a:latin typeface="Consolas" pitchFamily="34" charset="0"/>
                <a:ea typeface="Consolas" pitchFamily="34" charset="-122"/>
                <a:cs typeface="Consolas" pitchFamily="34" charset="-120"/>
              </a:rPr>
              <a:t>demo-agent
</a:t>
            </a:r>
            <a:pPr algn="l" indent="0" marL="0">
              <a:buNone/>
            </a:pPr>
            <a:r>
              <a:rPr lang="en-US" sz="1050" dirty="0">
                <a:solidFill>
                  <a:srgbClr val="1A1A1A"/>
                </a:solidFill>
                <a:latin typeface="Consolas" pitchFamily="34" charset="0"/>
                <a:ea typeface="Consolas" pitchFamily="34" charset="-122"/>
                <a:cs typeface="Consolas" pitchFamily="34" charset="-120"/>
              </a:rPr>
              <a:t>  hosts:
</a:t>
            </a:r>
            <a:pPr algn="l" indent="0" marL="0">
              <a:buNone/>
            </a:pPr>
            <a:r>
              <a:rPr lang="en-US" sz="1050" dirty="0">
                <a:solidFill>
                  <a:srgbClr val="C53030"/>
                </a:solidFill>
                <a:latin typeface="Consolas" pitchFamily="34" charset="0"/>
                <a:ea typeface="Consolas" pitchFamily="34" charset="-122"/>
                <a:cs typeface="Consolas" pitchFamily="34" charset="-120"/>
              </a:rPr>
              <a:t>    - host: </a:t>
            </a:r>
            <a:pPr algn="l" indent="0" marL="0">
              <a:buNone/>
            </a:pPr>
            <a:r>
              <a:rPr lang="en-US" sz="1050" dirty="0">
                <a:solidFill>
                  <a:srgbClr val="276749"/>
                </a:solidFill>
                <a:latin typeface="Consolas" pitchFamily="34" charset="0"/>
                <a:ea typeface="Consolas" pitchFamily="34" charset="-122"/>
                <a:cs typeface="Consolas" pitchFamily="34" charset="-120"/>
              </a:rPr>
              <a:t>api.stripe.com
</a:t>
            </a:r>
            <a:pPr algn="l" indent="0" marL="0">
              <a:buNone/>
            </a:pPr>
            <a:r>
              <a:rPr lang="en-US" sz="1050" dirty="0">
                <a:solidFill>
                  <a:srgbClr val="C53030"/>
                </a:solidFill>
                <a:latin typeface="Consolas" pitchFamily="34" charset="0"/>
                <a:ea typeface="Consolas" pitchFamily="34" charset="-122"/>
                <a:cs typeface="Consolas" pitchFamily="34" charset="-120"/>
              </a:rPr>
              <a:t>      port: </a:t>
            </a:r>
            <a:pPr algn="l" indent="0" marL="0">
              <a:buNone/>
            </a:pPr>
            <a:r>
              <a:rPr lang="en-US" sz="1050" dirty="0">
                <a:solidFill>
                  <a:srgbClr val="276749"/>
                </a:solidFill>
                <a:latin typeface="Consolas" pitchFamily="34" charset="0"/>
                <a:ea typeface="Consolas" pitchFamily="34" charset="-122"/>
                <a:cs typeface="Consolas" pitchFamily="34" charset="-120"/>
              </a:rPr>
              <a:t>443
</a:t>
            </a:r>
            <a:pPr algn="l" indent="0" marL="0">
              <a:buNone/>
            </a:pPr>
            <a:r>
              <a:rPr lang="en-US" sz="1050" dirty="0">
                <a:solidFill>
                  <a:srgbClr val="C53030"/>
                </a:solidFill>
                <a:latin typeface="Consolas" pitchFamily="34" charset="0"/>
                <a:ea typeface="Consolas" pitchFamily="34" charset="-122"/>
                <a:cs typeface="Consolas" pitchFamily="34" charset="-120"/>
              </a:rPr>
              <a:t>  ttl: </a:t>
            </a:r>
            <a:pPr algn="l" indent="0" marL="0">
              <a:buNone/>
            </a:pPr>
            <a:r>
              <a:rPr lang="en-US" sz="1050" dirty="0">
                <a:solidFill>
                  <a:srgbClr val="276749"/>
                </a:solidFill>
                <a:latin typeface="Consolas" pitchFamily="34" charset="0"/>
                <a:ea typeface="Consolas" pitchFamily="34" charset="-122"/>
                <a:cs typeface="Consolas" pitchFamily="34" charset="-120"/>
              </a:rPr>
              <a:t>PT10M  </a:t>
            </a:r>
            <a:pPr algn="l" indent="0" marL="0">
              <a:buNone/>
            </a:pPr>
            <a:r>
              <a:rPr lang="en-US" sz="1050" dirty="0">
                <a:solidFill>
                  <a:srgbClr val="6E7681"/>
                </a:solidFill>
                <a:latin typeface="Consolas" pitchFamily="34" charset="0"/>
                <a:ea typeface="Consolas" pitchFamily="34" charset="-122"/>
                <a:cs typeface="Consolas" pitchFamily="34" charset="-120"/>
              </a:rPr>
              <a:t># 10-minute grant
</a:t>
            </a:r>
            <a:pPr algn="l" indent="0" marL="0">
              <a:buNone/>
            </a:pPr>
            <a:r>
              <a:rPr lang="en-US" sz="1050" dirty="0">
                <a:solidFill>
                  <a:srgbClr val="C53030"/>
                </a:solidFill>
                <a:latin typeface="Consolas" pitchFamily="34" charset="0"/>
                <a:ea typeface="Consolas" pitchFamily="34" charset="-122"/>
                <a:cs typeface="Consolas" pitchFamily="34" charset="-120"/>
              </a:rPr>
              <a:t>  reason: </a:t>
            </a:r>
            <a:pPr algn="l" indent="0" marL="0">
              <a:buNone/>
            </a:pPr>
            <a:r>
              <a:rPr lang="en-US" sz="1050" dirty="0">
                <a:solidFill>
                  <a:srgbClr val="276749"/>
                </a:solidFill>
                <a:latin typeface="Consolas" pitchFamily="34" charset="0"/>
                <a:ea typeface="Consolas" pitchFamily="34" charset="-122"/>
                <a:cs typeface="Consolas" pitchFamily="34" charset="-120"/>
              </a:rPr>
              <a:t>|
</a:t>
            </a:r>
            <a:pPr algn="l" indent="0" marL="0">
              <a:buNone/>
            </a:pPr>
            <a:r>
              <a:rPr lang="en-US" sz="1050" dirty="0">
                <a:solidFill>
                  <a:srgbClr val="276749"/>
                </a:solidFill>
                <a:latin typeface="Consolas" pitchFamily="34" charset="0"/>
                <a:ea typeface="Consolas" pitchFamily="34" charset="-122"/>
                <a:cs typeface="Consolas" pitchFamily="34" charset="-120"/>
              </a:rPr>
              <a:t>    payment-flow walkthrough for the
</a:t>
            </a:r>
            <a:pPr algn="l" indent="0" marL="0">
              <a:buNone/>
            </a:pPr>
            <a:r>
              <a:rPr lang="en-US" sz="1050" dirty="0">
                <a:solidFill>
                  <a:srgbClr val="276749"/>
                </a:solidFill>
                <a:latin typeface="Consolas" pitchFamily="34" charset="0"/>
                <a:ea typeface="Consolas" pitchFamily="34" charset="-122"/>
                <a:cs typeface="Consolas" pitchFamily="34" charset="-120"/>
              </a:rPr>
              <a:t>    weekly demo recording
</a:t>
            </a:r>
            <a:pPr algn="l" indent="0" marL="0">
              <a:buNone/>
            </a:pPr>
            <a:r>
              <a:rPr lang="en-US" sz="1050" dirty="0">
                <a:solidFill>
                  <a:srgbClr val="C53030"/>
                </a:solidFill>
                <a:latin typeface="Consolas" pitchFamily="34" charset="0"/>
                <a:ea typeface="Consolas" pitchFamily="34" charset="-122"/>
                <a:cs typeface="Consolas" pitchFamily="34" charset="-120"/>
              </a:rPr>
              <a:t>  ticket: </a:t>
            </a:r>
            <a:pPr algn="l" indent="0" marL="0">
              <a:buNone/>
            </a:pPr>
            <a:r>
              <a:rPr lang="en-US" sz="1050" dirty="0">
                <a:solidFill>
                  <a:srgbClr val="276749"/>
                </a:solidFill>
                <a:latin typeface="Consolas" pitchFamily="34" charset="0"/>
                <a:ea typeface="Consolas" pitchFamily="34" charset="-122"/>
                <a:cs typeface="Consolas" pitchFamily="34" charset="-120"/>
              </a:rPr>
              <a:t>DEMO-001
</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12</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§5 · SANDBOX · THE POD</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600" b="1" dirty="0">
                <a:solidFill>
                  <a:srgbClr val="1A1A1A"/>
                </a:solidFill>
                <a:latin typeface="Helvetica" pitchFamily="34" charset="0"/>
                <a:ea typeface="Helvetica" pitchFamily="34" charset="-122"/>
                <a:cs typeface="Helvetica" pitchFamily="34" charset="-120"/>
              </a:rPr>
              <a:t>The pod is the unit of trust.</a:t>
            </a:r>
            <a:endParaRPr lang="en-US" sz="3600" dirty="0"/>
          </a:p>
        </p:txBody>
      </p:sp>
      <p:sp>
        <p:nvSpPr>
          <p:cNvPr id="5" name="Text 3"/>
          <p:cNvSpPr/>
          <p:nvPr/>
        </p:nvSpPr>
        <p:spPr>
          <a:xfrm>
            <a:off x="640080" y="2240280"/>
            <a:ext cx="10881360" cy="137160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Two containers + one init container, three users, one network namespace. Every byte from UID 1000 (agent) is rewritten to loopback. UID 1001 (router) is the only path out.  Init container UID 0 dies after 300 ms; the agent never has root.</a:t>
            </a:r>
            <a:endParaRPr lang="en-US" sz="1800" dirty="0"/>
          </a:p>
        </p:txBody>
      </p:sp>
      <p:sp>
        <p:nvSpPr>
          <p:cNvPr id="6" name="Shape 4"/>
          <p:cNvSpPr/>
          <p:nvPr/>
        </p:nvSpPr>
        <p:spPr>
          <a:xfrm>
            <a:off x="1097280" y="3840480"/>
            <a:ext cx="9966960" cy="2651760"/>
          </a:xfrm>
          <a:prstGeom prst="rect">
            <a:avLst/>
          </a:prstGeom>
          <a:solidFill>
            <a:srgbClr val="FFFFFF"/>
          </a:solidFill>
          <a:ln w="15240">
            <a:solidFill>
              <a:srgbClr val="028090"/>
            </a:solidFill>
            <a:prstDash val="solid"/>
          </a:ln>
        </p:spPr>
      </p:sp>
      <p:sp>
        <p:nvSpPr>
          <p:cNvPr id="7" name="Text 5"/>
          <p:cNvSpPr/>
          <p:nvPr/>
        </p:nvSpPr>
        <p:spPr>
          <a:xfrm>
            <a:off x="1280160" y="3931920"/>
            <a:ext cx="9601200" cy="274320"/>
          </a:xfrm>
          <a:prstGeom prst="rect">
            <a:avLst/>
          </a:prstGeom>
          <a:noFill/>
          <a:ln/>
        </p:spPr>
        <p:txBody>
          <a:bodyPr wrap="square" lIns="0" tIns="0" rIns="0" bIns="0" rtlCol="0" anchor="ctr"/>
          <a:lstStyle/>
          <a:p>
            <a:pPr indent="0" marL="0">
              <a:buNone/>
            </a:pPr>
            <a:r>
              <a:rPr lang="en-US" sz="1100" dirty="0">
                <a:solidFill>
                  <a:srgbClr val="6E7681"/>
                </a:solidFill>
                <a:latin typeface="Consolas" pitchFamily="34" charset="0"/>
                <a:ea typeface="Consolas" pitchFamily="34" charset="-122"/>
                <a:cs typeface="Consolas" pitchFamily="34" charset="-120"/>
              </a:rPr>
              <a:t>Pod  ·  kars-research-agent / research-agent-7d4cb…</a:t>
            </a:r>
            <a:endParaRPr lang="en-US" sz="1100" dirty="0"/>
          </a:p>
        </p:txBody>
      </p:sp>
      <p:sp>
        <p:nvSpPr>
          <p:cNvPr id="8" name="Text 6"/>
          <p:cNvSpPr/>
          <p:nvPr/>
        </p:nvSpPr>
        <p:spPr>
          <a:xfrm>
            <a:off x="1280160" y="4434840"/>
            <a:ext cx="2286000" cy="274320"/>
          </a:xfrm>
          <a:prstGeom prst="rect">
            <a:avLst/>
          </a:prstGeom>
          <a:noFill/>
          <a:ln/>
        </p:spPr>
        <p:txBody>
          <a:bodyPr wrap="square" lIns="0" tIns="0" rIns="0" bIns="0" rtlCol="0" anchor="ctr"/>
          <a:lstStyle/>
          <a:p>
            <a:pPr indent="0" marL="0">
              <a:buNone/>
            </a:pPr>
            <a:r>
              <a:rPr lang="en-US" sz="1300" b="1" dirty="0">
                <a:solidFill>
                  <a:srgbClr val="1A1A1A"/>
                </a:solidFill>
                <a:latin typeface="Helvetica" pitchFamily="34" charset="0"/>
                <a:ea typeface="Helvetica" pitchFamily="34" charset="-122"/>
                <a:cs typeface="Helvetica" pitchFamily="34" charset="-120"/>
              </a:rPr>
              <a:t>init:egress-guard</a:t>
            </a:r>
            <a:endParaRPr lang="en-US" sz="1300" dirty="0"/>
          </a:p>
        </p:txBody>
      </p:sp>
      <p:sp>
        <p:nvSpPr>
          <p:cNvPr id="9" name="Text 7"/>
          <p:cNvSpPr/>
          <p:nvPr/>
        </p:nvSpPr>
        <p:spPr>
          <a:xfrm>
            <a:off x="3566160" y="4434840"/>
            <a:ext cx="7223760" cy="274320"/>
          </a:xfrm>
          <a:prstGeom prst="rect">
            <a:avLst/>
          </a:prstGeom>
          <a:noFill/>
          <a:ln/>
        </p:spPr>
        <p:txBody>
          <a:bodyPr wrap="square" lIns="0" tIns="0" rIns="0" bIns="0" rtlCol="0" anchor="ctr"/>
          <a:lstStyle/>
          <a:p>
            <a:pPr indent="0" marL="0">
              <a:buNone/>
            </a:pPr>
            <a:r>
              <a:rPr lang="en-US" sz="1150" dirty="0">
                <a:solidFill>
                  <a:srgbClr val="1A1A1A"/>
                </a:solidFill>
                <a:latin typeface="Helvetica" pitchFamily="34" charset="0"/>
                <a:ea typeface="Helvetica" pitchFamily="34" charset="-122"/>
                <a:cs typeface="Helvetica" pitchFamily="34" charset="-120"/>
              </a:rPr>
              <a:t>UID 0  ·  6 iptables rules  ·  exits after 300ms</a:t>
            </a:r>
            <a:endParaRPr lang="en-US" sz="1150" dirty="0"/>
          </a:p>
        </p:txBody>
      </p:sp>
      <p:sp>
        <p:nvSpPr>
          <p:cNvPr id="10" name="Text 8"/>
          <p:cNvSpPr/>
          <p:nvPr/>
        </p:nvSpPr>
        <p:spPr>
          <a:xfrm>
            <a:off x="3566160" y="4709160"/>
            <a:ext cx="7223760" cy="274320"/>
          </a:xfrm>
          <a:prstGeom prst="rect">
            <a:avLst/>
          </a:prstGeom>
          <a:noFill/>
          <a:ln/>
        </p:spPr>
        <p:txBody>
          <a:bodyPr wrap="square" lIns="0" tIns="0" rIns="0" bIns="0" rtlCol="0" anchor="ctr"/>
          <a:lstStyle/>
          <a:p>
            <a:pPr indent="0" marL="0">
              <a:buNone/>
            </a:pPr>
            <a:r>
              <a:rPr lang="en-US" sz="1000" dirty="0">
                <a:solidFill>
                  <a:srgbClr val="6E7681"/>
                </a:solidFill>
                <a:latin typeface="Consolas" pitchFamily="34" charset="0"/>
                <a:ea typeface="Consolas" pitchFamily="34" charset="-122"/>
                <a:cs typeface="Consolas" pitchFamily="34" charset="-120"/>
              </a:rPr>
              <a:t>readOnlyRootFilesystem: false (just init)</a:t>
            </a:r>
            <a:endParaRPr lang="en-US" sz="1000" dirty="0"/>
          </a:p>
        </p:txBody>
      </p:sp>
      <p:sp>
        <p:nvSpPr>
          <p:cNvPr id="11" name="Shape 9"/>
          <p:cNvSpPr/>
          <p:nvPr/>
        </p:nvSpPr>
        <p:spPr>
          <a:xfrm>
            <a:off x="1280160" y="5013960"/>
            <a:ext cx="9601200" cy="0"/>
          </a:xfrm>
          <a:prstGeom prst="line">
            <a:avLst/>
          </a:prstGeom>
          <a:noFill/>
          <a:ln w="6350">
            <a:solidFill>
              <a:srgbClr val="E1E4E8"/>
            </a:solidFill>
            <a:prstDash val="solid"/>
          </a:ln>
        </p:spPr>
      </p:sp>
      <p:sp>
        <p:nvSpPr>
          <p:cNvPr id="12" name="Text 10"/>
          <p:cNvSpPr/>
          <p:nvPr/>
        </p:nvSpPr>
        <p:spPr>
          <a:xfrm>
            <a:off x="1280160" y="5105400"/>
            <a:ext cx="2286000" cy="274320"/>
          </a:xfrm>
          <a:prstGeom prst="rect">
            <a:avLst/>
          </a:prstGeom>
          <a:noFill/>
          <a:ln/>
        </p:spPr>
        <p:txBody>
          <a:bodyPr wrap="square" lIns="0" tIns="0" rIns="0" bIns="0" rtlCol="0" anchor="ctr"/>
          <a:lstStyle/>
          <a:p>
            <a:pPr indent="0" marL="0">
              <a:buNone/>
            </a:pPr>
            <a:r>
              <a:rPr lang="en-US" sz="1300" b="1" dirty="0">
                <a:solidFill>
                  <a:srgbClr val="1A1A1A"/>
                </a:solidFill>
                <a:latin typeface="Helvetica" pitchFamily="34" charset="0"/>
                <a:ea typeface="Helvetica" pitchFamily="34" charset="-122"/>
                <a:cs typeface="Helvetica" pitchFamily="34" charset="-120"/>
              </a:rPr>
              <a:t>openclaw</a:t>
            </a:r>
            <a:endParaRPr lang="en-US" sz="1300" dirty="0"/>
          </a:p>
        </p:txBody>
      </p:sp>
      <p:sp>
        <p:nvSpPr>
          <p:cNvPr id="13" name="Text 11"/>
          <p:cNvSpPr/>
          <p:nvPr/>
        </p:nvSpPr>
        <p:spPr>
          <a:xfrm>
            <a:off x="3566160" y="5105400"/>
            <a:ext cx="7223760" cy="274320"/>
          </a:xfrm>
          <a:prstGeom prst="rect">
            <a:avLst/>
          </a:prstGeom>
          <a:noFill/>
          <a:ln/>
        </p:spPr>
        <p:txBody>
          <a:bodyPr wrap="square" lIns="0" tIns="0" rIns="0" bIns="0" rtlCol="0" anchor="ctr"/>
          <a:lstStyle/>
          <a:p>
            <a:pPr indent="0" marL="0">
              <a:buNone/>
            </a:pPr>
            <a:r>
              <a:rPr lang="en-US" sz="1150" dirty="0">
                <a:solidFill>
                  <a:srgbClr val="1A1A1A"/>
                </a:solidFill>
                <a:latin typeface="Helvetica" pitchFamily="34" charset="0"/>
                <a:ea typeface="Helvetica" pitchFamily="34" charset="-122"/>
                <a:cs typeface="Helvetica" pitchFamily="34" charset="-120"/>
              </a:rPr>
              <a:t>UID 1000  ·  the agent process  ·  loopback-only outbound</a:t>
            </a:r>
            <a:endParaRPr lang="en-US" sz="1150" dirty="0"/>
          </a:p>
        </p:txBody>
      </p:sp>
      <p:sp>
        <p:nvSpPr>
          <p:cNvPr id="14" name="Text 12"/>
          <p:cNvSpPr/>
          <p:nvPr/>
        </p:nvSpPr>
        <p:spPr>
          <a:xfrm>
            <a:off x="3566160" y="5379720"/>
            <a:ext cx="7223760" cy="274320"/>
          </a:xfrm>
          <a:prstGeom prst="rect">
            <a:avLst/>
          </a:prstGeom>
          <a:noFill/>
          <a:ln/>
        </p:spPr>
        <p:txBody>
          <a:bodyPr wrap="square" lIns="0" tIns="0" rIns="0" bIns="0" rtlCol="0" anchor="ctr"/>
          <a:lstStyle/>
          <a:p>
            <a:pPr indent="0" marL="0">
              <a:buNone/>
            </a:pPr>
            <a:r>
              <a:rPr lang="en-US" sz="1000" dirty="0">
                <a:solidFill>
                  <a:srgbClr val="6E7681"/>
                </a:solidFill>
                <a:latin typeface="Consolas" pitchFamily="34" charset="0"/>
                <a:ea typeface="Consolas" pitchFamily="34" charset="-122"/>
                <a:cs typeface="Consolas" pitchFamily="34" charset="-120"/>
              </a:rPr>
              <a:t>seccomp: kars-strict  ·  drop ALL caps</a:t>
            </a:r>
            <a:endParaRPr lang="en-US" sz="1000" dirty="0"/>
          </a:p>
        </p:txBody>
      </p:sp>
      <p:sp>
        <p:nvSpPr>
          <p:cNvPr id="15" name="Shape 13"/>
          <p:cNvSpPr/>
          <p:nvPr/>
        </p:nvSpPr>
        <p:spPr>
          <a:xfrm>
            <a:off x="1280160" y="5684520"/>
            <a:ext cx="9601200" cy="0"/>
          </a:xfrm>
          <a:prstGeom prst="line">
            <a:avLst/>
          </a:prstGeom>
          <a:noFill/>
          <a:ln w="6350">
            <a:solidFill>
              <a:srgbClr val="E1E4E8"/>
            </a:solidFill>
            <a:prstDash val="solid"/>
          </a:ln>
        </p:spPr>
      </p:sp>
      <p:sp>
        <p:nvSpPr>
          <p:cNvPr id="16" name="Text 14"/>
          <p:cNvSpPr/>
          <p:nvPr/>
        </p:nvSpPr>
        <p:spPr>
          <a:xfrm>
            <a:off x="1280160" y="5775960"/>
            <a:ext cx="2286000" cy="274320"/>
          </a:xfrm>
          <a:prstGeom prst="rect">
            <a:avLst/>
          </a:prstGeom>
          <a:noFill/>
          <a:ln/>
        </p:spPr>
        <p:txBody>
          <a:bodyPr wrap="square" lIns="0" tIns="0" rIns="0" bIns="0" rtlCol="0" anchor="ctr"/>
          <a:lstStyle/>
          <a:p>
            <a:pPr indent="0" marL="0">
              <a:buNone/>
            </a:pPr>
            <a:r>
              <a:rPr lang="en-US" sz="1300" b="1" dirty="0">
                <a:solidFill>
                  <a:srgbClr val="1A1A1A"/>
                </a:solidFill>
                <a:latin typeface="Helvetica" pitchFamily="34" charset="0"/>
                <a:ea typeface="Helvetica" pitchFamily="34" charset="-122"/>
                <a:cs typeface="Helvetica" pitchFamily="34" charset="-120"/>
              </a:rPr>
              <a:t>inference-router</a:t>
            </a:r>
            <a:endParaRPr lang="en-US" sz="1300" dirty="0"/>
          </a:p>
        </p:txBody>
      </p:sp>
      <p:sp>
        <p:nvSpPr>
          <p:cNvPr id="17" name="Text 15"/>
          <p:cNvSpPr/>
          <p:nvPr/>
        </p:nvSpPr>
        <p:spPr>
          <a:xfrm>
            <a:off x="3566160" y="5775960"/>
            <a:ext cx="7223760" cy="274320"/>
          </a:xfrm>
          <a:prstGeom prst="rect">
            <a:avLst/>
          </a:prstGeom>
          <a:noFill/>
          <a:ln/>
        </p:spPr>
        <p:txBody>
          <a:bodyPr wrap="square" lIns="0" tIns="0" rIns="0" bIns="0" rtlCol="0" anchor="ctr"/>
          <a:lstStyle/>
          <a:p>
            <a:pPr indent="0" marL="0">
              <a:buNone/>
            </a:pPr>
            <a:r>
              <a:rPr lang="en-US" sz="1150" dirty="0">
                <a:solidFill>
                  <a:srgbClr val="1A1A1A"/>
                </a:solidFill>
                <a:latin typeface="Helvetica" pitchFamily="34" charset="0"/>
                <a:ea typeface="Helvetica" pitchFamily="34" charset="-122"/>
                <a:cs typeface="Helvetica" pitchFamily="34" charset="-120"/>
              </a:rPr>
              <a:t>UID 1001  ·  axum  ·  :8443 admin · :8444 transparent proxy</a:t>
            </a:r>
            <a:endParaRPr lang="en-US" sz="1150" dirty="0"/>
          </a:p>
        </p:txBody>
      </p:sp>
      <p:sp>
        <p:nvSpPr>
          <p:cNvPr id="18" name="Text 16"/>
          <p:cNvSpPr/>
          <p:nvPr/>
        </p:nvSpPr>
        <p:spPr>
          <a:xfrm>
            <a:off x="3566160" y="6050280"/>
            <a:ext cx="7223760" cy="274320"/>
          </a:xfrm>
          <a:prstGeom prst="rect">
            <a:avLst/>
          </a:prstGeom>
          <a:noFill/>
          <a:ln/>
        </p:spPr>
        <p:txBody>
          <a:bodyPr wrap="square" lIns="0" tIns="0" rIns="0" bIns="0" rtlCol="0" anchor="ctr"/>
          <a:lstStyle/>
          <a:p>
            <a:pPr indent="0" marL="0">
              <a:buNone/>
            </a:pPr>
            <a:r>
              <a:rPr lang="en-US" sz="1000" dirty="0">
                <a:solidFill>
                  <a:srgbClr val="6E7681"/>
                </a:solidFill>
                <a:latin typeface="Consolas" pitchFamily="34" charset="0"/>
                <a:ea typeface="Consolas" pitchFamily="34" charset="-122"/>
                <a:cs typeface="Consolas" pitchFamily="34" charset="-120"/>
              </a:rPr>
              <a:t>the only path to the outside world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13</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§5.1 · SANDBOX · THE GATE</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4400" b="1" dirty="0">
                <a:solidFill>
                  <a:srgbClr val="1A1A1A"/>
                </a:solidFill>
                <a:latin typeface="Helvetica" pitchFamily="34" charset="0"/>
                <a:ea typeface="Helvetica" pitchFamily="34" charset="-122"/>
                <a:cs typeface="Helvetica" pitchFamily="34" charset="-120"/>
              </a:rPr>
              <a:t>Six iptables rules.</a:t>
            </a:r>
            <a:endParaRPr lang="en-US" sz="4400" dirty="0"/>
          </a:p>
        </p:txBody>
      </p:sp>
      <p:sp>
        <p:nvSpPr>
          <p:cNvPr id="5" name="Shape 3"/>
          <p:cNvSpPr/>
          <p:nvPr/>
        </p:nvSpPr>
        <p:spPr>
          <a:xfrm>
            <a:off x="640080" y="2743200"/>
            <a:ext cx="7680960" cy="3108960"/>
          </a:xfrm>
          <a:prstGeom prst="rect">
            <a:avLst/>
          </a:prstGeom>
          <a:solidFill>
            <a:srgbClr val="F6F8FA"/>
          </a:solidFill>
          <a:ln w="9525">
            <a:solidFill>
              <a:srgbClr val="E1E4E8"/>
            </a:solidFill>
            <a:prstDash val="solid"/>
          </a:ln>
        </p:spPr>
      </p:sp>
      <p:sp>
        <p:nvSpPr>
          <p:cNvPr id="6" name="Text 4"/>
          <p:cNvSpPr/>
          <p:nvPr/>
        </p:nvSpPr>
        <p:spPr>
          <a:xfrm>
            <a:off x="868680" y="2971800"/>
            <a:ext cx="7223760" cy="2651760"/>
          </a:xfrm>
          <a:prstGeom prst="rect">
            <a:avLst/>
          </a:prstGeom>
          <a:noFill/>
          <a:ln/>
        </p:spPr>
        <p:txBody>
          <a:bodyPr wrap="square" lIns="0" tIns="0" rIns="0" bIns="0" rtlCol="0" anchor="t"/>
          <a:lstStyle/>
          <a:p>
            <a:pPr algn="l" indent="0" marL="0">
              <a:buNone/>
            </a:pPr>
            <a:r>
              <a:rPr lang="en-US" sz="950" dirty="0">
                <a:solidFill>
                  <a:srgbClr val="1A1A1A"/>
                </a:solidFill>
                <a:latin typeface="Consolas" pitchFamily="34" charset="0"/>
                <a:ea typeface="Consolas" pitchFamily="34" charset="-122"/>
                <a:cs typeface="Consolas" pitchFamily="34" charset="-120"/>
              </a:rPr>
              <a:t>iptables -t nat   -A OUTPUT -m owner --uid-owner 1000 -d 127.0.0.1 -j RETURN
iptables -t nat   -A OUTPUT -m owner --uid-owner 1000 -p udp --dport 53 -j RETURN
iptables          -A OUTPUT -m owner --uid-owner 1000 -d 127.0.0.0/8 -j ACCEPT
iptables          -A OUTPUT -m owner --uid-owner 1000 -p udp --dport 53 -j ACCEPT
iptables          -A OUTPUT -m owner --uid-owner 1000 -j REJECT
iptables -t nat   -A OUTPUT -m owner --uid-owner 1000 -p tcp --dport 80  -j REDIRECT --to-port 8444
iptables -t nat   -A OUTPUT -m owner --uid-owner 1000 -p tcp --dport 443 -j REDIRECT --to-port 8444
</a:t>
            </a:r>
            <a:endParaRPr lang="en-US" sz="950" dirty="0"/>
          </a:p>
        </p:txBody>
      </p:sp>
      <p:sp>
        <p:nvSpPr>
          <p:cNvPr id="7" name="Text 5"/>
          <p:cNvSpPr/>
          <p:nvPr/>
        </p:nvSpPr>
        <p:spPr>
          <a:xfrm>
            <a:off x="8229600" y="2743200"/>
            <a:ext cx="3291840" cy="365760"/>
          </a:xfrm>
          <a:prstGeom prst="rect">
            <a:avLst/>
          </a:prstGeom>
          <a:noFill/>
          <a:ln/>
        </p:spPr>
        <p:txBody>
          <a:bodyPr wrap="square" lIns="0" tIns="0" rIns="0" bIns="0" rtlCol="0" anchor="ctr"/>
          <a:lstStyle/>
          <a:p>
            <a:pPr indent="0" marL="0">
              <a:buNone/>
            </a:pPr>
            <a:r>
              <a:rPr lang="en-US" sz="1600" b="1" dirty="0">
                <a:solidFill>
                  <a:srgbClr val="1A1A1A"/>
                </a:solidFill>
                <a:latin typeface="Helvetica" pitchFamily="34" charset="0"/>
                <a:ea typeface="Helvetica" pitchFamily="34" charset="-122"/>
                <a:cs typeface="Helvetica" pitchFamily="34" charset="-120"/>
              </a:rPr>
              <a:t>Reading the rules</a:t>
            </a:r>
            <a:endParaRPr lang="en-US" sz="1600" dirty="0"/>
          </a:p>
        </p:txBody>
      </p:sp>
      <p:sp>
        <p:nvSpPr>
          <p:cNvPr id="8" name="Text 6"/>
          <p:cNvSpPr/>
          <p:nvPr/>
        </p:nvSpPr>
        <p:spPr>
          <a:xfrm>
            <a:off x="8229600" y="3154680"/>
            <a:ext cx="3291840" cy="3200400"/>
          </a:xfrm>
          <a:prstGeom prst="rect">
            <a:avLst/>
          </a:prstGeom>
          <a:noFill/>
          <a:ln/>
        </p:spPr>
        <p:txBody>
          <a:bodyPr wrap="square" lIns="0" tIns="0" rIns="0" bIns="0" rtlCol="0" anchor="ctr"/>
          <a:lstStyle/>
          <a:p>
            <a:pPr indent="0" marL="0">
              <a:spcAft>
                <a:spcPts val="800"/>
              </a:spcAft>
              <a:buNone/>
            </a:pPr>
            <a:r>
              <a:rPr lang="en-US" sz="1200" dirty="0">
                <a:solidFill>
                  <a:srgbClr val="1A1A1A"/>
                </a:solidFill>
                <a:latin typeface="Helvetica" pitchFamily="34" charset="0"/>
                <a:ea typeface="Helvetica" pitchFamily="34" charset="-122"/>
                <a:cs typeface="Helvetica" pitchFamily="34" charset="-120"/>
              </a:rPr>
              <a:t>UID 1000 is the agent.  UID 1001 is the inference-router sidecar — distinct user, so the rules apply only to agent traffic.</a:t>
            </a:r>
            <a:endParaRPr lang="en-US" sz="1200" dirty="0"/>
          </a:p>
          <a:p>
            <a:pPr indent="0" marL="0">
              <a:spcAft>
                <a:spcPts val="800"/>
              </a:spcAft>
              <a:buNone/>
            </a:pPr>
            <a:r>
              <a:rPr lang="en-US" sz="1200" dirty="0">
                <a:solidFill>
                  <a:srgbClr val="1A1A1A"/>
                </a:solidFill>
                <a:latin typeface="Helvetica" pitchFamily="34" charset="0"/>
                <a:ea typeface="Helvetica" pitchFamily="34" charset="-122"/>
                <a:cs typeface="Helvetica" pitchFamily="34" charset="-120"/>
              </a:rPr>
              <a:t>Line 5 fails closed:  any outbound the agent didn't get through loopback or DNS gets rejected.</a:t>
            </a:r>
            <a:endParaRPr lang="en-US" sz="1200" dirty="0"/>
          </a:p>
          <a:p>
            <a:pPr indent="0" marL="0">
              <a:spcAft>
                <a:spcPts val="600"/>
              </a:spcAft>
              <a:buNone/>
            </a:pPr>
            <a:r>
              <a:rPr lang="en-US" sz="1200" dirty="0">
                <a:solidFill>
                  <a:srgbClr val="1A1A1A"/>
                </a:solidFill>
                <a:latin typeface="Helvetica" pitchFamily="34" charset="0"/>
                <a:ea typeface="Helvetica" pitchFamily="34" charset="-122"/>
                <a:cs typeface="Helvetica" pitchFamily="34" charset="-120"/>
              </a:rPr>
              <a:t>Lines 6 + 7 are why the agent can still talk to the world:  :80/:443 are NAT-redirected to the router's transparent proxy on :8444, where every call is policy-checked and audited.</a:t>
            </a:r>
            <a:endParaRPr lang="en-US" sz="1200" dirty="0"/>
          </a:p>
        </p:txBody>
      </p:sp>
      <p:sp>
        <p:nvSpPr>
          <p:cNvPr id="9" name="Text 7"/>
          <p:cNvSpPr/>
          <p:nvPr/>
        </p:nvSpPr>
        <p:spPr>
          <a:xfrm>
            <a:off x="640080" y="6126480"/>
            <a:ext cx="10881360" cy="274320"/>
          </a:xfrm>
          <a:prstGeom prst="rect">
            <a:avLst/>
          </a:prstGeom>
          <a:noFill/>
          <a:ln/>
        </p:spPr>
        <p:txBody>
          <a:bodyPr wrap="square" lIns="0" tIns="0" rIns="0" bIns="0" rtlCol="0" anchor="ctr"/>
          <a:lstStyle/>
          <a:p>
            <a:pPr algn="l" indent="0" marL="0">
              <a:buNone/>
            </a:pPr>
            <a:r>
              <a:rPr lang="en-US" sz="1000" dirty="0">
                <a:solidFill>
                  <a:srgbClr val="AFB3BD"/>
                </a:solidFill>
                <a:latin typeface="Consolas" pitchFamily="34" charset="0"/>
                <a:ea typeface="Consolas" pitchFamily="34" charset="-122"/>
                <a:cs typeface="Consolas" pitchFamily="34" charset="-120"/>
              </a:rPr>
              <a:t>controller/src/reconciler/mod.rs:1916-1958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14</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§6 · MESH</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4200" b="1" dirty="0">
                <a:solidFill>
                  <a:srgbClr val="1A1A1A"/>
                </a:solidFill>
                <a:latin typeface="Helvetica" pitchFamily="34" charset="0"/>
                <a:ea typeface="Helvetica" pitchFamily="34" charset="-122"/>
                <a:cs typeface="Helvetica" pitchFamily="34" charset="-120"/>
              </a:rPr>
              <a:t>Agents authenticate each other.</a:t>
            </a:r>
            <a:endParaRPr lang="en-US" sz="4200" dirty="0"/>
          </a:p>
        </p:txBody>
      </p:sp>
      <p:sp>
        <p:nvSpPr>
          <p:cNvPr id="5" name="Text 3"/>
          <p:cNvSpPr/>
          <p:nvPr/>
        </p:nvSpPr>
        <p:spPr>
          <a:xfrm>
            <a:off x="640080" y="2286000"/>
            <a:ext cx="10881360" cy="128016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Every inter-agent message rides Signal Protocol:  Ed25519 + X25519 identities, X3DH for session establishment, Double Ratchet for forward-secret message keys. The relay routes opaque bytes and never sees plaintext.</a:t>
            </a:r>
            <a:endParaRPr lang="en-US" sz="1800" dirty="0"/>
          </a:p>
        </p:txBody>
      </p:sp>
      <p:sp>
        <p:nvSpPr>
          <p:cNvPr id="6" name="Shape 4"/>
          <p:cNvSpPr/>
          <p:nvPr/>
        </p:nvSpPr>
        <p:spPr>
          <a:xfrm>
            <a:off x="640080" y="3520440"/>
            <a:ext cx="6035040" cy="3246120"/>
          </a:xfrm>
          <a:prstGeom prst="rect">
            <a:avLst/>
          </a:prstGeom>
          <a:solidFill>
            <a:srgbClr val="F6F8FA"/>
          </a:solidFill>
          <a:ln w="9525">
            <a:solidFill>
              <a:srgbClr val="E1E4E8"/>
            </a:solidFill>
            <a:prstDash val="solid"/>
          </a:ln>
        </p:spPr>
      </p:sp>
      <p:sp>
        <p:nvSpPr>
          <p:cNvPr id="7" name="Text 5"/>
          <p:cNvSpPr/>
          <p:nvPr/>
        </p:nvSpPr>
        <p:spPr>
          <a:xfrm>
            <a:off x="868680" y="3749040"/>
            <a:ext cx="5577840" cy="2788920"/>
          </a:xfrm>
          <a:prstGeom prst="rect">
            <a:avLst/>
          </a:prstGeom>
          <a:noFill/>
          <a:ln/>
        </p:spPr>
        <p:txBody>
          <a:bodyPr wrap="square" lIns="0" tIns="0" rIns="0" bIns="0" rtlCol="0" anchor="t"/>
          <a:lstStyle/>
          <a:p>
            <a:pPr algn="l" indent="0" marL="0">
              <a:buNone/>
            </a:pPr>
            <a:r>
              <a:rPr lang="en-US" sz="1100" dirty="0">
                <a:solidFill>
                  <a:srgbClr val="1A1A1A"/>
                </a:solidFill>
                <a:latin typeface="Consolas" pitchFamily="34" charset="0"/>
                <a:ea typeface="Consolas" pitchFamily="34" charset="-122"/>
                <a:cs typeface="Consolas" pitchFamily="34" charset="-120"/>
              </a:rPr>
              <a:t>{
</a:t>
            </a:r>
            <a:pPr algn="l" indent="0" marL="0">
              <a:buNone/>
            </a:pPr>
            <a:r>
              <a:rPr lang="en-US" sz="1100" dirty="0">
                <a:solidFill>
                  <a:srgbClr val="C53030"/>
                </a:solidFill>
                <a:latin typeface="Consolas" pitchFamily="34" charset="0"/>
                <a:ea typeface="Consolas" pitchFamily="34" charset="-122"/>
                <a:cs typeface="Consolas" pitchFamily="34" charset="-120"/>
              </a:rPr>
              <a:t>  "v": </a:t>
            </a:r>
            <a:pPr algn="l" indent="0" marL="0">
              <a:buNone/>
            </a:pPr>
            <a:r>
              <a:rPr lang="en-US" sz="1100" dirty="0">
                <a:solidFill>
                  <a:srgbClr val="276749"/>
                </a:solidFill>
                <a:latin typeface="Consolas" pitchFamily="34" charset="0"/>
                <a:ea typeface="Consolas" pitchFamily="34" charset="-122"/>
                <a:cs typeface="Consolas" pitchFamily="34" charset="-120"/>
              </a:rPr>
              <a:t>1,
</a:t>
            </a:r>
            <a:pPr algn="l" indent="0" marL="0">
              <a:buNone/>
            </a:pPr>
            <a:r>
              <a:rPr lang="en-US" sz="1100" dirty="0">
                <a:solidFill>
                  <a:srgbClr val="C53030"/>
                </a:solidFill>
                <a:latin typeface="Consolas" pitchFamily="34" charset="0"/>
                <a:ea typeface="Consolas" pitchFamily="34" charset="-122"/>
                <a:cs typeface="Consolas" pitchFamily="34" charset="-120"/>
              </a:rPr>
              <a:t>  "type": </a:t>
            </a:r>
            <a:pPr algn="l" indent="0" marL="0">
              <a:buNone/>
            </a:pPr>
            <a:r>
              <a:rPr lang="en-US" sz="1100" dirty="0">
                <a:solidFill>
                  <a:srgbClr val="276749"/>
                </a:solidFill>
                <a:latin typeface="Consolas" pitchFamily="34" charset="0"/>
                <a:ea typeface="Consolas" pitchFamily="34" charset="-122"/>
                <a:cs typeface="Consolas" pitchFamily="34" charset="-120"/>
              </a:rPr>
              <a:t>"knock",
</a:t>
            </a:r>
            <a:pPr algn="l" indent="0" marL="0">
              <a:buNone/>
            </a:pPr>
            <a:r>
              <a:rPr lang="en-US" sz="1100" dirty="0">
                <a:solidFill>
                  <a:srgbClr val="C53030"/>
                </a:solidFill>
                <a:latin typeface="Consolas" pitchFamily="34" charset="0"/>
                <a:ea typeface="Consolas" pitchFamily="34" charset="-122"/>
                <a:cs typeface="Consolas" pitchFamily="34" charset="-120"/>
              </a:rPr>
              <a:t>  "from": </a:t>
            </a:r>
            <a:pPr algn="l" indent="0" marL="0">
              <a:buNone/>
            </a:pPr>
            <a:r>
              <a:rPr lang="en-US" sz="1100" dirty="0">
                <a:solidFill>
                  <a:srgbClr val="276749"/>
                </a:solidFill>
                <a:latin typeface="Consolas" pitchFamily="34" charset="0"/>
                <a:ea typeface="Consolas" pitchFamily="34" charset="-122"/>
                <a:cs typeface="Consolas" pitchFamily="34" charset="-120"/>
              </a:rPr>
              <a:t>"did:mesh:7f3a…",
</a:t>
            </a:r>
            <a:pPr algn="l" indent="0" marL="0">
              <a:buNone/>
            </a:pPr>
            <a:r>
              <a:rPr lang="en-US" sz="1100" dirty="0">
                <a:solidFill>
                  <a:srgbClr val="C53030"/>
                </a:solidFill>
                <a:latin typeface="Consolas" pitchFamily="34" charset="0"/>
                <a:ea typeface="Consolas" pitchFamily="34" charset="-122"/>
                <a:cs typeface="Consolas" pitchFamily="34" charset="-120"/>
              </a:rPr>
              <a:t>  "to":   </a:t>
            </a:r>
            <a:pPr algn="l" indent="0" marL="0">
              <a:buNone/>
            </a:pPr>
            <a:r>
              <a:rPr lang="en-US" sz="1100" dirty="0">
                <a:solidFill>
                  <a:srgbClr val="276749"/>
                </a:solidFill>
                <a:latin typeface="Consolas" pitchFamily="34" charset="0"/>
                <a:ea typeface="Consolas" pitchFamily="34" charset="-122"/>
                <a:cs typeface="Consolas" pitchFamily="34" charset="-120"/>
              </a:rPr>
              <a:t>"did:mesh:b210…",
</a:t>
            </a:r>
            <a:pPr algn="l" indent="0" marL="0">
              <a:buNone/>
            </a:pPr>
            <a:r>
              <a:rPr lang="en-US" sz="1100" dirty="0">
                <a:solidFill>
                  <a:srgbClr val="C53030"/>
                </a:solidFill>
                <a:latin typeface="Consolas" pitchFamily="34" charset="0"/>
                <a:ea typeface="Consolas" pitchFamily="34" charset="-122"/>
                <a:cs typeface="Consolas" pitchFamily="34" charset="-120"/>
              </a:rPr>
              <a:t>  "id":   </a:t>
            </a:r>
            <a:pPr algn="l" indent="0" marL="0">
              <a:buNone/>
            </a:pPr>
            <a:r>
              <a:rPr lang="en-US" sz="1100" dirty="0">
                <a:solidFill>
                  <a:srgbClr val="276749"/>
                </a:solidFill>
                <a:latin typeface="Consolas" pitchFamily="34" charset="0"/>
                <a:ea typeface="Consolas" pitchFamily="34" charset="-122"/>
                <a:cs typeface="Consolas" pitchFamily="34" charset="-120"/>
              </a:rPr>
              <a:t>"k-9c0d7e",
</a:t>
            </a:r>
            <a:pPr algn="l" indent="0" marL="0">
              <a:buNone/>
            </a:pPr>
            <a:r>
              <a:rPr lang="en-US" sz="1100" dirty="0">
                <a:solidFill>
                  <a:srgbClr val="C53030"/>
                </a:solidFill>
                <a:latin typeface="Consolas" pitchFamily="34" charset="0"/>
                <a:ea typeface="Consolas" pitchFamily="34" charset="-122"/>
                <a:cs typeface="Consolas" pitchFamily="34" charset="-120"/>
              </a:rPr>
              <a:t>  "ts":   </a:t>
            </a:r>
            <a:pPr algn="l" indent="0" marL="0">
              <a:buNone/>
            </a:pPr>
            <a:r>
              <a:rPr lang="en-US" sz="1100" dirty="0">
                <a:solidFill>
                  <a:srgbClr val="276749"/>
                </a:solidFill>
                <a:latin typeface="Consolas" pitchFamily="34" charset="0"/>
                <a:ea typeface="Consolas" pitchFamily="34" charset="-122"/>
                <a:cs typeface="Consolas" pitchFamily="34" charset="-120"/>
              </a:rPr>
              <a:t>"2026-06-08T14:23:11Z",
</a:t>
            </a:r>
            <a:pPr algn="l" indent="0" marL="0">
              <a:buNone/>
            </a:pPr>
            <a:r>
              <a:rPr lang="en-US" sz="1100" dirty="0">
                <a:solidFill>
                  <a:srgbClr val="C53030"/>
                </a:solidFill>
                <a:latin typeface="Consolas" pitchFamily="34" charset="0"/>
                <a:ea typeface="Consolas" pitchFamily="34" charset="-122"/>
                <a:cs typeface="Consolas" pitchFamily="34" charset="-120"/>
              </a:rPr>
              <a:t>  "intent": </a:t>
            </a:r>
            <a:pPr algn="l" indent="0" marL="0">
              <a:buNone/>
            </a:pPr>
            <a:r>
              <a:rPr lang="en-US" sz="1100" dirty="0">
                <a:solidFill>
                  <a:srgbClr val="276749"/>
                </a:solidFill>
                <a:latin typeface="Consolas" pitchFamily="34" charset="0"/>
                <a:ea typeface="Consolas" pitchFamily="34" charset="-122"/>
                <a:cs typeface="Consolas" pitchFamily="34" charset="-120"/>
              </a:rPr>
              <a:t>"tool.invoke",
</a:t>
            </a:r>
            <a:pPr algn="l" indent="0" marL="0">
              <a:buNone/>
            </a:pPr>
            <a:r>
              <a:rPr lang="en-US" sz="1100" dirty="0">
                <a:solidFill>
                  <a:srgbClr val="1A1A1A"/>
                </a:solidFill>
                <a:latin typeface="Consolas" pitchFamily="34" charset="0"/>
                <a:ea typeface="Consolas" pitchFamily="34" charset="-122"/>
                <a:cs typeface="Consolas" pitchFamily="34" charset="-120"/>
              </a:rPr>
              <a:t>  "establishment": {
</a:t>
            </a:r>
            <a:pPr algn="l" indent="0" marL="0">
              <a:buNone/>
            </a:pPr>
            <a:r>
              <a:rPr lang="en-US" sz="1100" dirty="0">
                <a:solidFill>
                  <a:srgbClr val="C53030"/>
                </a:solidFill>
                <a:latin typeface="Consolas" pitchFamily="34" charset="0"/>
                <a:ea typeface="Consolas" pitchFamily="34" charset="-122"/>
                <a:cs typeface="Consolas" pitchFamily="34" charset="-120"/>
              </a:rPr>
              <a:t>    "ik": </a:t>
            </a:r>
            <a:pPr algn="l" indent="0" marL="0">
              <a:buNone/>
            </a:pPr>
            <a:r>
              <a:rPr lang="en-US" sz="1100" dirty="0">
                <a:solidFill>
                  <a:srgbClr val="276749"/>
                </a:solidFill>
                <a:latin typeface="Consolas" pitchFamily="34" charset="0"/>
                <a:ea typeface="Consolas" pitchFamily="34" charset="-122"/>
                <a:cs typeface="Consolas" pitchFamily="34" charset="-120"/>
              </a:rPr>
              <a:t>"…",  </a:t>
            </a:r>
            <a:pPr algn="l" indent="0" marL="0">
              <a:buNone/>
            </a:pPr>
            <a:r>
              <a:rPr lang="en-US" sz="1100" dirty="0">
                <a:solidFill>
                  <a:srgbClr val="6E7681"/>
                </a:solidFill>
                <a:latin typeface="Consolas" pitchFamily="34" charset="0"/>
                <a:ea typeface="Consolas" pitchFamily="34" charset="-122"/>
                <a:cs typeface="Consolas" pitchFamily="34" charset="-120"/>
              </a:rPr>
              <a:t>// X25519 identity key
</a:t>
            </a:r>
            <a:pPr algn="l" indent="0" marL="0">
              <a:buNone/>
            </a:pPr>
            <a:r>
              <a:rPr lang="en-US" sz="1100" dirty="0">
                <a:solidFill>
                  <a:srgbClr val="C53030"/>
                </a:solidFill>
                <a:latin typeface="Consolas" pitchFamily="34" charset="0"/>
                <a:ea typeface="Consolas" pitchFamily="34" charset="-122"/>
                <a:cs typeface="Consolas" pitchFamily="34" charset="-120"/>
              </a:rPr>
              <a:t>    "ek": </a:t>
            </a:r>
            <a:pPr algn="l" indent="0" marL="0">
              <a:buNone/>
            </a:pPr>
            <a:r>
              <a:rPr lang="en-US" sz="1100" dirty="0">
                <a:solidFill>
                  <a:srgbClr val="276749"/>
                </a:solidFill>
                <a:latin typeface="Consolas" pitchFamily="34" charset="0"/>
                <a:ea typeface="Consolas" pitchFamily="34" charset="-122"/>
                <a:cs typeface="Consolas" pitchFamily="34" charset="-120"/>
              </a:rPr>
              <a:t>"…",  </a:t>
            </a:r>
            <a:pPr algn="l" indent="0" marL="0">
              <a:buNone/>
            </a:pPr>
            <a:r>
              <a:rPr lang="en-US" sz="1100" dirty="0">
                <a:solidFill>
                  <a:srgbClr val="6E7681"/>
                </a:solidFill>
                <a:latin typeface="Consolas" pitchFamily="34" charset="0"/>
                <a:ea typeface="Consolas" pitchFamily="34" charset="-122"/>
                <a:cs typeface="Consolas" pitchFamily="34" charset="-120"/>
              </a:rPr>
              <a:t>// ephemeral key
</a:t>
            </a:r>
            <a:pPr algn="l" indent="0" marL="0">
              <a:buNone/>
            </a:pPr>
            <a:r>
              <a:rPr lang="en-US" sz="1100" dirty="0">
                <a:solidFill>
                  <a:srgbClr val="C53030"/>
                </a:solidFill>
                <a:latin typeface="Consolas" pitchFamily="34" charset="0"/>
                <a:ea typeface="Consolas" pitchFamily="34" charset="-122"/>
                <a:cs typeface="Consolas" pitchFamily="34" charset="-120"/>
              </a:rPr>
              <a:t>    "spk_id": </a:t>
            </a:r>
            <a:pPr algn="l" indent="0" marL="0">
              <a:buNone/>
            </a:pPr>
            <a:r>
              <a:rPr lang="en-US" sz="1100" dirty="0">
                <a:solidFill>
                  <a:srgbClr val="276749"/>
                </a:solidFill>
                <a:latin typeface="Consolas" pitchFamily="34" charset="0"/>
                <a:ea typeface="Consolas" pitchFamily="34" charset="-122"/>
                <a:cs typeface="Consolas" pitchFamily="34" charset="-120"/>
              </a:rPr>
              <a:t>42,   </a:t>
            </a:r>
            <a:pPr algn="l" indent="0" marL="0">
              <a:buNone/>
            </a:pPr>
            <a:r>
              <a:rPr lang="en-US" sz="1100" dirty="0">
                <a:solidFill>
                  <a:srgbClr val="6E7681"/>
                </a:solidFill>
                <a:latin typeface="Consolas" pitchFamily="34" charset="0"/>
                <a:ea typeface="Consolas" pitchFamily="34" charset="-122"/>
                <a:cs typeface="Consolas" pitchFamily="34" charset="-120"/>
              </a:rPr>
              <a:t>// signed prekey id
</a:t>
            </a:r>
            <a:pPr algn="l" indent="0" marL="0">
              <a:buNone/>
            </a:pPr>
            <a:r>
              <a:rPr lang="en-US" sz="1100" dirty="0">
                <a:solidFill>
                  <a:srgbClr val="C53030"/>
                </a:solidFill>
                <a:latin typeface="Consolas" pitchFamily="34" charset="0"/>
                <a:ea typeface="Consolas" pitchFamily="34" charset="-122"/>
                <a:cs typeface="Consolas" pitchFamily="34" charset="-120"/>
              </a:rPr>
              <a:t>    "otk_id": </a:t>
            </a:r>
            <a:pPr algn="l" indent="0" marL="0">
              <a:buNone/>
            </a:pPr>
            <a:r>
              <a:rPr lang="en-US" sz="1100" dirty="0">
                <a:solidFill>
                  <a:srgbClr val="276749"/>
                </a:solidFill>
                <a:latin typeface="Consolas" pitchFamily="34" charset="0"/>
                <a:ea typeface="Consolas" pitchFamily="34" charset="-122"/>
                <a:cs typeface="Consolas" pitchFamily="34" charset="-120"/>
              </a:rPr>
              <a:t>117   </a:t>
            </a:r>
            <a:pPr algn="l" indent="0" marL="0">
              <a:buNone/>
            </a:pPr>
            <a:r>
              <a:rPr lang="en-US" sz="1100" dirty="0">
                <a:solidFill>
                  <a:srgbClr val="6E7681"/>
                </a:solidFill>
                <a:latin typeface="Consolas" pitchFamily="34" charset="0"/>
                <a:ea typeface="Consolas" pitchFamily="34" charset="-122"/>
                <a:cs typeface="Consolas" pitchFamily="34" charset="-120"/>
              </a:rPr>
              <a:t>// one-time prekey id
</a:t>
            </a:r>
            <a:pPr algn="l" indent="0" marL="0">
              <a:buNone/>
            </a:pPr>
            <a:r>
              <a:rPr lang="en-US" sz="1100" dirty="0">
                <a:solidFill>
                  <a:srgbClr val="1A1A1A"/>
                </a:solidFill>
                <a:latin typeface="Consolas" pitchFamily="34" charset="0"/>
                <a:ea typeface="Consolas" pitchFamily="34" charset="-122"/>
                <a:cs typeface="Consolas" pitchFamily="34" charset="-120"/>
              </a:rPr>
              <a:t>  }
}
</a:t>
            </a:r>
            <a:endParaRPr lang="en-US" sz="1100" dirty="0"/>
          </a:p>
        </p:txBody>
      </p:sp>
      <p:sp>
        <p:nvSpPr>
          <p:cNvPr id="8" name="Text 6"/>
          <p:cNvSpPr/>
          <p:nvPr/>
        </p:nvSpPr>
        <p:spPr>
          <a:xfrm>
            <a:off x="7406640" y="3520440"/>
            <a:ext cx="4114800" cy="365760"/>
          </a:xfrm>
          <a:prstGeom prst="rect">
            <a:avLst/>
          </a:prstGeom>
          <a:noFill/>
          <a:ln/>
        </p:spPr>
        <p:txBody>
          <a:bodyPr wrap="square" lIns="0" tIns="0" rIns="0" bIns="0" rtlCol="0" anchor="ctr"/>
          <a:lstStyle/>
          <a:p>
            <a:pPr indent="0" marL="0">
              <a:buNone/>
            </a:pPr>
            <a:r>
              <a:rPr lang="en-US" sz="1800" b="1" dirty="0">
                <a:solidFill>
                  <a:srgbClr val="1A1A1A"/>
                </a:solidFill>
                <a:latin typeface="Helvetica" pitchFamily="34" charset="0"/>
                <a:ea typeface="Helvetica" pitchFamily="34" charset="-122"/>
                <a:cs typeface="Helvetica" pitchFamily="34" charset="-120"/>
              </a:rPr>
              <a:t>The KNOCK frame</a:t>
            </a:r>
            <a:endParaRPr lang="en-US" sz="1800" dirty="0"/>
          </a:p>
        </p:txBody>
      </p:sp>
      <p:sp>
        <p:nvSpPr>
          <p:cNvPr id="9" name="Text 7"/>
          <p:cNvSpPr/>
          <p:nvPr/>
        </p:nvSpPr>
        <p:spPr>
          <a:xfrm>
            <a:off x="7406640" y="3977640"/>
            <a:ext cx="4114800" cy="2743200"/>
          </a:xfrm>
          <a:prstGeom prst="rect">
            <a:avLst/>
          </a:prstGeom>
          <a:noFill/>
          <a:ln/>
        </p:spPr>
        <p:txBody>
          <a:bodyPr wrap="square" lIns="0" tIns="0" rIns="0" bIns="0" rtlCol="0" anchor="ctr"/>
          <a:lstStyle/>
          <a:p>
            <a:pPr indent="0" marL="0">
              <a:spcAft>
                <a:spcPts val="600"/>
              </a:spcAft>
              <a:buNone/>
            </a:pPr>
            <a:r>
              <a:rPr lang="en-US" sz="1300" dirty="0">
                <a:solidFill>
                  <a:srgbClr val="1A1A1A"/>
                </a:solidFill>
                <a:latin typeface="Helvetica" pitchFamily="34" charset="0"/>
                <a:ea typeface="Helvetica" pitchFamily="34" charset="-122"/>
                <a:cs typeface="Helvetica" pitchFamily="34" charset="-120"/>
              </a:rPr>
              <a:t>Carries the initiator's X3DH establishment.  Receiver's policy hook gates accept BEFORE the session opens.</a:t>
            </a:r>
            <a:endParaRPr lang="en-US" sz="1300" dirty="0"/>
          </a:p>
          <a:p>
            <a:pPr indent="0" marL="0">
              <a:spcAft>
                <a:spcPts val="600"/>
              </a:spcAft>
              <a:buNone/>
            </a:pPr>
            <a:r>
              <a:rPr lang="en-US" sz="600" dirty="0">
                <a:solidFill>
                  <a:srgbClr val="1A1A1A"/>
                </a:solidFill>
                <a:latin typeface="Helvetica" pitchFamily="34" charset="0"/>
                <a:ea typeface="Helvetica" pitchFamily="34" charset="-122"/>
                <a:cs typeface="Helvetica" pitchFamily="34" charset="-120"/>
              </a:rPr>
              <a:t> </a:t>
            </a:r>
            <a:endParaRPr lang="en-US" sz="1300" dirty="0"/>
          </a:p>
          <a:p>
            <a:pPr indent="0" marL="0">
              <a:spcAft>
                <a:spcPts val="600"/>
              </a:spcAft>
              <a:buNone/>
            </a:pPr>
            <a:r>
              <a:rPr lang="en-US" sz="1300" dirty="0">
                <a:solidFill>
                  <a:srgbClr val="1A1A1A"/>
                </a:solidFill>
                <a:latin typeface="Helvetica" pitchFamily="34" charset="0"/>
                <a:ea typeface="Helvetica" pitchFamily="34" charset="-122"/>
                <a:cs typeface="Helvetica" pitchFamily="34" charset="-120"/>
              </a:rPr>
              <a:t>Once accepted, all subsequent frames use Double Ratchet keys.  Compromising one frame's key does not compromise past frames.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15</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§7 · GOVERNANCE</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2600" b="1" dirty="0">
                <a:solidFill>
                  <a:srgbClr val="1A1A1A"/>
                </a:solidFill>
                <a:latin typeface="Helvetica" pitchFamily="34" charset="0"/>
                <a:ea typeface="Helvetica" pitchFamily="34" charset="-122"/>
                <a:cs typeface="Helvetica" pitchFamily="34" charset="-120"/>
              </a:rPr>
              <a:t>Four layers.  Each enforced once, by one component.</a:t>
            </a:r>
            <a:endParaRPr lang="en-US" sz="2600" dirty="0"/>
          </a:p>
        </p:txBody>
      </p:sp>
      <p:sp>
        <p:nvSpPr>
          <p:cNvPr id="5" name="Text 3"/>
          <p:cNvSpPr/>
          <p:nvPr/>
        </p:nvSpPr>
        <p:spPr>
          <a:xfrm>
            <a:off x="640080" y="2194560"/>
            <a:ext cx="10881360" cy="100584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Defence-in-depth — but each layer is owned by exactly one component, so failures have a single name.  No double-checking, no contradictory decisions.</a:t>
            </a:r>
            <a:endParaRPr lang="en-US" sz="1800" dirty="0"/>
          </a:p>
        </p:txBody>
      </p:sp>
      <p:sp>
        <p:nvSpPr>
          <p:cNvPr id="6" name="Text 4"/>
          <p:cNvSpPr/>
          <p:nvPr/>
        </p:nvSpPr>
        <p:spPr>
          <a:xfrm>
            <a:off x="640080" y="3383280"/>
            <a:ext cx="365760" cy="777240"/>
          </a:xfrm>
          <a:prstGeom prst="rect">
            <a:avLst/>
          </a:prstGeom>
          <a:noFill/>
          <a:ln/>
        </p:spPr>
        <p:txBody>
          <a:bodyPr wrap="square" lIns="0" tIns="0" rIns="0" bIns="0" rtlCol="0" anchor="t"/>
          <a:lstStyle/>
          <a:p>
            <a:pPr indent="0" marL="0">
              <a:buNone/>
            </a:pPr>
            <a:r>
              <a:rPr lang="en-US" sz="1800" b="1" dirty="0">
                <a:solidFill>
                  <a:srgbClr val="028090"/>
                </a:solidFill>
                <a:latin typeface="Consolas" pitchFamily="34" charset="0"/>
                <a:ea typeface="Consolas" pitchFamily="34" charset="-122"/>
                <a:cs typeface="Consolas" pitchFamily="34" charset="-120"/>
              </a:rPr>
              <a:t>1</a:t>
            </a:r>
            <a:endParaRPr lang="en-US" sz="1800" dirty="0"/>
          </a:p>
        </p:txBody>
      </p:sp>
      <p:sp>
        <p:nvSpPr>
          <p:cNvPr id="7" name="Text 5"/>
          <p:cNvSpPr/>
          <p:nvPr/>
        </p:nvSpPr>
        <p:spPr>
          <a:xfrm>
            <a:off x="1143000" y="3383280"/>
            <a:ext cx="1554480" cy="365760"/>
          </a:xfrm>
          <a:prstGeom prst="rect">
            <a:avLst/>
          </a:prstGeom>
          <a:noFill/>
          <a:ln/>
        </p:spPr>
        <p:txBody>
          <a:bodyPr wrap="square" lIns="0" tIns="0" rIns="0" bIns="0" rtlCol="0" anchor="t"/>
          <a:lstStyle/>
          <a:p>
            <a:pPr indent="0" marL="0">
              <a:buNone/>
            </a:pPr>
            <a:r>
              <a:rPr lang="en-US" sz="1600" b="1" dirty="0">
                <a:solidFill>
                  <a:srgbClr val="1A1A1A"/>
                </a:solidFill>
                <a:latin typeface="Helvetica" pitchFamily="34" charset="0"/>
                <a:ea typeface="Helvetica" pitchFamily="34" charset="-122"/>
                <a:cs typeface="Helvetica" pitchFamily="34" charset="-120"/>
              </a:rPr>
              <a:t>Provider</a:t>
            </a:r>
            <a:endParaRPr lang="en-US" sz="1600" dirty="0"/>
          </a:p>
        </p:txBody>
      </p:sp>
      <p:sp>
        <p:nvSpPr>
          <p:cNvPr id="8" name="Text 6"/>
          <p:cNvSpPr/>
          <p:nvPr/>
        </p:nvSpPr>
        <p:spPr>
          <a:xfrm>
            <a:off x="2743200" y="3383280"/>
            <a:ext cx="6400800" cy="365760"/>
          </a:xfrm>
          <a:prstGeom prst="rect">
            <a:avLst/>
          </a:prstGeom>
          <a:noFill/>
          <a:ln/>
        </p:spPr>
        <p:txBody>
          <a:bodyPr wrap="square" lIns="0" tIns="0" rIns="0" bIns="0" rtlCol="0" anchor="t"/>
          <a:lstStyle/>
          <a:p>
            <a:pPr indent="0" marL="0">
              <a:buNone/>
            </a:pPr>
            <a:r>
              <a:rPr lang="en-US" sz="1300" dirty="0">
                <a:solidFill>
                  <a:srgbClr val="1A1A1A"/>
                </a:solidFill>
                <a:latin typeface="Helvetica" pitchFamily="34" charset="0"/>
                <a:ea typeface="Helvetica" pitchFamily="34" charset="-122"/>
                <a:cs typeface="Helvetica" pitchFamily="34" charset="-120"/>
              </a:rPr>
              <a:t>Azure OpenAI · Anthropic · OpenAI · Bedrock — RBAC + region + tenant</a:t>
            </a:r>
            <a:endParaRPr lang="en-US" sz="1300" dirty="0"/>
          </a:p>
        </p:txBody>
      </p:sp>
      <p:sp>
        <p:nvSpPr>
          <p:cNvPr id="9" name="Text 7"/>
          <p:cNvSpPr/>
          <p:nvPr/>
        </p:nvSpPr>
        <p:spPr>
          <a:xfrm>
            <a:off x="2743200" y="3703320"/>
            <a:ext cx="6400800" cy="274320"/>
          </a:xfrm>
          <a:prstGeom prst="rect">
            <a:avLst/>
          </a:prstGeom>
          <a:noFill/>
          <a:ln/>
        </p:spPr>
        <p:txBody>
          <a:bodyPr wrap="square" lIns="0" tIns="0" rIns="0" bIns="0" rtlCol="0" anchor="t"/>
          <a:lstStyle/>
          <a:p>
            <a:pPr indent="0" marL="0">
              <a:buNone/>
            </a:pPr>
            <a:r>
              <a:rPr lang="en-US" sz="1000" dirty="0">
                <a:solidFill>
                  <a:srgbClr val="AFB3BD"/>
                </a:solidFill>
                <a:latin typeface="Consolas" pitchFamily="34" charset="0"/>
                <a:ea typeface="Consolas" pitchFamily="34" charset="-122"/>
                <a:cs typeface="Consolas" pitchFamily="34" charset="-120"/>
              </a:rPr>
              <a:t>external</a:t>
            </a:r>
            <a:endParaRPr lang="en-US" sz="1000" dirty="0"/>
          </a:p>
        </p:txBody>
      </p:sp>
      <p:sp>
        <p:nvSpPr>
          <p:cNvPr id="10" name="Shape 8"/>
          <p:cNvSpPr/>
          <p:nvPr/>
        </p:nvSpPr>
        <p:spPr>
          <a:xfrm>
            <a:off x="640080" y="4114800"/>
            <a:ext cx="10881360" cy="0"/>
          </a:xfrm>
          <a:prstGeom prst="line">
            <a:avLst/>
          </a:prstGeom>
          <a:noFill/>
          <a:ln w="6350">
            <a:solidFill>
              <a:srgbClr val="E1E4E8"/>
            </a:solidFill>
            <a:prstDash val="solid"/>
          </a:ln>
        </p:spPr>
      </p:sp>
      <p:sp>
        <p:nvSpPr>
          <p:cNvPr id="11" name="Text 9"/>
          <p:cNvSpPr/>
          <p:nvPr/>
        </p:nvSpPr>
        <p:spPr>
          <a:xfrm>
            <a:off x="640080" y="4160520"/>
            <a:ext cx="365760" cy="777240"/>
          </a:xfrm>
          <a:prstGeom prst="rect">
            <a:avLst/>
          </a:prstGeom>
          <a:noFill/>
          <a:ln/>
        </p:spPr>
        <p:txBody>
          <a:bodyPr wrap="square" lIns="0" tIns="0" rIns="0" bIns="0" rtlCol="0" anchor="t"/>
          <a:lstStyle/>
          <a:p>
            <a:pPr indent="0" marL="0">
              <a:buNone/>
            </a:pPr>
            <a:r>
              <a:rPr lang="en-US" sz="1800" b="1" dirty="0">
                <a:solidFill>
                  <a:srgbClr val="028090"/>
                </a:solidFill>
                <a:latin typeface="Consolas" pitchFamily="34" charset="0"/>
                <a:ea typeface="Consolas" pitchFamily="34" charset="-122"/>
                <a:cs typeface="Consolas" pitchFamily="34" charset="-120"/>
              </a:rPr>
              <a:t>2</a:t>
            </a:r>
            <a:endParaRPr lang="en-US" sz="1800" dirty="0"/>
          </a:p>
        </p:txBody>
      </p:sp>
      <p:sp>
        <p:nvSpPr>
          <p:cNvPr id="12" name="Text 10"/>
          <p:cNvSpPr/>
          <p:nvPr/>
        </p:nvSpPr>
        <p:spPr>
          <a:xfrm>
            <a:off x="1143000" y="4160520"/>
            <a:ext cx="1554480" cy="365760"/>
          </a:xfrm>
          <a:prstGeom prst="rect">
            <a:avLst/>
          </a:prstGeom>
          <a:noFill/>
          <a:ln/>
        </p:spPr>
        <p:txBody>
          <a:bodyPr wrap="square" lIns="0" tIns="0" rIns="0" bIns="0" rtlCol="0" anchor="t"/>
          <a:lstStyle/>
          <a:p>
            <a:pPr indent="0" marL="0">
              <a:buNone/>
            </a:pPr>
            <a:r>
              <a:rPr lang="en-US" sz="1600" b="1" dirty="0">
                <a:solidFill>
                  <a:srgbClr val="1A1A1A"/>
                </a:solidFill>
                <a:latin typeface="Helvetica" pitchFamily="34" charset="0"/>
                <a:ea typeface="Helvetica" pitchFamily="34" charset="-122"/>
                <a:cs typeface="Helvetica" pitchFamily="34" charset="-120"/>
              </a:rPr>
              <a:t>Router</a:t>
            </a:r>
            <a:endParaRPr lang="en-US" sz="1600" dirty="0"/>
          </a:p>
        </p:txBody>
      </p:sp>
      <p:sp>
        <p:nvSpPr>
          <p:cNvPr id="13" name="Text 11"/>
          <p:cNvSpPr/>
          <p:nvPr/>
        </p:nvSpPr>
        <p:spPr>
          <a:xfrm>
            <a:off x="2743200" y="4160520"/>
            <a:ext cx="6400800" cy="365760"/>
          </a:xfrm>
          <a:prstGeom prst="rect">
            <a:avLst/>
          </a:prstGeom>
          <a:noFill/>
          <a:ln/>
        </p:spPr>
        <p:txBody>
          <a:bodyPr wrap="square" lIns="0" tIns="0" rIns="0" bIns="0" rtlCol="0" anchor="t"/>
          <a:lstStyle/>
          <a:p>
            <a:pPr indent="0" marL="0">
              <a:buNone/>
            </a:pPr>
            <a:r>
              <a:rPr lang="en-US" sz="1300" dirty="0">
                <a:solidFill>
                  <a:srgbClr val="1A1A1A"/>
                </a:solidFill>
                <a:latin typeface="Helvetica" pitchFamily="34" charset="0"/>
                <a:ea typeface="Helvetica" pitchFamily="34" charset="-122"/>
                <a:cs typeface="Helvetica" pitchFamily="34" charset="-120"/>
              </a:rPr>
              <a:t>InferencePolicy · ToolPolicy · EgressApproval · Content Safety</a:t>
            </a:r>
            <a:endParaRPr lang="en-US" sz="1300" dirty="0"/>
          </a:p>
        </p:txBody>
      </p:sp>
      <p:sp>
        <p:nvSpPr>
          <p:cNvPr id="14" name="Text 12"/>
          <p:cNvSpPr/>
          <p:nvPr/>
        </p:nvSpPr>
        <p:spPr>
          <a:xfrm>
            <a:off x="2743200" y="4480560"/>
            <a:ext cx="6400800" cy="274320"/>
          </a:xfrm>
          <a:prstGeom prst="rect">
            <a:avLst/>
          </a:prstGeom>
          <a:noFill/>
          <a:ln/>
        </p:spPr>
        <p:txBody>
          <a:bodyPr wrap="square" lIns="0" tIns="0" rIns="0" bIns="0" rtlCol="0" anchor="t"/>
          <a:lstStyle/>
          <a:p>
            <a:pPr indent="0" marL="0">
              <a:buNone/>
            </a:pPr>
            <a:r>
              <a:rPr lang="en-US" sz="1000" dirty="0">
                <a:solidFill>
                  <a:srgbClr val="AFB3BD"/>
                </a:solidFill>
                <a:latin typeface="Consolas" pitchFamily="34" charset="0"/>
                <a:ea typeface="Consolas" pitchFamily="34" charset="-122"/>
                <a:cs typeface="Consolas" pitchFamily="34" charset="-120"/>
              </a:rPr>
              <a:t>inference-router/src/failover.rs:51-95</a:t>
            </a:r>
            <a:endParaRPr lang="en-US" sz="1000" dirty="0"/>
          </a:p>
        </p:txBody>
      </p:sp>
      <p:sp>
        <p:nvSpPr>
          <p:cNvPr id="15" name="Shape 13"/>
          <p:cNvSpPr/>
          <p:nvPr/>
        </p:nvSpPr>
        <p:spPr>
          <a:xfrm>
            <a:off x="640080" y="4892040"/>
            <a:ext cx="10881360" cy="0"/>
          </a:xfrm>
          <a:prstGeom prst="line">
            <a:avLst/>
          </a:prstGeom>
          <a:noFill/>
          <a:ln w="6350">
            <a:solidFill>
              <a:srgbClr val="E1E4E8"/>
            </a:solidFill>
            <a:prstDash val="solid"/>
          </a:ln>
        </p:spPr>
      </p:sp>
      <p:sp>
        <p:nvSpPr>
          <p:cNvPr id="16" name="Text 14"/>
          <p:cNvSpPr/>
          <p:nvPr/>
        </p:nvSpPr>
        <p:spPr>
          <a:xfrm>
            <a:off x="640080" y="4937760"/>
            <a:ext cx="365760" cy="777240"/>
          </a:xfrm>
          <a:prstGeom prst="rect">
            <a:avLst/>
          </a:prstGeom>
          <a:noFill/>
          <a:ln/>
        </p:spPr>
        <p:txBody>
          <a:bodyPr wrap="square" lIns="0" tIns="0" rIns="0" bIns="0" rtlCol="0" anchor="t"/>
          <a:lstStyle/>
          <a:p>
            <a:pPr indent="0" marL="0">
              <a:buNone/>
            </a:pPr>
            <a:r>
              <a:rPr lang="en-US" sz="1800" b="1" dirty="0">
                <a:solidFill>
                  <a:srgbClr val="028090"/>
                </a:solidFill>
                <a:latin typeface="Consolas" pitchFamily="34" charset="0"/>
                <a:ea typeface="Consolas" pitchFamily="34" charset="-122"/>
                <a:cs typeface="Consolas" pitchFamily="34" charset="-120"/>
              </a:rPr>
              <a:t>3</a:t>
            </a:r>
            <a:endParaRPr lang="en-US" sz="1800" dirty="0"/>
          </a:p>
        </p:txBody>
      </p:sp>
      <p:sp>
        <p:nvSpPr>
          <p:cNvPr id="17" name="Text 15"/>
          <p:cNvSpPr/>
          <p:nvPr/>
        </p:nvSpPr>
        <p:spPr>
          <a:xfrm>
            <a:off x="1143000" y="4937760"/>
            <a:ext cx="1554480" cy="365760"/>
          </a:xfrm>
          <a:prstGeom prst="rect">
            <a:avLst/>
          </a:prstGeom>
          <a:noFill/>
          <a:ln/>
        </p:spPr>
        <p:txBody>
          <a:bodyPr wrap="square" lIns="0" tIns="0" rIns="0" bIns="0" rtlCol="0" anchor="t"/>
          <a:lstStyle/>
          <a:p>
            <a:pPr indent="0" marL="0">
              <a:buNone/>
            </a:pPr>
            <a:r>
              <a:rPr lang="en-US" sz="1600" b="1" dirty="0">
                <a:solidFill>
                  <a:srgbClr val="1A1A1A"/>
                </a:solidFill>
                <a:latin typeface="Helvetica" pitchFamily="34" charset="0"/>
                <a:ea typeface="Helvetica" pitchFamily="34" charset="-122"/>
                <a:cs typeface="Helvetica" pitchFamily="34" charset="-120"/>
              </a:rPr>
              <a:t>Pod</a:t>
            </a:r>
            <a:endParaRPr lang="en-US" sz="1600" dirty="0"/>
          </a:p>
        </p:txBody>
      </p:sp>
      <p:sp>
        <p:nvSpPr>
          <p:cNvPr id="18" name="Text 16"/>
          <p:cNvSpPr/>
          <p:nvPr/>
        </p:nvSpPr>
        <p:spPr>
          <a:xfrm>
            <a:off x="2743200" y="4937760"/>
            <a:ext cx="6400800" cy="365760"/>
          </a:xfrm>
          <a:prstGeom prst="rect">
            <a:avLst/>
          </a:prstGeom>
          <a:noFill/>
          <a:ln/>
        </p:spPr>
        <p:txBody>
          <a:bodyPr wrap="square" lIns="0" tIns="0" rIns="0" bIns="0" rtlCol="0" anchor="t"/>
          <a:lstStyle/>
          <a:p>
            <a:pPr indent="0" marL="0">
              <a:buNone/>
            </a:pPr>
            <a:r>
              <a:rPr lang="en-US" sz="1300" dirty="0">
                <a:solidFill>
                  <a:srgbClr val="1A1A1A"/>
                </a:solidFill>
                <a:latin typeface="Helvetica" pitchFamily="34" charset="0"/>
                <a:ea typeface="Helvetica" pitchFamily="34" charset="-122"/>
                <a:cs typeface="Helvetica" pitchFamily="34" charset="-120"/>
              </a:rPr>
              <a:t>kars-strict seccomp · drop ALL caps · readOnlyRootFilesystem</a:t>
            </a:r>
            <a:endParaRPr lang="en-US" sz="1300" dirty="0"/>
          </a:p>
        </p:txBody>
      </p:sp>
      <p:sp>
        <p:nvSpPr>
          <p:cNvPr id="19" name="Text 17"/>
          <p:cNvSpPr/>
          <p:nvPr/>
        </p:nvSpPr>
        <p:spPr>
          <a:xfrm>
            <a:off x="2743200" y="5257800"/>
            <a:ext cx="6400800" cy="274320"/>
          </a:xfrm>
          <a:prstGeom prst="rect">
            <a:avLst/>
          </a:prstGeom>
          <a:noFill/>
          <a:ln/>
        </p:spPr>
        <p:txBody>
          <a:bodyPr wrap="square" lIns="0" tIns="0" rIns="0" bIns="0" rtlCol="0" anchor="t"/>
          <a:lstStyle/>
          <a:p>
            <a:pPr indent="0" marL="0">
              <a:buNone/>
            </a:pPr>
            <a:r>
              <a:rPr lang="en-US" sz="1000" dirty="0">
                <a:solidFill>
                  <a:srgbClr val="AFB3BD"/>
                </a:solidFill>
                <a:latin typeface="Consolas" pitchFamily="34" charset="0"/>
                <a:ea typeface="Consolas" pitchFamily="34" charset="-122"/>
                <a:cs typeface="Consolas" pitchFamily="34" charset="-120"/>
              </a:rPr>
              <a:t>deploy/helm/kars/files/kars-strict.json</a:t>
            </a:r>
            <a:endParaRPr lang="en-US" sz="1000" dirty="0"/>
          </a:p>
        </p:txBody>
      </p:sp>
      <p:sp>
        <p:nvSpPr>
          <p:cNvPr id="20" name="Shape 18"/>
          <p:cNvSpPr/>
          <p:nvPr/>
        </p:nvSpPr>
        <p:spPr>
          <a:xfrm>
            <a:off x="640080" y="5669280"/>
            <a:ext cx="10881360" cy="0"/>
          </a:xfrm>
          <a:prstGeom prst="line">
            <a:avLst/>
          </a:prstGeom>
          <a:noFill/>
          <a:ln w="6350">
            <a:solidFill>
              <a:srgbClr val="E1E4E8"/>
            </a:solidFill>
            <a:prstDash val="solid"/>
          </a:ln>
        </p:spPr>
      </p:sp>
      <p:sp>
        <p:nvSpPr>
          <p:cNvPr id="21" name="Text 19"/>
          <p:cNvSpPr/>
          <p:nvPr/>
        </p:nvSpPr>
        <p:spPr>
          <a:xfrm>
            <a:off x="640080" y="5715000"/>
            <a:ext cx="365760" cy="777240"/>
          </a:xfrm>
          <a:prstGeom prst="rect">
            <a:avLst/>
          </a:prstGeom>
          <a:noFill/>
          <a:ln/>
        </p:spPr>
        <p:txBody>
          <a:bodyPr wrap="square" lIns="0" tIns="0" rIns="0" bIns="0" rtlCol="0" anchor="t"/>
          <a:lstStyle/>
          <a:p>
            <a:pPr indent="0" marL="0">
              <a:buNone/>
            </a:pPr>
            <a:r>
              <a:rPr lang="en-US" sz="1800" b="1" dirty="0">
                <a:solidFill>
                  <a:srgbClr val="028090"/>
                </a:solidFill>
                <a:latin typeface="Consolas" pitchFamily="34" charset="0"/>
                <a:ea typeface="Consolas" pitchFamily="34" charset="-122"/>
                <a:cs typeface="Consolas" pitchFamily="34" charset="-120"/>
              </a:rPr>
              <a:t>4</a:t>
            </a:r>
            <a:endParaRPr lang="en-US" sz="1800" dirty="0"/>
          </a:p>
        </p:txBody>
      </p:sp>
      <p:sp>
        <p:nvSpPr>
          <p:cNvPr id="22" name="Text 20"/>
          <p:cNvSpPr/>
          <p:nvPr/>
        </p:nvSpPr>
        <p:spPr>
          <a:xfrm>
            <a:off x="1143000" y="5715000"/>
            <a:ext cx="1554480" cy="365760"/>
          </a:xfrm>
          <a:prstGeom prst="rect">
            <a:avLst/>
          </a:prstGeom>
          <a:noFill/>
          <a:ln/>
        </p:spPr>
        <p:txBody>
          <a:bodyPr wrap="square" lIns="0" tIns="0" rIns="0" bIns="0" rtlCol="0" anchor="t"/>
          <a:lstStyle/>
          <a:p>
            <a:pPr indent="0" marL="0">
              <a:buNone/>
            </a:pPr>
            <a:r>
              <a:rPr lang="en-US" sz="1600" b="1" dirty="0">
                <a:solidFill>
                  <a:srgbClr val="1A1A1A"/>
                </a:solidFill>
                <a:latin typeface="Helvetica" pitchFamily="34" charset="0"/>
                <a:ea typeface="Helvetica" pitchFamily="34" charset="-122"/>
                <a:cs typeface="Helvetica" pitchFamily="34" charset="-120"/>
              </a:rPr>
              <a:t>Cluster</a:t>
            </a:r>
            <a:endParaRPr lang="en-US" sz="1600" dirty="0"/>
          </a:p>
        </p:txBody>
      </p:sp>
      <p:sp>
        <p:nvSpPr>
          <p:cNvPr id="23" name="Text 21"/>
          <p:cNvSpPr/>
          <p:nvPr/>
        </p:nvSpPr>
        <p:spPr>
          <a:xfrm>
            <a:off x="2743200" y="5715000"/>
            <a:ext cx="6400800" cy="365760"/>
          </a:xfrm>
          <a:prstGeom prst="rect">
            <a:avLst/>
          </a:prstGeom>
          <a:noFill/>
          <a:ln/>
        </p:spPr>
        <p:txBody>
          <a:bodyPr wrap="square" lIns="0" tIns="0" rIns="0" bIns="0" rtlCol="0" anchor="t"/>
          <a:lstStyle/>
          <a:p>
            <a:pPr indent="0" marL="0">
              <a:buNone/>
            </a:pPr>
            <a:r>
              <a:rPr lang="en-US" sz="1300" dirty="0">
                <a:solidFill>
                  <a:srgbClr val="1A1A1A"/>
                </a:solidFill>
                <a:latin typeface="Helvetica" pitchFamily="34" charset="0"/>
                <a:ea typeface="Helvetica" pitchFamily="34" charset="-122"/>
                <a:cs typeface="Helvetica" pitchFamily="34" charset="-120"/>
              </a:rPr>
              <a:t>default-deny NetworkPolicy · admission policies · pairing tokens</a:t>
            </a:r>
            <a:endParaRPr lang="en-US" sz="1300" dirty="0"/>
          </a:p>
        </p:txBody>
      </p:sp>
      <p:sp>
        <p:nvSpPr>
          <p:cNvPr id="24" name="Text 22"/>
          <p:cNvSpPr/>
          <p:nvPr/>
        </p:nvSpPr>
        <p:spPr>
          <a:xfrm>
            <a:off x="2743200" y="6035040"/>
            <a:ext cx="6400800" cy="274320"/>
          </a:xfrm>
          <a:prstGeom prst="rect">
            <a:avLst/>
          </a:prstGeom>
          <a:noFill/>
          <a:ln/>
        </p:spPr>
        <p:txBody>
          <a:bodyPr wrap="square" lIns="0" tIns="0" rIns="0" bIns="0" rtlCol="0" anchor="t"/>
          <a:lstStyle/>
          <a:p>
            <a:pPr indent="0" marL="0">
              <a:buNone/>
            </a:pPr>
            <a:r>
              <a:rPr lang="en-US" sz="1000" dirty="0">
                <a:solidFill>
                  <a:srgbClr val="AFB3BD"/>
                </a:solidFill>
                <a:latin typeface="Consolas" pitchFamily="34" charset="0"/>
                <a:ea typeface="Consolas" pitchFamily="34" charset="-122"/>
                <a:cs typeface="Consolas" pitchFamily="34" charset="-120"/>
              </a:rPr>
              <a:t>controller/src/reconciler/mod.rs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16</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§8 · PATTERNS · BLUEPRINTS</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800" b="1" dirty="0">
                <a:solidFill>
                  <a:srgbClr val="1A1A1A"/>
                </a:solidFill>
                <a:latin typeface="Helvetica" pitchFamily="34" charset="0"/>
                <a:ea typeface="Helvetica" pitchFamily="34" charset="-122"/>
                <a:cs typeface="Helvetica" pitchFamily="34" charset="-120"/>
              </a:rPr>
              <a:t>Six shapes you can stamp.</a:t>
            </a:r>
            <a:endParaRPr lang="en-US" sz="3800" dirty="0"/>
          </a:p>
        </p:txBody>
      </p:sp>
      <p:sp>
        <p:nvSpPr>
          <p:cNvPr id="5" name="Text 3"/>
          <p:cNvSpPr/>
          <p:nvPr/>
        </p:nvSpPr>
        <p:spPr>
          <a:xfrm>
            <a:off x="640080" y="2286000"/>
            <a:ext cx="10881360" cy="91440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Each blueprint is a documented composition — CRD set + helm overlay + runbook — for a concrete operational pattern.  Pick one, adapt, ship.</a:t>
            </a:r>
            <a:endParaRPr lang="en-US" sz="1800" dirty="0"/>
          </a:p>
        </p:txBody>
      </p:sp>
      <p:sp>
        <p:nvSpPr>
          <p:cNvPr id="6" name="Shape 4"/>
          <p:cNvSpPr/>
          <p:nvPr/>
        </p:nvSpPr>
        <p:spPr>
          <a:xfrm>
            <a:off x="411480" y="3657600"/>
            <a:ext cx="3657600" cy="1280160"/>
          </a:xfrm>
          <a:prstGeom prst="rect">
            <a:avLst/>
          </a:prstGeom>
          <a:solidFill>
            <a:srgbClr val="FFFFFF"/>
          </a:solidFill>
          <a:ln w="12700">
            <a:solidFill>
              <a:srgbClr val="028090"/>
            </a:solidFill>
            <a:prstDash val="solid"/>
          </a:ln>
        </p:spPr>
      </p:sp>
      <p:sp>
        <p:nvSpPr>
          <p:cNvPr id="7" name="Text 5"/>
          <p:cNvSpPr/>
          <p:nvPr/>
        </p:nvSpPr>
        <p:spPr>
          <a:xfrm>
            <a:off x="594360" y="3794760"/>
            <a:ext cx="548640" cy="365760"/>
          </a:xfrm>
          <a:prstGeom prst="rect">
            <a:avLst/>
          </a:prstGeom>
          <a:noFill/>
          <a:ln/>
        </p:spPr>
        <p:txBody>
          <a:bodyPr wrap="square" lIns="0" tIns="0" rIns="0" bIns="0" rtlCol="0" anchor="ctr"/>
          <a:lstStyle/>
          <a:p>
            <a:pPr indent="0" marL="0">
              <a:buNone/>
            </a:pPr>
            <a:r>
              <a:rPr lang="en-US" sz="1600" b="1" dirty="0">
                <a:solidFill>
                  <a:srgbClr val="028090"/>
                </a:solidFill>
                <a:latin typeface="Consolas" pitchFamily="34" charset="0"/>
                <a:ea typeface="Consolas" pitchFamily="34" charset="-122"/>
                <a:cs typeface="Consolas" pitchFamily="34" charset="-120"/>
              </a:rPr>
              <a:t>01</a:t>
            </a:r>
            <a:endParaRPr lang="en-US" sz="1600" dirty="0"/>
          </a:p>
        </p:txBody>
      </p:sp>
      <p:sp>
        <p:nvSpPr>
          <p:cNvPr id="8" name="Text 6"/>
          <p:cNvSpPr/>
          <p:nvPr/>
        </p:nvSpPr>
        <p:spPr>
          <a:xfrm>
            <a:off x="1188720" y="3794760"/>
            <a:ext cx="2697480" cy="365760"/>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Governed Sandbox</a:t>
            </a:r>
            <a:endParaRPr lang="en-US" sz="1400" dirty="0"/>
          </a:p>
        </p:txBody>
      </p:sp>
      <p:sp>
        <p:nvSpPr>
          <p:cNvPr id="9" name="Text 7"/>
          <p:cNvSpPr/>
          <p:nvPr/>
        </p:nvSpPr>
        <p:spPr>
          <a:xfrm>
            <a:off x="594360" y="4206240"/>
            <a:ext cx="3291840" cy="457200"/>
          </a:xfrm>
          <a:prstGeom prst="rect">
            <a:avLst/>
          </a:prstGeom>
          <a:noFill/>
          <a:ln/>
        </p:spPr>
        <p:txBody>
          <a:bodyPr wrap="square" lIns="0" tIns="0" rIns="0" bIns="0"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single agent · default-deny egress · audit</a:t>
            </a:r>
            <a:endParaRPr lang="en-US" sz="1100" dirty="0"/>
          </a:p>
        </p:txBody>
      </p:sp>
      <p:sp>
        <p:nvSpPr>
          <p:cNvPr id="10" name="Text 8"/>
          <p:cNvSpPr/>
          <p:nvPr/>
        </p:nvSpPr>
        <p:spPr>
          <a:xfrm>
            <a:off x="594360" y="4617720"/>
            <a:ext cx="3291840" cy="228600"/>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docs/blueprints/01</a:t>
            </a:r>
            <a:endParaRPr lang="en-US" sz="900" dirty="0"/>
          </a:p>
        </p:txBody>
      </p:sp>
      <p:sp>
        <p:nvSpPr>
          <p:cNvPr id="11" name="Shape 9"/>
          <p:cNvSpPr/>
          <p:nvPr/>
        </p:nvSpPr>
        <p:spPr>
          <a:xfrm>
            <a:off x="4251960" y="3657600"/>
            <a:ext cx="3657600" cy="1280160"/>
          </a:xfrm>
          <a:prstGeom prst="rect">
            <a:avLst/>
          </a:prstGeom>
          <a:solidFill>
            <a:srgbClr val="FFFFFF"/>
          </a:solidFill>
          <a:ln w="12700">
            <a:solidFill>
              <a:srgbClr val="028090"/>
            </a:solidFill>
            <a:prstDash val="solid"/>
          </a:ln>
        </p:spPr>
      </p:sp>
      <p:sp>
        <p:nvSpPr>
          <p:cNvPr id="12" name="Text 10"/>
          <p:cNvSpPr/>
          <p:nvPr/>
        </p:nvSpPr>
        <p:spPr>
          <a:xfrm>
            <a:off x="4434840" y="3794760"/>
            <a:ext cx="548640" cy="365760"/>
          </a:xfrm>
          <a:prstGeom prst="rect">
            <a:avLst/>
          </a:prstGeom>
          <a:noFill/>
          <a:ln/>
        </p:spPr>
        <p:txBody>
          <a:bodyPr wrap="square" lIns="0" tIns="0" rIns="0" bIns="0" rtlCol="0" anchor="ctr"/>
          <a:lstStyle/>
          <a:p>
            <a:pPr indent="0" marL="0">
              <a:buNone/>
            </a:pPr>
            <a:r>
              <a:rPr lang="en-US" sz="1600" b="1" dirty="0">
                <a:solidFill>
                  <a:srgbClr val="028090"/>
                </a:solidFill>
                <a:latin typeface="Consolas" pitchFamily="34" charset="0"/>
                <a:ea typeface="Consolas" pitchFamily="34" charset="-122"/>
                <a:cs typeface="Consolas" pitchFamily="34" charset="-120"/>
              </a:rPr>
              <a:t>02</a:t>
            </a:r>
            <a:endParaRPr lang="en-US" sz="1600" dirty="0"/>
          </a:p>
        </p:txBody>
      </p:sp>
      <p:sp>
        <p:nvSpPr>
          <p:cNvPr id="13" name="Text 11"/>
          <p:cNvSpPr/>
          <p:nvPr/>
        </p:nvSpPr>
        <p:spPr>
          <a:xfrm>
            <a:off x="5029200" y="3794760"/>
            <a:ext cx="2697480" cy="365760"/>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Multi-Runtime Mesh</a:t>
            </a:r>
            <a:endParaRPr lang="en-US" sz="1400" dirty="0"/>
          </a:p>
        </p:txBody>
      </p:sp>
      <p:sp>
        <p:nvSpPr>
          <p:cNvPr id="14" name="Text 12"/>
          <p:cNvSpPr/>
          <p:nvPr/>
        </p:nvSpPr>
        <p:spPr>
          <a:xfrm>
            <a:off x="4434840" y="4206240"/>
            <a:ext cx="3291840" cy="457200"/>
          </a:xfrm>
          <a:prstGeom prst="rect">
            <a:avLst/>
          </a:prstGeom>
          <a:noFill/>
          <a:ln/>
        </p:spPr>
        <p:txBody>
          <a:bodyPr wrap="square" lIns="0" tIns="0" rIns="0" bIns="0"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OpenClaw + Hermes + Anthropic sharing one mesh</a:t>
            </a:r>
            <a:endParaRPr lang="en-US" sz="1100" dirty="0"/>
          </a:p>
        </p:txBody>
      </p:sp>
      <p:sp>
        <p:nvSpPr>
          <p:cNvPr id="15" name="Text 13"/>
          <p:cNvSpPr/>
          <p:nvPr/>
        </p:nvSpPr>
        <p:spPr>
          <a:xfrm>
            <a:off x="4434840" y="4617720"/>
            <a:ext cx="3291840" cy="228600"/>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docs/blueprints/02</a:t>
            </a:r>
            <a:endParaRPr lang="en-US" sz="900" dirty="0"/>
          </a:p>
        </p:txBody>
      </p:sp>
      <p:sp>
        <p:nvSpPr>
          <p:cNvPr id="16" name="Shape 14"/>
          <p:cNvSpPr/>
          <p:nvPr/>
        </p:nvSpPr>
        <p:spPr>
          <a:xfrm>
            <a:off x="8092440" y="3657600"/>
            <a:ext cx="3657600" cy="1280160"/>
          </a:xfrm>
          <a:prstGeom prst="rect">
            <a:avLst/>
          </a:prstGeom>
          <a:solidFill>
            <a:srgbClr val="FFFFFF"/>
          </a:solidFill>
          <a:ln w="12700">
            <a:solidFill>
              <a:srgbClr val="028090"/>
            </a:solidFill>
            <a:prstDash val="solid"/>
          </a:ln>
        </p:spPr>
      </p:sp>
      <p:sp>
        <p:nvSpPr>
          <p:cNvPr id="17" name="Text 15"/>
          <p:cNvSpPr/>
          <p:nvPr/>
        </p:nvSpPr>
        <p:spPr>
          <a:xfrm>
            <a:off x="8275320" y="3794760"/>
            <a:ext cx="548640" cy="365760"/>
          </a:xfrm>
          <a:prstGeom prst="rect">
            <a:avLst/>
          </a:prstGeom>
          <a:noFill/>
          <a:ln/>
        </p:spPr>
        <p:txBody>
          <a:bodyPr wrap="square" lIns="0" tIns="0" rIns="0" bIns="0" rtlCol="0" anchor="ctr"/>
          <a:lstStyle/>
          <a:p>
            <a:pPr indent="0" marL="0">
              <a:buNone/>
            </a:pPr>
            <a:r>
              <a:rPr lang="en-US" sz="1600" b="1" dirty="0">
                <a:solidFill>
                  <a:srgbClr val="028090"/>
                </a:solidFill>
                <a:latin typeface="Consolas" pitchFamily="34" charset="0"/>
                <a:ea typeface="Consolas" pitchFamily="34" charset="-122"/>
                <a:cs typeface="Consolas" pitchFamily="34" charset="-120"/>
              </a:rPr>
              <a:t>03</a:t>
            </a:r>
            <a:endParaRPr lang="en-US" sz="1600" dirty="0"/>
          </a:p>
        </p:txBody>
      </p:sp>
      <p:sp>
        <p:nvSpPr>
          <p:cNvPr id="18" name="Text 16"/>
          <p:cNvSpPr/>
          <p:nvPr/>
        </p:nvSpPr>
        <p:spPr>
          <a:xfrm>
            <a:off x="8869680" y="3794760"/>
            <a:ext cx="2697480" cy="365760"/>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A2A Bridge</a:t>
            </a:r>
            <a:endParaRPr lang="en-US" sz="1400" dirty="0"/>
          </a:p>
        </p:txBody>
      </p:sp>
      <p:sp>
        <p:nvSpPr>
          <p:cNvPr id="19" name="Text 17"/>
          <p:cNvSpPr/>
          <p:nvPr/>
        </p:nvSpPr>
        <p:spPr>
          <a:xfrm>
            <a:off x="8275320" y="4206240"/>
            <a:ext cx="3291840" cy="457200"/>
          </a:xfrm>
          <a:prstGeom prst="rect">
            <a:avLst/>
          </a:prstGeom>
          <a:noFill/>
          <a:ln/>
        </p:spPr>
        <p:txBody>
          <a:bodyPr wrap="square" lIns="0" tIns="0" rIns="0" bIns="0"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cross-cluster federation · mTLS + signed Agent Card</a:t>
            </a:r>
            <a:endParaRPr lang="en-US" sz="1100" dirty="0"/>
          </a:p>
        </p:txBody>
      </p:sp>
      <p:sp>
        <p:nvSpPr>
          <p:cNvPr id="20" name="Text 18"/>
          <p:cNvSpPr/>
          <p:nvPr/>
        </p:nvSpPr>
        <p:spPr>
          <a:xfrm>
            <a:off x="8275320" y="4617720"/>
            <a:ext cx="3291840" cy="228600"/>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docs/blueprints/03</a:t>
            </a:r>
            <a:endParaRPr lang="en-US" sz="900" dirty="0"/>
          </a:p>
        </p:txBody>
      </p:sp>
      <p:sp>
        <p:nvSpPr>
          <p:cNvPr id="21" name="Shape 19"/>
          <p:cNvSpPr/>
          <p:nvPr/>
        </p:nvSpPr>
        <p:spPr>
          <a:xfrm>
            <a:off x="411480" y="5120640"/>
            <a:ext cx="3657600" cy="1280160"/>
          </a:xfrm>
          <a:prstGeom prst="rect">
            <a:avLst/>
          </a:prstGeom>
          <a:solidFill>
            <a:srgbClr val="FFFFFF"/>
          </a:solidFill>
          <a:ln w="12700">
            <a:solidFill>
              <a:srgbClr val="028090"/>
            </a:solidFill>
            <a:prstDash val="solid"/>
          </a:ln>
        </p:spPr>
      </p:sp>
      <p:sp>
        <p:nvSpPr>
          <p:cNvPr id="22" name="Text 20"/>
          <p:cNvSpPr/>
          <p:nvPr/>
        </p:nvSpPr>
        <p:spPr>
          <a:xfrm>
            <a:off x="594360" y="5257800"/>
            <a:ext cx="548640" cy="365760"/>
          </a:xfrm>
          <a:prstGeom prst="rect">
            <a:avLst/>
          </a:prstGeom>
          <a:noFill/>
          <a:ln/>
        </p:spPr>
        <p:txBody>
          <a:bodyPr wrap="square" lIns="0" tIns="0" rIns="0" bIns="0" rtlCol="0" anchor="ctr"/>
          <a:lstStyle/>
          <a:p>
            <a:pPr indent="0" marL="0">
              <a:buNone/>
            </a:pPr>
            <a:r>
              <a:rPr lang="en-US" sz="1600" b="1" dirty="0">
                <a:solidFill>
                  <a:srgbClr val="028090"/>
                </a:solidFill>
                <a:latin typeface="Consolas" pitchFamily="34" charset="0"/>
                <a:ea typeface="Consolas" pitchFamily="34" charset="-122"/>
                <a:cs typeface="Consolas" pitchFamily="34" charset="-120"/>
              </a:rPr>
              <a:t>04</a:t>
            </a:r>
            <a:endParaRPr lang="en-US" sz="1600" dirty="0"/>
          </a:p>
        </p:txBody>
      </p:sp>
      <p:sp>
        <p:nvSpPr>
          <p:cNvPr id="23" name="Text 21"/>
          <p:cNvSpPr/>
          <p:nvPr/>
        </p:nvSpPr>
        <p:spPr>
          <a:xfrm>
            <a:off x="1188720" y="5257800"/>
            <a:ext cx="2697480" cy="365760"/>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Private Model + ACL</a:t>
            </a:r>
            <a:endParaRPr lang="en-US" sz="1400" dirty="0"/>
          </a:p>
        </p:txBody>
      </p:sp>
      <p:sp>
        <p:nvSpPr>
          <p:cNvPr id="24" name="Text 22"/>
          <p:cNvSpPr/>
          <p:nvPr/>
        </p:nvSpPr>
        <p:spPr>
          <a:xfrm>
            <a:off x="594360" y="5669280"/>
            <a:ext cx="3291840" cy="457200"/>
          </a:xfrm>
          <a:prstGeom prst="rect">
            <a:avLst/>
          </a:prstGeom>
          <a:noFill/>
          <a:ln/>
        </p:spPr>
        <p:txBody>
          <a:bodyPr wrap="square" lIns="0" tIns="0" rIns="0" bIns="0"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BYO inference endpoint · signed allowlist</a:t>
            </a:r>
            <a:endParaRPr lang="en-US" sz="1100" dirty="0"/>
          </a:p>
        </p:txBody>
      </p:sp>
      <p:sp>
        <p:nvSpPr>
          <p:cNvPr id="25" name="Text 23"/>
          <p:cNvSpPr/>
          <p:nvPr/>
        </p:nvSpPr>
        <p:spPr>
          <a:xfrm>
            <a:off x="594360" y="6080760"/>
            <a:ext cx="3291840" cy="228600"/>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docs/blueprints/04</a:t>
            </a:r>
            <a:endParaRPr lang="en-US" sz="900" dirty="0"/>
          </a:p>
        </p:txBody>
      </p:sp>
      <p:sp>
        <p:nvSpPr>
          <p:cNvPr id="26" name="Shape 24"/>
          <p:cNvSpPr/>
          <p:nvPr/>
        </p:nvSpPr>
        <p:spPr>
          <a:xfrm>
            <a:off x="4251960" y="5120640"/>
            <a:ext cx="3657600" cy="1280160"/>
          </a:xfrm>
          <a:prstGeom prst="rect">
            <a:avLst/>
          </a:prstGeom>
          <a:solidFill>
            <a:srgbClr val="FFFFFF"/>
          </a:solidFill>
          <a:ln w="12700">
            <a:solidFill>
              <a:srgbClr val="028090"/>
            </a:solidFill>
            <a:prstDash val="solid"/>
          </a:ln>
        </p:spPr>
      </p:sp>
      <p:sp>
        <p:nvSpPr>
          <p:cNvPr id="27" name="Text 25"/>
          <p:cNvSpPr/>
          <p:nvPr/>
        </p:nvSpPr>
        <p:spPr>
          <a:xfrm>
            <a:off x="4434840" y="5257800"/>
            <a:ext cx="548640" cy="365760"/>
          </a:xfrm>
          <a:prstGeom prst="rect">
            <a:avLst/>
          </a:prstGeom>
          <a:noFill/>
          <a:ln/>
        </p:spPr>
        <p:txBody>
          <a:bodyPr wrap="square" lIns="0" tIns="0" rIns="0" bIns="0" rtlCol="0" anchor="ctr"/>
          <a:lstStyle/>
          <a:p>
            <a:pPr indent="0" marL="0">
              <a:buNone/>
            </a:pPr>
            <a:r>
              <a:rPr lang="en-US" sz="1600" b="1" dirty="0">
                <a:solidFill>
                  <a:srgbClr val="028090"/>
                </a:solidFill>
                <a:latin typeface="Consolas" pitchFamily="34" charset="0"/>
                <a:ea typeface="Consolas" pitchFamily="34" charset="-122"/>
                <a:cs typeface="Consolas" pitchFamily="34" charset="-120"/>
              </a:rPr>
              <a:t>05</a:t>
            </a:r>
            <a:endParaRPr lang="en-US" sz="1600" dirty="0"/>
          </a:p>
        </p:txBody>
      </p:sp>
      <p:sp>
        <p:nvSpPr>
          <p:cNvPr id="28" name="Text 26"/>
          <p:cNvSpPr/>
          <p:nvPr/>
        </p:nvSpPr>
        <p:spPr>
          <a:xfrm>
            <a:off x="5029200" y="5257800"/>
            <a:ext cx="2697480" cy="365760"/>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Approval Channels</a:t>
            </a:r>
            <a:endParaRPr lang="en-US" sz="1400" dirty="0"/>
          </a:p>
        </p:txBody>
      </p:sp>
      <p:sp>
        <p:nvSpPr>
          <p:cNvPr id="29" name="Text 27"/>
          <p:cNvSpPr/>
          <p:nvPr/>
        </p:nvSpPr>
        <p:spPr>
          <a:xfrm>
            <a:off x="4434840" y="5669280"/>
            <a:ext cx="3291840" cy="457200"/>
          </a:xfrm>
          <a:prstGeom prst="rect">
            <a:avLst/>
          </a:prstGeom>
          <a:noFill/>
          <a:ln/>
        </p:spPr>
        <p:txBody>
          <a:bodyPr wrap="square" lIns="0" tIns="0" rIns="0" bIns="0"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Telegram / Slack / Discord per-tool gates</a:t>
            </a:r>
            <a:endParaRPr lang="en-US" sz="1100" dirty="0"/>
          </a:p>
        </p:txBody>
      </p:sp>
      <p:sp>
        <p:nvSpPr>
          <p:cNvPr id="30" name="Text 28"/>
          <p:cNvSpPr/>
          <p:nvPr/>
        </p:nvSpPr>
        <p:spPr>
          <a:xfrm>
            <a:off x="4434840" y="6080760"/>
            <a:ext cx="3291840" cy="228600"/>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docs/blueprints/05</a:t>
            </a:r>
            <a:endParaRPr lang="en-US" sz="900" dirty="0"/>
          </a:p>
        </p:txBody>
      </p:sp>
      <p:sp>
        <p:nvSpPr>
          <p:cNvPr id="31" name="Shape 29"/>
          <p:cNvSpPr/>
          <p:nvPr/>
        </p:nvSpPr>
        <p:spPr>
          <a:xfrm>
            <a:off x="8092440" y="5120640"/>
            <a:ext cx="3657600" cy="1280160"/>
          </a:xfrm>
          <a:prstGeom prst="rect">
            <a:avLst/>
          </a:prstGeom>
          <a:solidFill>
            <a:srgbClr val="FFFFFF"/>
          </a:solidFill>
          <a:ln w="12700">
            <a:solidFill>
              <a:srgbClr val="028090"/>
            </a:solidFill>
            <a:prstDash val="solid"/>
          </a:ln>
        </p:spPr>
      </p:sp>
      <p:sp>
        <p:nvSpPr>
          <p:cNvPr id="32" name="Text 30"/>
          <p:cNvSpPr/>
          <p:nvPr/>
        </p:nvSpPr>
        <p:spPr>
          <a:xfrm>
            <a:off x="8275320" y="5257800"/>
            <a:ext cx="548640" cy="365760"/>
          </a:xfrm>
          <a:prstGeom prst="rect">
            <a:avLst/>
          </a:prstGeom>
          <a:noFill/>
          <a:ln/>
        </p:spPr>
        <p:txBody>
          <a:bodyPr wrap="square" lIns="0" tIns="0" rIns="0" bIns="0" rtlCol="0" anchor="ctr"/>
          <a:lstStyle/>
          <a:p>
            <a:pPr indent="0" marL="0">
              <a:buNone/>
            </a:pPr>
            <a:r>
              <a:rPr lang="en-US" sz="1600" b="1" dirty="0">
                <a:solidFill>
                  <a:srgbClr val="028090"/>
                </a:solidFill>
                <a:latin typeface="Consolas" pitchFamily="34" charset="0"/>
                <a:ea typeface="Consolas" pitchFamily="34" charset="-122"/>
                <a:cs typeface="Consolas" pitchFamily="34" charset="-120"/>
              </a:rPr>
              <a:t>06</a:t>
            </a:r>
            <a:endParaRPr lang="en-US" sz="1600" dirty="0"/>
          </a:p>
        </p:txBody>
      </p:sp>
      <p:sp>
        <p:nvSpPr>
          <p:cNvPr id="33" name="Text 31"/>
          <p:cNvSpPr/>
          <p:nvPr/>
        </p:nvSpPr>
        <p:spPr>
          <a:xfrm>
            <a:off x="8869680" y="5257800"/>
            <a:ext cx="2697480" cy="365760"/>
          </a:xfrm>
          <a:prstGeom prst="rect">
            <a:avLst/>
          </a:prstGeom>
          <a:noFill/>
          <a:ln/>
        </p:spPr>
        <p:txBody>
          <a:bodyPr wrap="square" lIns="0" tIns="0" rIns="0" bIns="0"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Sovereign / Air-gap</a:t>
            </a:r>
            <a:endParaRPr lang="en-US" sz="1400" dirty="0"/>
          </a:p>
        </p:txBody>
      </p:sp>
      <p:sp>
        <p:nvSpPr>
          <p:cNvPr id="34" name="Text 32"/>
          <p:cNvSpPr/>
          <p:nvPr/>
        </p:nvSpPr>
        <p:spPr>
          <a:xfrm>
            <a:off x="8275320" y="5669280"/>
            <a:ext cx="3291840" cy="457200"/>
          </a:xfrm>
          <a:prstGeom prst="rect">
            <a:avLst/>
          </a:prstGeom>
          <a:noFill/>
          <a:ln/>
        </p:spPr>
        <p:txBody>
          <a:bodyPr wrap="square" lIns="0" tIns="0" rIns="0" bIns="0"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Kata + SEV-SNP · attestation-gated · zero-egress</a:t>
            </a:r>
            <a:endParaRPr lang="en-US" sz="1100" dirty="0"/>
          </a:p>
        </p:txBody>
      </p:sp>
      <p:sp>
        <p:nvSpPr>
          <p:cNvPr id="35" name="Text 33"/>
          <p:cNvSpPr/>
          <p:nvPr/>
        </p:nvSpPr>
        <p:spPr>
          <a:xfrm>
            <a:off x="8275320" y="6080760"/>
            <a:ext cx="3291840" cy="228600"/>
          </a:xfrm>
          <a:prstGeom prst="rect">
            <a:avLst/>
          </a:prstGeom>
          <a:noFill/>
          <a:ln/>
        </p:spPr>
        <p:txBody>
          <a:bodyPr wrap="square" lIns="0" tIns="0" rIns="0" bIns="0" rtlCol="0" anchor="ctr"/>
          <a:lstStyle/>
          <a:p>
            <a:pPr indent="0" marL="0">
              <a:buNone/>
            </a:pPr>
            <a:r>
              <a:rPr lang="en-US" sz="900" dirty="0">
                <a:solidFill>
                  <a:srgbClr val="AFB3BD"/>
                </a:solidFill>
                <a:latin typeface="Consolas" pitchFamily="34" charset="0"/>
                <a:ea typeface="Consolas" pitchFamily="34" charset="-122"/>
                <a:cs typeface="Consolas" pitchFamily="34" charset="-120"/>
              </a:rPr>
              <a:t>docs/blueprints/06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17</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§8.1 · PATTERNS · RUNTIMES</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200" b="1" dirty="0">
                <a:solidFill>
                  <a:srgbClr val="1A1A1A"/>
                </a:solidFill>
                <a:latin typeface="Helvetica" pitchFamily="34" charset="0"/>
                <a:ea typeface="Helvetica" pitchFamily="34" charset="-122"/>
                <a:cs typeface="Helvetica" pitchFamily="34" charset="-120"/>
              </a:rPr>
              <a:t>Eight wired.  Bring your own for the ninth.</a:t>
            </a:r>
            <a:endParaRPr lang="en-US" sz="3200" dirty="0"/>
          </a:p>
        </p:txBody>
      </p:sp>
      <p:sp>
        <p:nvSpPr>
          <p:cNvPr id="5" name="Text 3"/>
          <p:cNvSpPr/>
          <p:nvPr/>
        </p:nvSpPr>
        <p:spPr>
          <a:xfrm>
            <a:off x="640080" y="2240280"/>
            <a:ext cx="10881360" cy="100584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WIRED_KINDS in cli/src/runtime.ts is the single source of truth.  Adding a new runtime: new image, new entrypoint, new controller branch, new CRD variant — call it a few days, not a few weeks.</a:t>
            </a:r>
            <a:endParaRPr lang="en-US" sz="1800" dirty="0"/>
          </a:p>
        </p:txBody>
      </p:sp>
      <p:sp>
        <p:nvSpPr>
          <p:cNvPr id="6" name="Shape 4"/>
          <p:cNvSpPr/>
          <p:nvPr/>
        </p:nvSpPr>
        <p:spPr>
          <a:xfrm>
            <a:off x="571500" y="3657600"/>
            <a:ext cx="2651760" cy="914400"/>
          </a:xfrm>
          <a:prstGeom prst="rect">
            <a:avLst/>
          </a:prstGeom>
          <a:solidFill>
            <a:srgbClr val="FFFFFF"/>
          </a:solidFill>
          <a:ln w="12700">
            <a:solidFill>
              <a:srgbClr val="028090"/>
            </a:solidFill>
            <a:prstDash val="solid"/>
          </a:ln>
        </p:spPr>
      </p:sp>
      <p:sp>
        <p:nvSpPr>
          <p:cNvPr id="7" name="Text 5"/>
          <p:cNvSpPr/>
          <p:nvPr/>
        </p:nvSpPr>
        <p:spPr>
          <a:xfrm>
            <a:off x="754380" y="379476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OpenClaw</a:t>
            </a:r>
            <a:endParaRPr lang="en-US" sz="1500" dirty="0"/>
          </a:p>
        </p:txBody>
      </p:sp>
      <p:sp>
        <p:nvSpPr>
          <p:cNvPr id="8" name="Text 6"/>
          <p:cNvSpPr/>
          <p:nvPr/>
        </p:nvSpPr>
        <p:spPr>
          <a:xfrm>
            <a:off x="754380" y="416052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TypeScript · 24 plugin tools · channels</a:t>
            </a:r>
            <a:endParaRPr lang="en-US" sz="1100" dirty="0"/>
          </a:p>
        </p:txBody>
      </p:sp>
      <p:sp>
        <p:nvSpPr>
          <p:cNvPr id="9" name="Shape 7"/>
          <p:cNvSpPr/>
          <p:nvPr/>
        </p:nvSpPr>
        <p:spPr>
          <a:xfrm>
            <a:off x="3360420" y="3657600"/>
            <a:ext cx="2651760" cy="914400"/>
          </a:xfrm>
          <a:prstGeom prst="rect">
            <a:avLst/>
          </a:prstGeom>
          <a:solidFill>
            <a:srgbClr val="FFFFFF"/>
          </a:solidFill>
          <a:ln w="12700">
            <a:solidFill>
              <a:srgbClr val="028090"/>
            </a:solidFill>
            <a:prstDash val="solid"/>
          </a:ln>
        </p:spPr>
      </p:sp>
      <p:sp>
        <p:nvSpPr>
          <p:cNvPr id="10" name="Text 8"/>
          <p:cNvSpPr/>
          <p:nvPr/>
        </p:nvSpPr>
        <p:spPr>
          <a:xfrm>
            <a:off x="3543300" y="379476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Hermes</a:t>
            </a:r>
            <a:endParaRPr lang="en-US" sz="1500" dirty="0"/>
          </a:p>
        </p:txBody>
      </p:sp>
      <p:sp>
        <p:nvSpPr>
          <p:cNvPr id="11" name="Text 9"/>
          <p:cNvSpPr/>
          <p:nvPr/>
        </p:nvSpPr>
        <p:spPr>
          <a:xfrm>
            <a:off x="3543300" y="416052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Python 3.11+ · 15 plugin tools · 20+ Hermes channels</a:t>
            </a:r>
            <a:endParaRPr lang="en-US" sz="1100" dirty="0"/>
          </a:p>
        </p:txBody>
      </p:sp>
      <p:sp>
        <p:nvSpPr>
          <p:cNvPr id="12" name="Shape 10"/>
          <p:cNvSpPr/>
          <p:nvPr/>
        </p:nvSpPr>
        <p:spPr>
          <a:xfrm>
            <a:off x="6149340" y="3657600"/>
            <a:ext cx="2651760" cy="914400"/>
          </a:xfrm>
          <a:prstGeom prst="rect">
            <a:avLst/>
          </a:prstGeom>
          <a:solidFill>
            <a:srgbClr val="FFFFFF"/>
          </a:solidFill>
          <a:ln w="12700">
            <a:solidFill>
              <a:srgbClr val="028090"/>
            </a:solidFill>
            <a:prstDash val="solid"/>
          </a:ln>
        </p:spPr>
      </p:sp>
      <p:sp>
        <p:nvSpPr>
          <p:cNvPr id="13" name="Text 11"/>
          <p:cNvSpPr/>
          <p:nvPr/>
        </p:nvSpPr>
        <p:spPr>
          <a:xfrm>
            <a:off x="6332220" y="379476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Anthropic</a:t>
            </a:r>
            <a:endParaRPr lang="en-US" sz="1500" dirty="0"/>
          </a:p>
        </p:txBody>
      </p:sp>
      <p:sp>
        <p:nvSpPr>
          <p:cNvPr id="14" name="Text 12"/>
          <p:cNvSpPr/>
          <p:nvPr/>
        </p:nvSpPr>
        <p:spPr>
          <a:xfrm>
            <a:off x="6332220" y="416052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Claude SDK · Python · base_url loopback</a:t>
            </a:r>
            <a:endParaRPr lang="en-US" sz="1100" dirty="0"/>
          </a:p>
        </p:txBody>
      </p:sp>
      <p:sp>
        <p:nvSpPr>
          <p:cNvPr id="15" name="Shape 13"/>
          <p:cNvSpPr/>
          <p:nvPr/>
        </p:nvSpPr>
        <p:spPr>
          <a:xfrm>
            <a:off x="8938260" y="3657600"/>
            <a:ext cx="2651760" cy="914400"/>
          </a:xfrm>
          <a:prstGeom prst="rect">
            <a:avLst/>
          </a:prstGeom>
          <a:solidFill>
            <a:srgbClr val="FFFFFF"/>
          </a:solidFill>
          <a:ln w="12700">
            <a:solidFill>
              <a:srgbClr val="028090"/>
            </a:solidFill>
            <a:prstDash val="solid"/>
          </a:ln>
        </p:spPr>
      </p:sp>
      <p:sp>
        <p:nvSpPr>
          <p:cNvPr id="16" name="Text 14"/>
          <p:cNvSpPr/>
          <p:nvPr/>
        </p:nvSpPr>
        <p:spPr>
          <a:xfrm>
            <a:off x="9121140" y="379476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MAF</a:t>
            </a:r>
            <a:endParaRPr lang="en-US" sz="1500" dirty="0"/>
          </a:p>
        </p:txBody>
      </p:sp>
      <p:sp>
        <p:nvSpPr>
          <p:cNvPr id="17" name="Text 15"/>
          <p:cNvSpPr/>
          <p:nvPr/>
        </p:nvSpPr>
        <p:spPr>
          <a:xfrm>
            <a:off x="9121140" y="416052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Microsoft Agent Framework · Python wired today</a:t>
            </a:r>
            <a:endParaRPr lang="en-US" sz="1100" dirty="0"/>
          </a:p>
        </p:txBody>
      </p:sp>
      <p:sp>
        <p:nvSpPr>
          <p:cNvPr id="18" name="Shape 16"/>
          <p:cNvSpPr/>
          <p:nvPr/>
        </p:nvSpPr>
        <p:spPr>
          <a:xfrm>
            <a:off x="571500" y="4709160"/>
            <a:ext cx="2651760" cy="914400"/>
          </a:xfrm>
          <a:prstGeom prst="rect">
            <a:avLst/>
          </a:prstGeom>
          <a:solidFill>
            <a:srgbClr val="FFFFFF"/>
          </a:solidFill>
          <a:ln w="12700">
            <a:solidFill>
              <a:srgbClr val="028090"/>
            </a:solidFill>
            <a:prstDash val="solid"/>
          </a:ln>
        </p:spPr>
      </p:sp>
      <p:sp>
        <p:nvSpPr>
          <p:cNvPr id="19" name="Text 17"/>
          <p:cNvSpPr/>
          <p:nvPr/>
        </p:nvSpPr>
        <p:spPr>
          <a:xfrm>
            <a:off x="754380" y="484632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LangGraph py</a:t>
            </a:r>
            <a:endParaRPr lang="en-US" sz="1500" dirty="0"/>
          </a:p>
        </p:txBody>
      </p:sp>
      <p:sp>
        <p:nvSpPr>
          <p:cNvPr id="20" name="Text 18"/>
          <p:cNvSpPr/>
          <p:nvPr/>
        </p:nvSpPr>
        <p:spPr>
          <a:xfrm>
            <a:off x="754380" y="521208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Python · graph-orchestrated</a:t>
            </a:r>
            <a:endParaRPr lang="en-US" sz="1100" dirty="0"/>
          </a:p>
        </p:txBody>
      </p:sp>
      <p:sp>
        <p:nvSpPr>
          <p:cNvPr id="21" name="Shape 19"/>
          <p:cNvSpPr/>
          <p:nvPr/>
        </p:nvSpPr>
        <p:spPr>
          <a:xfrm>
            <a:off x="3360420" y="4709160"/>
            <a:ext cx="2651760" cy="914400"/>
          </a:xfrm>
          <a:prstGeom prst="rect">
            <a:avLst/>
          </a:prstGeom>
          <a:solidFill>
            <a:srgbClr val="FFFFFF"/>
          </a:solidFill>
          <a:ln w="12700">
            <a:solidFill>
              <a:srgbClr val="028090"/>
            </a:solidFill>
            <a:prstDash val="solid"/>
          </a:ln>
        </p:spPr>
      </p:sp>
      <p:sp>
        <p:nvSpPr>
          <p:cNvPr id="22" name="Text 20"/>
          <p:cNvSpPr/>
          <p:nvPr/>
        </p:nvSpPr>
        <p:spPr>
          <a:xfrm>
            <a:off x="3543300" y="484632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LangGraph ts</a:t>
            </a:r>
            <a:endParaRPr lang="en-US" sz="1500" dirty="0"/>
          </a:p>
        </p:txBody>
      </p:sp>
      <p:sp>
        <p:nvSpPr>
          <p:cNvPr id="23" name="Text 21"/>
          <p:cNvSpPr/>
          <p:nvPr/>
        </p:nvSpPr>
        <p:spPr>
          <a:xfrm>
            <a:off x="3543300" y="521208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TypeScript · graph-orchestrated</a:t>
            </a:r>
            <a:endParaRPr lang="en-US" sz="1100" dirty="0"/>
          </a:p>
        </p:txBody>
      </p:sp>
      <p:sp>
        <p:nvSpPr>
          <p:cNvPr id="24" name="Shape 22"/>
          <p:cNvSpPr/>
          <p:nvPr/>
        </p:nvSpPr>
        <p:spPr>
          <a:xfrm>
            <a:off x="6149340" y="4709160"/>
            <a:ext cx="2651760" cy="914400"/>
          </a:xfrm>
          <a:prstGeom prst="rect">
            <a:avLst/>
          </a:prstGeom>
          <a:solidFill>
            <a:srgbClr val="FFFFFF"/>
          </a:solidFill>
          <a:ln w="12700">
            <a:solidFill>
              <a:srgbClr val="028090"/>
            </a:solidFill>
            <a:prstDash val="solid"/>
          </a:ln>
        </p:spPr>
      </p:sp>
      <p:sp>
        <p:nvSpPr>
          <p:cNvPr id="25" name="Text 23"/>
          <p:cNvSpPr/>
          <p:nvPr/>
        </p:nvSpPr>
        <p:spPr>
          <a:xfrm>
            <a:off x="6332220" y="484632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Pydantic AI</a:t>
            </a:r>
            <a:endParaRPr lang="en-US" sz="1500" dirty="0"/>
          </a:p>
        </p:txBody>
      </p:sp>
      <p:sp>
        <p:nvSpPr>
          <p:cNvPr id="26" name="Text 24"/>
          <p:cNvSpPr/>
          <p:nvPr/>
        </p:nvSpPr>
        <p:spPr>
          <a:xfrm>
            <a:off x="6332220" y="521208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Python · typed-tool-call DSL</a:t>
            </a:r>
            <a:endParaRPr lang="en-US" sz="1100" dirty="0"/>
          </a:p>
        </p:txBody>
      </p:sp>
      <p:sp>
        <p:nvSpPr>
          <p:cNvPr id="27" name="Shape 25"/>
          <p:cNvSpPr/>
          <p:nvPr/>
        </p:nvSpPr>
        <p:spPr>
          <a:xfrm>
            <a:off x="8938260" y="4709160"/>
            <a:ext cx="2651760" cy="914400"/>
          </a:xfrm>
          <a:prstGeom prst="rect">
            <a:avLst/>
          </a:prstGeom>
          <a:solidFill>
            <a:srgbClr val="FFFFFF"/>
          </a:solidFill>
          <a:ln w="12700">
            <a:solidFill>
              <a:srgbClr val="028090"/>
            </a:solidFill>
            <a:prstDash val="solid"/>
          </a:ln>
        </p:spPr>
      </p:sp>
      <p:sp>
        <p:nvSpPr>
          <p:cNvPr id="28" name="Text 26"/>
          <p:cNvSpPr/>
          <p:nvPr/>
        </p:nvSpPr>
        <p:spPr>
          <a:xfrm>
            <a:off x="9121140" y="4846320"/>
            <a:ext cx="2286000" cy="365760"/>
          </a:xfrm>
          <a:prstGeom prst="rect">
            <a:avLst/>
          </a:prstGeom>
          <a:noFill/>
          <a:ln/>
        </p:spPr>
        <p:txBody>
          <a:bodyPr wrap="square" lIns="0" tIns="0" rIns="0" bIns="0" rtlCol="0" anchor="ctr"/>
          <a:lstStyle/>
          <a:p>
            <a:pPr indent="0" marL="0">
              <a:buNone/>
            </a:pPr>
            <a:r>
              <a:rPr lang="en-US" sz="1500" b="1" dirty="0">
                <a:solidFill>
                  <a:srgbClr val="1A1A1A"/>
                </a:solidFill>
                <a:latin typeface="Helvetica" pitchFamily="34" charset="0"/>
                <a:ea typeface="Helvetica" pitchFamily="34" charset="-122"/>
                <a:cs typeface="Helvetica" pitchFamily="34" charset="-120"/>
              </a:rPr>
              <a:t>OpenAI Agents</a:t>
            </a:r>
            <a:endParaRPr lang="en-US" sz="1500" dirty="0"/>
          </a:p>
        </p:txBody>
      </p:sp>
      <p:sp>
        <p:nvSpPr>
          <p:cNvPr id="29" name="Text 27"/>
          <p:cNvSpPr/>
          <p:nvPr/>
        </p:nvSpPr>
        <p:spPr>
          <a:xfrm>
            <a:off x="9121140" y="5212080"/>
            <a:ext cx="2286000" cy="365760"/>
          </a:xfrm>
          <a:prstGeom prst="rect">
            <a:avLst/>
          </a:prstGeom>
          <a:noFill/>
          <a:ln/>
        </p:spPr>
        <p:txBody>
          <a:bodyPr wrap="square" lIns="0" tIns="0" rIns="0" bIns="0" rtlCol="0" anchor="ctr"/>
          <a:lstStyle/>
          <a:p>
            <a:pPr indent="0" marL="0">
              <a:buNone/>
            </a:pPr>
            <a:r>
              <a:rPr lang="en-US" sz="1100" dirty="0">
                <a:solidFill>
                  <a:srgbClr val="6E7681"/>
                </a:solidFill>
                <a:latin typeface="Helvetica" pitchFamily="34" charset="0"/>
                <a:ea typeface="Helvetica" pitchFamily="34" charset="-122"/>
                <a:cs typeface="Helvetica" pitchFamily="34" charset="-120"/>
              </a:rPr>
              <a:t>Official OpenAI Agents SDK</a:t>
            </a:r>
            <a:endParaRPr lang="en-US" sz="1100" dirty="0"/>
          </a:p>
        </p:txBody>
      </p:sp>
      <p:sp>
        <p:nvSpPr>
          <p:cNvPr id="30" name="Text 28"/>
          <p:cNvSpPr/>
          <p:nvPr/>
        </p:nvSpPr>
        <p:spPr>
          <a:xfrm>
            <a:off x="640080" y="6400800"/>
            <a:ext cx="10881360" cy="274320"/>
          </a:xfrm>
          <a:prstGeom prst="rect">
            <a:avLst/>
          </a:prstGeom>
          <a:noFill/>
          <a:ln/>
        </p:spPr>
        <p:txBody>
          <a:bodyPr wrap="square" lIns="0" tIns="0" rIns="0" bIns="0" rtlCol="0" anchor="ctr"/>
          <a:lstStyle/>
          <a:p>
            <a:pPr algn="l" indent="0" marL="0">
              <a:buNone/>
            </a:pPr>
            <a:r>
              <a:rPr lang="en-US" sz="1000" dirty="0">
                <a:solidFill>
                  <a:srgbClr val="AFB3BD"/>
                </a:solidFill>
                <a:latin typeface="Consolas" pitchFamily="34" charset="0"/>
                <a:ea typeface="Consolas" pitchFamily="34" charset="-122"/>
                <a:cs typeface="Consolas" pitchFamily="34" charset="-120"/>
              </a:rPr>
              <a:t>cli/src/runtime.ts · controller/src/reconciler/runtime.rs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18</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§9 · UPSTREAM</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3000" b="1" dirty="0">
                <a:solidFill>
                  <a:srgbClr val="1A1A1A"/>
                </a:solidFill>
                <a:latin typeface="Helvetica" pitchFamily="34" charset="0"/>
                <a:ea typeface="Helvetica" pitchFamily="34" charset="-122"/>
                <a:cs typeface="Helvetica" pitchFamily="34" charset="-120"/>
              </a:rPr>
              <a:t>Built on the Microsoft Agent Governance Toolkit.</a:t>
            </a:r>
            <a:endParaRPr lang="en-US" sz="3000" dirty="0"/>
          </a:p>
        </p:txBody>
      </p:sp>
      <p:sp>
        <p:nvSpPr>
          <p:cNvPr id="5" name="Text 3"/>
          <p:cNvSpPr/>
          <p:nvPr/>
        </p:nvSpPr>
        <p:spPr>
          <a:xfrm>
            <a:off x="640080" y="2286000"/>
            <a:ext cx="10881360" cy="146304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AGT ships the protocol and the libraries.  kars adds the Kubernetes-native runtime, the per-sandbox governance data plane, and the operator-facing UX.  Patches flow back upstream — we ship from a pinned branch (vendor/agt/pin.json) so the wire format stays consistent edge-to-edge.</a:t>
            </a:r>
            <a:endParaRPr lang="en-US" sz="1800" dirty="0"/>
          </a:p>
        </p:txBody>
      </p:sp>
      <p:sp>
        <p:nvSpPr>
          <p:cNvPr id="6" name="Shape 4"/>
          <p:cNvSpPr/>
          <p:nvPr/>
        </p:nvSpPr>
        <p:spPr>
          <a:xfrm>
            <a:off x="640080" y="4572000"/>
            <a:ext cx="1097280" cy="0"/>
          </a:xfrm>
          <a:prstGeom prst="line">
            <a:avLst/>
          </a:prstGeom>
          <a:noFill/>
          <a:ln w="19050">
            <a:solidFill>
              <a:srgbClr val="028090"/>
            </a:solidFill>
            <a:prstDash val="solid"/>
          </a:ln>
        </p:spPr>
      </p:sp>
      <p:sp>
        <p:nvSpPr>
          <p:cNvPr id="7" name="Text 5"/>
          <p:cNvSpPr/>
          <p:nvPr/>
        </p:nvSpPr>
        <p:spPr>
          <a:xfrm>
            <a:off x="64008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PR #2772</a:t>
            </a:r>
            <a:endParaRPr lang="en-US" sz="1300" dirty="0"/>
          </a:p>
        </p:txBody>
      </p:sp>
      <p:sp>
        <p:nvSpPr>
          <p:cNvPr id="8" name="Text 6"/>
          <p:cNvSpPr/>
          <p:nvPr/>
        </p:nvSpPr>
        <p:spPr>
          <a:xfrm>
            <a:off x="64008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Proof-of-possession on /ws connect frames</a:t>
            </a:r>
            <a:endParaRPr lang="en-US" sz="1300" dirty="0"/>
          </a:p>
        </p:txBody>
      </p:sp>
      <p:sp>
        <p:nvSpPr>
          <p:cNvPr id="9" name="Shape 7"/>
          <p:cNvSpPr/>
          <p:nvPr/>
        </p:nvSpPr>
        <p:spPr>
          <a:xfrm>
            <a:off x="3451860" y="4572000"/>
            <a:ext cx="1097280" cy="0"/>
          </a:xfrm>
          <a:prstGeom prst="line">
            <a:avLst/>
          </a:prstGeom>
          <a:noFill/>
          <a:ln w="19050">
            <a:solidFill>
              <a:srgbClr val="028090"/>
            </a:solidFill>
            <a:prstDash val="solid"/>
          </a:ln>
        </p:spPr>
      </p:sp>
      <p:sp>
        <p:nvSpPr>
          <p:cNvPr id="10" name="Text 8"/>
          <p:cNvSpPr/>
          <p:nvPr/>
        </p:nvSpPr>
        <p:spPr>
          <a:xfrm>
            <a:off x="345186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pending PR</a:t>
            </a:r>
            <a:endParaRPr lang="en-US" sz="1300" dirty="0"/>
          </a:p>
        </p:txBody>
      </p:sp>
      <p:sp>
        <p:nvSpPr>
          <p:cNvPr id="11" name="Text 9"/>
          <p:cNvSpPr/>
          <p:nvPr/>
        </p:nvSpPr>
        <p:spPr>
          <a:xfrm>
            <a:off x="345186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X3DH KDF spec compliance</a:t>
            </a:r>
            <a:endParaRPr lang="en-US" sz="1300" dirty="0"/>
          </a:p>
        </p:txBody>
      </p:sp>
      <p:sp>
        <p:nvSpPr>
          <p:cNvPr id="12" name="Shape 10"/>
          <p:cNvSpPr/>
          <p:nvPr/>
        </p:nvSpPr>
        <p:spPr>
          <a:xfrm>
            <a:off x="6263640" y="4572000"/>
            <a:ext cx="1097280" cy="0"/>
          </a:xfrm>
          <a:prstGeom prst="line">
            <a:avLst/>
          </a:prstGeom>
          <a:noFill/>
          <a:ln w="19050">
            <a:solidFill>
              <a:srgbClr val="028090"/>
            </a:solidFill>
            <a:prstDash val="solid"/>
          </a:ln>
        </p:spPr>
      </p:sp>
      <p:sp>
        <p:nvSpPr>
          <p:cNvPr id="13" name="Text 11"/>
          <p:cNvSpPr/>
          <p:nvPr/>
        </p:nvSpPr>
        <p:spPr>
          <a:xfrm>
            <a:off x="626364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landed</a:t>
            </a:r>
            <a:endParaRPr lang="en-US" sz="1300" dirty="0"/>
          </a:p>
        </p:txBody>
      </p:sp>
      <p:sp>
        <p:nvSpPr>
          <p:cNvPr id="14" name="Text 12"/>
          <p:cNvSpPr/>
          <p:nvPr/>
        </p:nvSpPr>
        <p:spPr>
          <a:xfrm>
            <a:off x="626364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Multiple Python MeshClient compat fixes</a:t>
            </a:r>
            <a:endParaRPr lang="en-US" sz="1300" dirty="0"/>
          </a:p>
        </p:txBody>
      </p:sp>
      <p:sp>
        <p:nvSpPr>
          <p:cNvPr id="15" name="Shape 13"/>
          <p:cNvSpPr/>
          <p:nvPr/>
        </p:nvSpPr>
        <p:spPr>
          <a:xfrm>
            <a:off x="9075420" y="4572000"/>
            <a:ext cx="1097280" cy="0"/>
          </a:xfrm>
          <a:prstGeom prst="line">
            <a:avLst/>
          </a:prstGeom>
          <a:noFill/>
          <a:ln w="19050">
            <a:solidFill>
              <a:srgbClr val="028090"/>
            </a:solidFill>
            <a:prstDash val="solid"/>
          </a:ln>
        </p:spPr>
      </p:sp>
      <p:sp>
        <p:nvSpPr>
          <p:cNvPr id="16" name="Text 14"/>
          <p:cNvSpPr/>
          <p:nvPr/>
        </p:nvSpPr>
        <p:spPr>
          <a:xfrm>
            <a:off x="9075420" y="4663440"/>
            <a:ext cx="2446020" cy="365760"/>
          </a:xfrm>
          <a:prstGeom prst="rect">
            <a:avLst/>
          </a:prstGeom>
          <a:noFill/>
          <a:ln/>
        </p:spPr>
        <p:txBody>
          <a:bodyPr wrap="square" lIns="0" tIns="0" rIns="0" bIns="0" rtlCol="0" anchor="ctr"/>
          <a:lstStyle/>
          <a:p>
            <a:pPr indent="0" marL="0">
              <a:buNone/>
            </a:pPr>
            <a:r>
              <a:rPr lang="en-US" sz="1300" dirty="0">
                <a:solidFill>
                  <a:srgbClr val="028090"/>
                </a:solidFill>
                <a:latin typeface="Consolas" pitchFamily="34" charset="0"/>
                <a:ea typeface="Consolas" pitchFamily="34" charset="-122"/>
                <a:cs typeface="Consolas" pitchFamily="34" charset="-120"/>
              </a:rPr>
              <a:t>test corpus</a:t>
            </a:r>
            <a:endParaRPr lang="en-US" sz="1300" dirty="0"/>
          </a:p>
        </p:txBody>
      </p:sp>
      <p:sp>
        <p:nvSpPr>
          <p:cNvPr id="17" name="Text 15"/>
          <p:cNvSpPr/>
          <p:nvPr/>
        </p:nvSpPr>
        <p:spPr>
          <a:xfrm>
            <a:off x="9075420" y="5074920"/>
            <a:ext cx="2446020" cy="1280160"/>
          </a:xfrm>
          <a:prstGeom prst="rect">
            <a:avLst/>
          </a:prstGeom>
          <a:noFill/>
          <a:ln/>
        </p:spPr>
        <p:txBody>
          <a:bodyPr wrap="square" lIns="0" tIns="0" rIns="0" bIns="0" rtlCol="0" anchor="ctr"/>
          <a:lstStyle/>
          <a:p>
            <a:pPr indent="0" marL="0">
              <a:spcAft>
                <a:spcPts val="400"/>
              </a:spcAft>
              <a:buNone/>
            </a:pPr>
            <a:r>
              <a:rPr lang="en-US" sz="1300" dirty="0">
                <a:solidFill>
                  <a:srgbClr val="1A1A1A"/>
                </a:solidFill>
                <a:latin typeface="Helvetica" pitchFamily="34" charset="0"/>
                <a:ea typeface="Helvetica" pitchFamily="34" charset="-122"/>
                <a:cs typeface="Helvetica" pitchFamily="34" charset="-120"/>
              </a:rPr>
              <a:t>Cross-runtime wire-format byte equivalence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19</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§10 · NEXT</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4200" b="1" dirty="0">
                <a:solidFill>
                  <a:srgbClr val="1A1A1A"/>
                </a:solidFill>
                <a:latin typeface="Helvetica" pitchFamily="34" charset="0"/>
                <a:ea typeface="Helvetica" pitchFamily="34" charset="-122"/>
                <a:cs typeface="Helvetica" pitchFamily="34" charset="-120"/>
              </a:rPr>
              <a:t>What becomes possible.</a:t>
            </a:r>
            <a:endParaRPr lang="en-US" sz="4200" dirty="0"/>
          </a:p>
        </p:txBody>
      </p:sp>
      <p:sp>
        <p:nvSpPr>
          <p:cNvPr id="5" name="Text 3"/>
          <p:cNvSpPr/>
          <p:nvPr/>
        </p:nvSpPr>
        <p:spPr>
          <a:xfrm>
            <a:off x="640080" y="2240280"/>
            <a:ext cx="10881360" cy="1005840"/>
          </a:xfrm>
          <a:prstGeom prst="rect">
            <a:avLst/>
          </a:prstGeom>
          <a:noFill/>
          <a:ln/>
        </p:spPr>
        <p:txBody>
          <a:bodyPr wrap="square" lIns="0" tIns="0" rIns="0" bIns="0" rtlCol="0" anchor="t"/>
          <a:lstStyle/>
          <a:p>
            <a:pPr algn="l" indent="0" marL="0">
              <a:spcAft>
                <a:spcPts val="800"/>
              </a:spcAft>
              <a:buNone/>
            </a:pPr>
            <a:r>
              <a:rPr lang="en-US" sz="1800" dirty="0">
                <a:solidFill>
                  <a:srgbClr val="1A1A1A"/>
                </a:solidFill>
                <a:latin typeface="Helvetica" pitchFamily="34" charset="0"/>
                <a:ea typeface="Helvetica" pitchFamily="34" charset="-122"/>
                <a:cs typeface="Helvetica" pitchFamily="34" charset="-120"/>
              </a:rPr>
              <a:t>Four shipping targets.  Each one tightens the loop between what the operator declares and what the cluster delivers.</a:t>
            </a:r>
            <a:endParaRPr lang="en-US" sz="1800" dirty="0"/>
          </a:p>
        </p:txBody>
      </p:sp>
      <p:sp>
        <p:nvSpPr>
          <p:cNvPr id="6" name="Text 4"/>
          <p:cNvSpPr/>
          <p:nvPr/>
        </p:nvSpPr>
        <p:spPr>
          <a:xfrm>
            <a:off x="640080" y="3383280"/>
            <a:ext cx="2103120" cy="320040"/>
          </a:xfrm>
          <a:prstGeom prst="rect">
            <a:avLst/>
          </a:prstGeom>
          <a:noFill/>
          <a:ln/>
        </p:spPr>
        <p:txBody>
          <a:bodyPr wrap="square" lIns="0" tIns="0" rIns="0" bIns="0" rtlCol="0" anchor="t"/>
          <a:lstStyle/>
          <a:p>
            <a:pPr indent="0" marL="0">
              <a:buNone/>
            </a:pPr>
            <a:r>
              <a:rPr lang="en-US" sz="1300" dirty="0">
                <a:solidFill>
                  <a:srgbClr val="028090"/>
                </a:solidFill>
                <a:latin typeface="Consolas" pitchFamily="34" charset="0"/>
                <a:ea typeface="Consolas" pitchFamily="34" charset="-122"/>
                <a:cs typeface="Consolas" pitchFamily="34" charset="-120"/>
              </a:rPr>
              <a:t>Hermes Act 2</a:t>
            </a:r>
            <a:endParaRPr lang="en-US" sz="1300" dirty="0"/>
          </a:p>
        </p:txBody>
      </p:sp>
      <p:sp>
        <p:nvSpPr>
          <p:cNvPr id="7" name="Text 5"/>
          <p:cNvSpPr/>
          <p:nvPr/>
        </p:nvSpPr>
        <p:spPr>
          <a:xfrm>
            <a:off x="2834640" y="3383280"/>
            <a:ext cx="8686800" cy="320040"/>
          </a:xfrm>
          <a:prstGeom prst="rect">
            <a:avLst/>
          </a:prstGeom>
          <a:noFill/>
          <a:ln/>
        </p:spPr>
        <p:txBody>
          <a:bodyPr wrap="square" lIns="0" tIns="0" rIns="0" bIns="0" rtlCol="0" anchor="t"/>
          <a:lstStyle/>
          <a:p>
            <a:pPr indent="0" marL="0">
              <a:buNone/>
            </a:pPr>
            <a:r>
              <a:rPr lang="en-US" sz="1500" b="1" dirty="0">
                <a:solidFill>
                  <a:srgbClr val="1A1A1A"/>
                </a:solidFill>
                <a:latin typeface="Helvetica" pitchFamily="34" charset="0"/>
                <a:ea typeface="Helvetica" pitchFamily="34" charset="-122"/>
                <a:cs typeface="Helvetica" pitchFamily="34" charset="-120"/>
              </a:rPr>
              <a:t>Every runtime ships with mesh on day one</a:t>
            </a:r>
            <a:endParaRPr lang="en-US" sz="1500" dirty="0"/>
          </a:p>
        </p:txBody>
      </p:sp>
      <p:sp>
        <p:nvSpPr>
          <p:cNvPr id="8" name="Text 6"/>
          <p:cNvSpPr/>
          <p:nvPr/>
        </p:nvSpPr>
        <p:spPr>
          <a:xfrm>
            <a:off x="2834640" y="3703320"/>
            <a:ext cx="8686800" cy="320040"/>
          </a:xfrm>
          <a:prstGeom prst="rect">
            <a:avLst/>
          </a:prstGeom>
          <a:noFill/>
          <a:ln/>
        </p:spPr>
        <p:txBody>
          <a:bodyPr wrap="square" lIns="0" tIns="0" rIns="0" bIns="0" rtlCol="0" anchor="t"/>
          <a:lstStyle/>
          <a:p>
            <a:pPr indent="0" marL="0">
              <a:buNone/>
            </a:pPr>
            <a:r>
              <a:rPr lang="en-US" sz="1150" dirty="0">
                <a:solidFill>
                  <a:srgbClr val="6E7681"/>
                </a:solidFill>
                <a:latin typeface="Helvetica" pitchFamily="34" charset="0"/>
                <a:ea typeface="Helvetica" pitchFamily="34" charset="-122"/>
                <a:cs typeface="Helvetica" pitchFamily="34" charset="-120"/>
              </a:rPr>
              <a:t>Python MeshClient at TS SDK parity · same KNOCK · same Double Ratchet</a:t>
            </a:r>
            <a:endParaRPr lang="en-US" sz="1150" dirty="0"/>
          </a:p>
        </p:txBody>
      </p:sp>
      <p:sp>
        <p:nvSpPr>
          <p:cNvPr id="9" name="Shape 7"/>
          <p:cNvSpPr/>
          <p:nvPr/>
        </p:nvSpPr>
        <p:spPr>
          <a:xfrm>
            <a:off x="640080" y="4050792"/>
            <a:ext cx="10881360" cy="0"/>
          </a:xfrm>
          <a:prstGeom prst="line">
            <a:avLst/>
          </a:prstGeom>
          <a:noFill/>
          <a:ln w="6350">
            <a:solidFill>
              <a:srgbClr val="E1E4E8"/>
            </a:solidFill>
            <a:prstDash val="solid"/>
          </a:ln>
        </p:spPr>
      </p:sp>
      <p:sp>
        <p:nvSpPr>
          <p:cNvPr id="10" name="Text 8"/>
          <p:cNvSpPr/>
          <p:nvPr/>
        </p:nvSpPr>
        <p:spPr>
          <a:xfrm>
            <a:off x="640080" y="4096512"/>
            <a:ext cx="2103120" cy="320040"/>
          </a:xfrm>
          <a:prstGeom prst="rect">
            <a:avLst/>
          </a:prstGeom>
          <a:noFill/>
          <a:ln/>
        </p:spPr>
        <p:txBody>
          <a:bodyPr wrap="square" lIns="0" tIns="0" rIns="0" bIns="0" rtlCol="0" anchor="t"/>
          <a:lstStyle/>
          <a:p>
            <a:pPr indent="0" marL="0">
              <a:buNone/>
            </a:pPr>
            <a:r>
              <a:rPr lang="en-US" sz="1300" dirty="0">
                <a:solidFill>
                  <a:srgbClr val="028090"/>
                </a:solidFill>
                <a:latin typeface="Consolas" pitchFamily="34" charset="0"/>
                <a:ea typeface="Consolas" pitchFamily="34" charset="-122"/>
                <a:cs typeface="Consolas" pitchFamily="34" charset="-120"/>
              </a:rPr>
              <a:t>kars-sre</a:t>
            </a:r>
            <a:endParaRPr lang="en-US" sz="1300" dirty="0"/>
          </a:p>
        </p:txBody>
      </p:sp>
      <p:sp>
        <p:nvSpPr>
          <p:cNvPr id="11" name="Text 9"/>
          <p:cNvSpPr/>
          <p:nvPr/>
        </p:nvSpPr>
        <p:spPr>
          <a:xfrm>
            <a:off x="2834640" y="4096512"/>
            <a:ext cx="8686800" cy="320040"/>
          </a:xfrm>
          <a:prstGeom prst="rect">
            <a:avLst/>
          </a:prstGeom>
          <a:noFill/>
          <a:ln/>
        </p:spPr>
        <p:txBody>
          <a:bodyPr wrap="square" lIns="0" tIns="0" rIns="0" bIns="0" rtlCol="0" anchor="t"/>
          <a:lstStyle/>
          <a:p>
            <a:pPr indent="0" marL="0">
              <a:buNone/>
            </a:pPr>
            <a:r>
              <a:rPr lang="en-US" sz="1500" b="1" dirty="0">
                <a:solidFill>
                  <a:srgbClr val="1A1A1A"/>
                </a:solidFill>
                <a:latin typeface="Helvetica" pitchFamily="34" charset="0"/>
                <a:ea typeface="Helvetica" pitchFamily="34" charset="-122"/>
                <a:cs typeface="Helvetica" pitchFamily="34" charset="-120"/>
              </a:rPr>
              <a:t>The cluster diagnoses itself before you do</a:t>
            </a:r>
            <a:endParaRPr lang="en-US" sz="1500" dirty="0"/>
          </a:p>
        </p:txBody>
      </p:sp>
      <p:sp>
        <p:nvSpPr>
          <p:cNvPr id="12" name="Text 10"/>
          <p:cNvSpPr/>
          <p:nvPr/>
        </p:nvSpPr>
        <p:spPr>
          <a:xfrm>
            <a:off x="2834640" y="4416552"/>
            <a:ext cx="8686800" cy="320040"/>
          </a:xfrm>
          <a:prstGeom prst="rect">
            <a:avLst/>
          </a:prstGeom>
          <a:noFill/>
          <a:ln/>
        </p:spPr>
        <p:txBody>
          <a:bodyPr wrap="square" lIns="0" tIns="0" rIns="0" bIns="0" rtlCol="0" anchor="t"/>
          <a:lstStyle/>
          <a:p>
            <a:pPr indent="0" marL="0">
              <a:buNone/>
            </a:pPr>
            <a:r>
              <a:rPr lang="en-US" sz="1150" dirty="0">
                <a:solidFill>
                  <a:srgbClr val="6E7681"/>
                </a:solidFill>
                <a:latin typeface="Helvetica" pitchFamily="34" charset="0"/>
                <a:ea typeface="Helvetica" pitchFamily="34" charset="-122"/>
                <a:cs typeface="Helvetica" pitchFamily="34" charset="-120"/>
              </a:rPr>
              <a:t>In-cluster SRE agent · 5 read-only tools · 2 approval-gated fixes</a:t>
            </a:r>
            <a:endParaRPr lang="en-US" sz="1150" dirty="0"/>
          </a:p>
        </p:txBody>
      </p:sp>
      <p:sp>
        <p:nvSpPr>
          <p:cNvPr id="13" name="Shape 11"/>
          <p:cNvSpPr/>
          <p:nvPr/>
        </p:nvSpPr>
        <p:spPr>
          <a:xfrm>
            <a:off x="640080" y="4764024"/>
            <a:ext cx="10881360" cy="0"/>
          </a:xfrm>
          <a:prstGeom prst="line">
            <a:avLst/>
          </a:prstGeom>
          <a:noFill/>
          <a:ln w="6350">
            <a:solidFill>
              <a:srgbClr val="E1E4E8"/>
            </a:solidFill>
            <a:prstDash val="solid"/>
          </a:ln>
        </p:spPr>
      </p:sp>
      <p:sp>
        <p:nvSpPr>
          <p:cNvPr id="14" name="Text 12"/>
          <p:cNvSpPr/>
          <p:nvPr/>
        </p:nvSpPr>
        <p:spPr>
          <a:xfrm>
            <a:off x="640080" y="4809744"/>
            <a:ext cx="2103120" cy="320040"/>
          </a:xfrm>
          <a:prstGeom prst="rect">
            <a:avLst/>
          </a:prstGeom>
          <a:noFill/>
          <a:ln/>
        </p:spPr>
        <p:txBody>
          <a:bodyPr wrap="square" lIns="0" tIns="0" rIns="0" bIns="0" rtlCol="0" anchor="t"/>
          <a:lstStyle/>
          <a:p>
            <a:pPr indent="0" marL="0">
              <a:buNone/>
            </a:pPr>
            <a:r>
              <a:rPr lang="en-US" sz="1300" dirty="0">
                <a:solidFill>
                  <a:srgbClr val="028090"/>
                </a:solidFill>
                <a:latin typeface="Consolas" pitchFamily="34" charset="0"/>
                <a:ea typeface="Consolas" pitchFamily="34" charset="-122"/>
                <a:cs typeface="Consolas" pitchFamily="34" charset="-120"/>
              </a:rPr>
              <a:t>Sovereign GA</a:t>
            </a:r>
            <a:endParaRPr lang="en-US" sz="1300" dirty="0"/>
          </a:p>
        </p:txBody>
      </p:sp>
      <p:sp>
        <p:nvSpPr>
          <p:cNvPr id="15" name="Text 13"/>
          <p:cNvSpPr/>
          <p:nvPr/>
        </p:nvSpPr>
        <p:spPr>
          <a:xfrm>
            <a:off x="2834640" y="4809744"/>
            <a:ext cx="8686800" cy="320040"/>
          </a:xfrm>
          <a:prstGeom prst="rect">
            <a:avLst/>
          </a:prstGeom>
          <a:noFill/>
          <a:ln/>
        </p:spPr>
        <p:txBody>
          <a:bodyPr wrap="square" lIns="0" tIns="0" rIns="0" bIns="0" rtlCol="0" anchor="t"/>
          <a:lstStyle/>
          <a:p>
            <a:pPr indent="0" marL="0">
              <a:buNone/>
            </a:pPr>
            <a:r>
              <a:rPr lang="en-US" sz="1500" b="1" dirty="0">
                <a:solidFill>
                  <a:srgbClr val="1A1A1A"/>
                </a:solidFill>
                <a:latin typeface="Helvetica" pitchFamily="34" charset="0"/>
                <a:ea typeface="Helvetica" pitchFamily="34" charset="-122"/>
                <a:cs typeface="Helvetica" pitchFamily="34" charset="-120"/>
              </a:rPr>
              <a:t>Regulated environments deploy with one apply</a:t>
            </a:r>
            <a:endParaRPr lang="en-US" sz="1500" dirty="0"/>
          </a:p>
        </p:txBody>
      </p:sp>
      <p:sp>
        <p:nvSpPr>
          <p:cNvPr id="16" name="Text 14"/>
          <p:cNvSpPr/>
          <p:nvPr/>
        </p:nvSpPr>
        <p:spPr>
          <a:xfrm>
            <a:off x="2834640" y="5129784"/>
            <a:ext cx="8686800" cy="320040"/>
          </a:xfrm>
          <a:prstGeom prst="rect">
            <a:avLst/>
          </a:prstGeom>
          <a:noFill/>
          <a:ln/>
        </p:spPr>
        <p:txBody>
          <a:bodyPr wrap="square" lIns="0" tIns="0" rIns="0" bIns="0" rtlCol="0" anchor="t"/>
          <a:lstStyle/>
          <a:p>
            <a:pPr indent="0" marL="0">
              <a:buNone/>
            </a:pPr>
            <a:r>
              <a:rPr lang="en-US" sz="1150" dirty="0">
                <a:solidFill>
                  <a:srgbClr val="6E7681"/>
                </a:solidFill>
                <a:latin typeface="Helvetica" pitchFamily="34" charset="0"/>
                <a:ea typeface="Helvetica" pitchFamily="34" charset="-122"/>
                <a:cs typeface="Helvetica" pitchFamily="34" charset="-120"/>
              </a:rPr>
              <a:t>Blueprint 06 from compose-by-hand to one-command bundle</a:t>
            </a:r>
            <a:endParaRPr lang="en-US" sz="1150" dirty="0"/>
          </a:p>
        </p:txBody>
      </p:sp>
      <p:sp>
        <p:nvSpPr>
          <p:cNvPr id="17" name="Shape 15"/>
          <p:cNvSpPr/>
          <p:nvPr/>
        </p:nvSpPr>
        <p:spPr>
          <a:xfrm>
            <a:off x="640080" y="5477256"/>
            <a:ext cx="10881360" cy="0"/>
          </a:xfrm>
          <a:prstGeom prst="line">
            <a:avLst/>
          </a:prstGeom>
          <a:noFill/>
          <a:ln w="6350">
            <a:solidFill>
              <a:srgbClr val="E1E4E8"/>
            </a:solidFill>
            <a:prstDash val="solid"/>
          </a:ln>
        </p:spPr>
      </p:sp>
      <p:sp>
        <p:nvSpPr>
          <p:cNvPr id="18" name="Text 16"/>
          <p:cNvSpPr/>
          <p:nvPr/>
        </p:nvSpPr>
        <p:spPr>
          <a:xfrm>
            <a:off x="640080" y="5522976"/>
            <a:ext cx="2103120" cy="320040"/>
          </a:xfrm>
          <a:prstGeom prst="rect">
            <a:avLst/>
          </a:prstGeom>
          <a:noFill/>
          <a:ln/>
        </p:spPr>
        <p:txBody>
          <a:bodyPr wrap="square" lIns="0" tIns="0" rIns="0" bIns="0" rtlCol="0" anchor="t"/>
          <a:lstStyle/>
          <a:p>
            <a:pPr indent="0" marL="0">
              <a:buNone/>
            </a:pPr>
            <a:r>
              <a:rPr lang="en-US" sz="1300" dirty="0">
                <a:solidFill>
                  <a:srgbClr val="028090"/>
                </a:solidFill>
                <a:latin typeface="Consolas" pitchFamily="34" charset="0"/>
                <a:ea typeface="Consolas" pitchFamily="34" charset="-122"/>
                <a:cs typeface="Consolas" pitchFamily="34" charset="-120"/>
              </a:rPr>
              <a:t>Attestation</a:t>
            </a:r>
            <a:endParaRPr lang="en-US" sz="1300" dirty="0"/>
          </a:p>
        </p:txBody>
      </p:sp>
      <p:sp>
        <p:nvSpPr>
          <p:cNvPr id="19" name="Text 17"/>
          <p:cNvSpPr/>
          <p:nvPr/>
        </p:nvSpPr>
        <p:spPr>
          <a:xfrm>
            <a:off x="2834640" y="5522976"/>
            <a:ext cx="8686800" cy="320040"/>
          </a:xfrm>
          <a:prstGeom prst="rect">
            <a:avLst/>
          </a:prstGeom>
          <a:noFill/>
          <a:ln/>
        </p:spPr>
        <p:txBody>
          <a:bodyPr wrap="square" lIns="0" tIns="0" rIns="0" bIns="0" rtlCol="0" anchor="t"/>
          <a:lstStyle/>
          <a:p>
            <a:pPr indent="0" marL="0">
              <a:buNone/>
            </a:pPr>
            <a:r>
              <a:rPr lang="en-US" sz="1500" b="1" dirty="0">
                <a:solidFill>
                  <a:srgbClr val="1A1A1A"/>
                </a:solidFill>
                <a:latin typeface="Helvetica" pitchFamily="34" charset="0"/>
                <a:ea typeface="Helvetica" pitchFamily="34" charset="-122"/>
                <a:cs typeface="Helvetica" pitchFamily="34" charset="-120"/>
              </a:rPr>
              <a:t>Workloads run only on hardware they trust</a:t>
            </a:r>
            <a:endParaRPr lang="en-US" sz="1500" dirty="0"/>
          </a:p>
        </p:txBody>
      </p:sp>
      <p:sp>
        <p:nvSpPr>
          <p:cNvPr id="20" name="Text 18"/>
          <p:cNvSpPr/>
          <p:nvPr/>
        </p:nvSpPr>
        <p:spPr>
          <a:xfrm>
            <a:off x="2834640" y="5843016"/>
            <a:ext cx="8686800" cy="320040"/>
          </a:xfrm>
          <a:prstGeom prst="rect">
            <a:avLst/>
          </a:prstGeom>
          <a:noFill/>
          <a:ln/>
        </p:spPr>
        <p:txBody>
          <a:bodyPr wrap="square" lIns="0" tIns="0" rIns="0" bIns="0" rtlCol="0" anchor="t"/>
          <a:lstStyle/>
          <a:p>
            <a:pPr indent="0" marL="0">
              <a:buNone/>
            </a:pPr>
            <a:r>
              <a:rPr lang="en-US" sz="1150" dirty="0">
                <a:solidFill>
                  <a:srgbClr val="6E7681"/>
                </a:solidFill>
                <a:latin typeface="Helvetica" pitchFamily="34" charset="0"/>
                <a:ea typeface="Helvetica" pitchFamily="34" charset="-122"/>
                <a:cs typeface="Helvetica" pitchFamily="34" charset="-120"/>
              </a:rPr>
              <a:t>Kata + SEV-SNP attestation-gated KarsSandbox · evidence in .status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55680" y="6400800"/>
            <a:ext cx="365760" cy="274320"/>
          </a:xfrm>
          <a:prstGeom prst="rect">
            <a:avLst/>
          </a:prstGeom>
          <a:noFill/>
          <a:ln/>
        </p:spPr>
        <p:txBody>
          <a:bodyPr wrap="square" lIns="0" tIns="0" rIns="0" bIns="0" rtlCol="0" anchor="ctr"/>
          <a:lstStyle/>
          <a:p>
            <a:pPr algn="r" indent="0" marL="0">
              <a:buNone/>
            </a:pPr>
            <a:r>
              <a:rPr lang="en-US" sz="1000" dirty="0">
                <a:solidFill>
                  <a:srgbClr val="AFB3BD"/>
                </a:solidFill>
                <a:latin typeface="Helvetica" pitchFamily="34" charset="0"/>
                <a:ea typeface="Helvetica" pitchFamily="34" charset="-122"/>
                <a:cs typeface="Helvetica" pitchFamily="34" charset="-120"/>
              </a:rPr>
              <a:t>20</a:t>
            </a:r>
            <a:endParaRPr lang="en-US" sz="1000" dirty="0"/>
          </a:p>
        </p:txBody>
      </p:sp>
      <p:sp>
        <p:nvSpPr>
          <p:cNvPr id="3" name="Text 1"/>
          <p:cNvSpPr/>
          <p:nvPr/>
        </p:nvSpPr>
        <p:spPr>
          <a:xfrm>
            <a:off x="640080" y="502920"/>
            <a:ext cx="10881360" cy="274320"/>
          </a:xfrm>
          <a:prstGeom prst="rect">
            <a:avLst/>
          </a:prstGeom>
          <a:noFill/>
          <a:ln/>
        </p:spPr>
        <p:txBody>
          <a:bodyPr wrap="square" lIns="0" tIns="0" rIns="0" bIns="0" rtlCol="0" anchor="ctr"/>
          <a:lstStyle/>
          <a:p>
            <a:pPr indent="0" marL="0">
              <a:buNone/>
            </a:pPr>
            <a:r>
              <a:rPr lang="en-US" sz="1100" spc="400" kern="0" dirty="0">
                <a:solidFill>
                  <a:srgbClr val="6E7681"/>
                </a:solidFill>
                <a:latin typeface="Helvetica" pitchFamily="34" charset="0"/>
                <a:ea typeface="Helvetica" pitchFamily="34" charset="-122"/>
                <a:cs typeface="Helvetica" pitchFamily="34" charset="-120"/>
              </a:rPr>
              <a:t>§11 · TRY IT</a:t>
            </a:r>
            <a:endParaRPr lang="en-US" sz="1100" dirty="0"/>
          </a:p>
        </p:txBody>
      </p:sp>
      <p:sp>
        <p:nvSpPr>
          <p:cNvPr id="4" name="Text 2"/>
          <p:cNvSpPr/>
          <p:nvPr/>
        </p:nvSpPr>
        <p:spPr>
          <a:xfrm>
            <a:off x="640080" y="914400"/>
            <a:ext cx="10881360" cy="1280160"/>
          </a:xfrm>
          <a:prstGeom prst="rect">
            <a:avLst/>
          </a:prstGeom>
          <a:noFill/>
          <a:ln/>
        </p:spPr>
        <p:txBody>
          <a:bodyPr wrap="square" lIns="0" tIns="0" rIns="0" bIns="0" rtlCol="0" anchor="t"/>
          <a:lstStyle/>
          <a:p>
            <a:pPr algn="l" indent="0" marL="0">
              <a:buNone/>
            </a:pPr>
            <a:r>
              <a:rPr lang="en-US" sz="8000" b="1" dirty="0">
                <a:solidFill>
                  <a:srgbClr val="1A1A1A"/>
                </a:solidFill>
                <a:latin typeface="Helvetica" pitchFamily="34" charset="0"/>
                <a:ea typeface="Helvetica" pitchFamily="34" charset="-122"/>
                <a:cs typeface="Helvetica" pitchFamily="34" charset="-120"/>
              </a:rPr>
              <a:t>kars dev</a:t>
            </a:r>
            <a:endParaRPr lang="en-US" sz="8000" dirty="0"/>
          </a:p>
        </p:txBody>
      </p:sp>
      <p:sp>
        <p:nvSpPr>
          <p:cNvPr id="5" name="Shape 3"/>
          <p:cNvSpPr/>
          <p:nvPr/>
        </p:nvSpPr>
        <p:spPr>
          <a:xfrm>
            <a:off x="640080" y="3566160"/>
            <a:ext cx="10881360" cy="2743200"/>
          </a:xfrm>
          <a:prstGeom prst="rect">
            <a:avLst/>
          </a:prstGeom>
          <a:solidFill>
            <a:srgbClr val="F6F8FA"/>
          </a:solidFill>
          <a:ln w="9525">
            <a:solidFill>
              <a:srgbClr val="E1E4E8"/>
            </a:solidFill>
            <a:prstDash val="solid"/>
          </a:ln>
        </p:spPr>
      </p:sp>
      <p:sp>
        <p:nvSpPr>
          <p:cNvPr id="6" name="Text 4"/>
          <p:cNvSpPr/>
          <p:nvPr/>
        </p:nvSpPr>
        <p:spPr>
          <a:xfrm>
            <a:off x="868680" y="3794760"/>
            <a:ext cx="10424160" cy="2286000"/>
          </a:xfrm>
          <a:prstGeom prst="rect">
            <a:avLst/>
          </a:prstGeom>
          <a:noFill/>
          <a:ln/>
        </p:spPr>
        <p:txBody>
          <a:bodyPr wrap="square" lIns="0" tIns="0" rIns="0" bIns="0" rtlCol="0" anchor="t"/>
          <a:lstStyle/>
          <a:p>
            <a:pPr algn="l" indent="0" marL="0">
              <a:buNone/>
            </a:pPr>
            <a:r>
              <a:rPr lang="en-US" sz="1300" dirty="0">
                <a:solidFill>
                  <a:srgbClr val="6E7681"/>
                </a:solidFill>
                <a:latin typeface="Consolas" pitchFamily="34" charset="0"/>
                <a:ea typeface="Consolas" pitchFamily="34" charset="-122"/>
                <a:cs typeface="Consolas" pitchFamily="34" charset="-120"/>
              </a:rPr>
              <a:t>$ </a:t>
            </a:r>
            <a:pPr algn="l" indent="0" marL="0">
              <a:buNone/>
            </a:pPr>
            <a:r>
              <a:rPr lang="en-US" sz="1300" dirty="0">
                <a:solidFill>
                  <a:srgbClr val="1A1A1A"/>
                </a:solidFill>
                <a:latin typeface="Consolas" pitchFamily="34" charset="0"/>
                <a:ea typeface="Consolas" pitchFamily="34" charset="-122"/>
                <a:cs typeface="Consolas" pitchFamily="34" charset="-120"/>
              </a:rPr>
              <a:t>git clone https://github.com/Azure/kars
</a:t>
            </a:r>
            <a:pPr algn="l" indent="0" marL="0">
              <a:buNone/>
            </a:pPr>
            <a:r>
              <a:rPr lang="en-US" sz="1300" dirty="0">
                <a:solidFill>
                  <a:srgbClr val="6E7681"/>
                </a:solidFill>
                <a:latin typeface="Consolas" pitchFamily="34" charset="0"/>
                <a:ea typeface="Consolas" pitchFamily="34" charset="-122"/>
                <a:cs typeface="Consolas" pitchFamily="34" charset="-120"/>
              </a:rPr>
              <a:t>$ </a:t>
            </a:r>
            <a:pPr algn="l" indent="0" marL="0">
              <a:buNone/>
            </a:pPr>
            <a:r>
              <a:rPr lang="en-US" sz="1300" dirty="0">
                <a:solidFill>
                  <a:srgbClr val="1A1A1A"/>
                </a:solidFill>
                <a:latin typeface="Consolas" pitchFamily="34" charset="0"/>
                <a:ea typeface="Consolas" pitchFamily="34" charset="-122"/>
                <a:cs typeface="Consolas" pitchFamily="34" charset="-120"/>
              </a:rPr>
              <a:t>cd kars/cli &amp;&amp; npm ci &amp;&amp; npm run build &amp;&amp; npm link
</a:t>
            </a:r>
            <a:pPr algn="l" indent="0" marL="0">
              <a:buNone/>
            </a:pPr>
            <a:r>
              <a:rPr lang="en-US" sz="1300" dirty="0">
                <a:solidFill>
                  <a:srgbClr val="6E7681"/>
                </a:solidFill>
                <a:latin typeface="Consolas" pitchFamily="34" charset="0"/>
                <a:ea typeface="Consolas" pitchFamily="34" charset="-122"/>
                <a:cs typeface="Consolas" pitchFamily="34" charset="-120"/>
              </a:rPr>
              <a:t>$ </a:t>
            </a:r>
            <a:pPr algn="l" indent="0" marL="0">
              <a:buNone/>
            </a:pPr>
            <a:r>
              <a:rPr lang="en-US" sz="1300" dirty="0">
                <a:solidFill>
                  <a:srgbClr val="C53030"/>
                </a:solidFill>
                <a:latin typeface="Consolas" pitchFamily="34" charset="0"/>
                <a:ea typeface="Consolas" pitchFamily="34" charset="-122"/>
                <a:cs typeface="Consolas" pitchFamily="34" charset="-120"/>
              </a:rPr>
              <a:t>kars dev
</a:t>
            </a:r>
            <a:pPr algn="l" indent="0" marL="0">
              <a:buNone/>
            </a:pPr>
            <a:r>
              <a:rPr lang="en-US" sz="1300" dirty="0">
                <a:solidFill>
                  <a:srgbClr val="1A1A1A"/>
                </a:solidFill>
                <a:latin typeface="Consolas" pitchFamily="34" charset="0"/>
                <a:ea typeface="Consolas" pitchFamily="34" charset="-122"/>
                <a:cs typeface="Consolas" pitchFamily="34" charset="-120"/>
              </a:rPr>
              <a:t>
</a:t>
            </a:r>
            <a:pPr algn="l" indent="0" marL="0">
              <a:buNone/>
            </a:pPr>
            <a:r>
              <a:rPr lang="en-US" sz="1300" dirty="0">
                <a:solidFill>
                  <a:srgbClr val="276749"/>
                </a:solidFill>
                <a:latin typeface="Consolas" pitchFamily="34" charset="0"/>
                <a:ea typeface="Consolas" pitchFamily="34" charset="-122"/>
                <a:cs typeface="Consolas" pitchFamily="34" charset="-120"/>
              </a:rPr>
              <a:t>  ✓ kind cluster ready
</a:t>
            </a:r>
            <a:pPr algn="l" indent="0" marL="0">
              <a:buNone/>
            </a:pPr>
            <a:r>
              <a:rPr lang="en-US" sz="1300" dirty="0">
                <a:solidFill>
                  <a:srgbClr val="276749"/>
                </a:solidFill>
                <a:latin typeface="Consolas" pitchFamily="34" charset="0"/>
                <a:ea typeface="Consolas" pitchFamily="34" charset="-122"/>
                <a:cs typeface="Consolas" pitchFamily="34" charset="-120"/>
              </a:rPr>
              <a:t>  ✓ AGT toolkit cloned + wheels built
</a:t>
            </a:r>
            <a:pPr algn="l" indent="0" marL="0">
              <a:buNone/>
            </a:pPr>
            <a:r>
              <a:rPr lang="en-US" sz="1300" dirty="0">
                <a:solidFill>
                  <a:srgbClr val="276749"/>
                </a:solidFill>
                <a:latin typeface="Consolas" pitchFamily="34" charset="0"/>
                <a:ea typeface="Consolas" pitchFamily="34" charset="-122"/>
                <a:cs typeface="Consolas" pitchFamily="34" charset="-120"/>
              </a:rPr>
              <a:t>  ✓ helm chart applied  (controller + relay + registry)
</a:t>
            </a:r>
            <a:pPr algn="l" indent="0" marL="0">
              <a:buNone/>
            </a:pPr>
            <a:r>
              <a:rPr lang="en-US" sz="1300" dirty="0">
                <a:solidFill>
                  <a:srgbClr val="276749"/>
                </a:solidFill>
                <a:latin typeface="Consolas" pitchFamily="34" charset="0"/>
                <a:ea typeface="Consolas" pitchFamily="34" charset="-122"/>
                <a:cs typeface="Consolas" pitchFamily="34" charset="-120"/>
              </a:rPr>
              <a:t>  ✓ runtime image loaded into kind
</a:t>
            </a:r>
            <a:pPr algn="l" indent="0" marL="0">
              <a:buNone/>
            </a:pPr>
            <a:r>
              <a:rPr lang="en-US" sz="1300" dirty="0">
                <a:solidFill>
                  <a:srgbClr val="276749"/>
                </a:solidFill>
                <a:latin typeface="Consolas" pitchFamily="34" charset="0"/>
                <a:ea typeface="Consolas" pitchFamily="34" charset="-122"/>
                <a:cs typeface="Consolas" pitchFamily="34" charset="-120"/>
              </a:rPr>
              <a:t>  ✓ sandbox 'agent-1' Running 2/2
</a:t>
            </a:r>
            <a:pPr algn="l" indent="0" marL="0">
              <a:buNone/>
            </a:pPr>
            <a:r>
              <a:rPr lang="en-US" sz="1300" dirty="0">
                <a:solidFill>
                  <a:srgbClr val="1A1A1A"/>
                </a:solidFill>
                <a:latin typeface="Consolas" pitchFamily="34" charset="0"/>
                <a:ea typeface="Consolas" pitchFamily="34" charset="-122"/>
                <a:cs typeface="Consolas" pitchFamily="34" charset="-120"/>
              </a:rPr>
              <a:t>
</a:t>
            </a:r>
            <a:pPr algn="l" indent="0" marL="0">
              <a:buNone/>
            </a:pPr>
            <a:r>
              <a:rPr lang="en-US" sz="1300" dirty="0">
                <a:solidFill>
                  <a:srgbClr val="6E7681"/>
                </a:solidFill>
                <a:latin typeface="Consolas" pitchFamily="34" charset="0"/>
                <a:ea typeface="Consolas" pitchFamily="34" charset="-122"/>
                <a:cs typeface="Consolas" pitchFamily="34" charset="-120"/>
              </a:rPr>
              <a:t>$ </a:t>
            </a:r>
            <a:pPr algn="l" indent="0" marL="0">
              <a:buNone/>
            </a:pPr>
            <a:r>
              <a:rPr lang="en-US" sz="1300" dirty="0">
                <a:solidFill>
                  <a:srgbClr val="C53030"/>
                </a:solidFill>
                <a:latin typeface="Consolas" pitchFamily="34" charset="0"/>
                <a:ea typeface="Consolas" pitchFamily="34" charset="-122"/>
                <a:cs typeface="Consolas" pitchFamily="34" charset="-120"/>
              </a:rPr>
              <a:t>kars connect agent-1     </a:t>
            </a:r>
            <a:pPr algn="l" indent="0" marL="0">
              <a:buNone/>
            </a:pPr>
            <a:r>
              <a:rPr lang="en-US" sz="1300" dirty="0">
                <a:solidFill>
                  <a:srgbClr val="6E7681"/>
                </a:solidFill>
                <a:latin typeface="Consolas" pitchFamily="34" charset="0"/>
                <a:ea typeface="Consolas" pitchFamily="34" charset="-122"/>
                <a:cs typeface="Consolas" pitchFamily="34" charset="-120"/>
              </a:rPr>
              <a:t># WebUI on http://localhost:18789</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640080" y="2194560"/>
            <a:ext cx="10881360" cy="2194560"/>
          </a:xfrm>
          <a:prstGeom prst="rect">
            <a:avLst/>
          </a:prstGeom>
          <a:noFill/>
          <a:ln/>
        </p:spPr>
        <p:txBody>
          <a:bodyPr wrap="square" lIns="0" tIns="0" rIns="0" bIns="0" rtlCol="0" anchor="ctr"/>
          <a:lstStyle/>
          <a:p>
            <a:pPr algn="l" indent="0" marL="0">
              <a:buNone/>
            </a:pPr>
            <a:r>
              <a:rPr lang="en-US" sz="16800" b="1" dirty="0">
                <a:solidFill>
                  <a:srgbClr val="FFFFFF"/>
                </a:solidFill>
                <a:latin typeface="Helvetica" pitchFamily="34" charset="0"/>
                <a:ea typeface="Helvetica" pitchFamily="34" charset="-122"/>
                <a:cs typeface="Helvetica" pitchFamily="34" charset="-120"/>
              </a:rPr>
              <a:t>kars</a:t>
            </a:r>
            <a:endParaRPr lang="en-US" sz="16800" dirty="0"/>
          </a:p>
        </p:txBody>
      </p:sp>
      <p:sp>
        <p:nvSpPr>
          <p:cNvPr id="3" name="Text 1"/>
          <p:cNvSpPr/>
          <p:nvPr/>
        </p:nvSpPr>
        <p:spPr>
          <a:xfrm>
            <a:off x="640080" y="4572000"/>
            <a:ext cx="10881360" cy="457200"/>
          </a:xfrm>
          <a:prstGeom prst="rect">
            <a:avLst/>
          </a:prstGeom>
          <a:noFill/>
          <a:ln/>
        </p:spPr>
        <p:txBody>
          <a:bodyPr wrap="square" lIns="0" tIns="0" rIns="0" bIns="0" rtlCol="0" anchor="ctr"/>
          <a:lstStyle/>
          <a:p>
            <a:pPr algn="l" indent="0" marL="0">
              <a:buNone/>
            </a:pPr>
            <a:r>
              <a:rPr lang="en-US" sz="2200" dirty="0">
                <a:solidFill>
                  <a:srgbClr val="E6F1F2"/>
                </a:solidFill>
                <a:latin typeface="Helvetica" pitchFamily="34" charset="0"/>
                <a:ea typeface="Helvetica" pitchFamily="34" charset="-122"/>
                <a:cs typeface="Helvetica" pitchFamily="34" charset="-120"/>
              </a:rPr>
              <a:t>Agents.  Production.  Kubernetes.</a:t>
            </a:r>
            <a:endParaRPr lang="en-US" sz="2200" dirty="0"/>
          </a:p>
        </p:txBody>
      </p:sp>
      <p:sp>
        <p:nvSpPr>
          <p:cNvPr id="4" name="Text 2"/>
          <p:cNvSpPr/>
          <p:nvPr/>
        </p:nvSpPr>
        <p:spPr>
          <a:xfrm>
            <a:off x="640080" y="5120640"/>
            <a:ext cx="10881360" cy="365760"/>
          </a:xfrm>
          <a:prstGeom prst="rect">
            <a:avLst/>
          </a:prstGeom>
          <a:noFill/>
          <a:ln/>
        </p:spPr>
        <p:txBody>
          <a:bodyPr wrap="square" lIns="0" tIns="0" rIns="0" bIns="0" rtlCol="0" anchor="ctr"/>
          <a:lstStyle/>
          <a:p>
            <a:pPr algn="l" indent="0" marL="0">
              <a:buNone/>
            </a:pPr>
            <a:r>
              <a:rPr lang="en-US" sz="1400" dirty="0">
                <a:solidFill>
                  <a:srgbClr val="AFB3BD"/>
                </a:solidFill>
                <a:latin typeface="Consolas" pitchFamily="34" charset="0"/>
                <a:ea typeface="Consolas" pitchFamily="34" charset="-122"/>
                <a:cs typeface="Consolas" pitchFamily="34" charset="-120"/>
              </a:rPr>
              <a:t>github.com/Azure/kars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kars — secure AI agent runtime on Kubernetes</dc:title>
  <dc:subject>PptxGenJS Presentation</dc:subject>
  <dc:creator>kars</dc:creator>
  <cp:lastModifiedBy>kars</cp:lastModifiedBy>
  <cp:revision>1</cp:revision>
  <dcterms:created xsi:type="dcterms:W3CDTF">2026-06-08T18:54:00Z</dcterms:created>
  <dcterms:modified xsi:type="dcterms:W3CDTF">2026-06-08T18:54:00Z</dcterms:modified>
</cp:coreProperties>
</file>