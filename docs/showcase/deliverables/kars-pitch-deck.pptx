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01168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38912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Secure AI agent runtime on Kubernetes.</a:t>
            </a:r>
            <a:endParaRPr lang="en-US" sz="2200" dirty="0"/>
          </a:p>
        </p:txBody>
      </p:sp>
      <p:sp>
        <p:nvSpPr>
          <p:cNvPr id="4" name="Text 2"/>
          <p:cNvSpPr/>
          <p:nvPr/>
        </p:nvSpPr>
        <p:spPr>
          <a:xfrm>
            <a:off x="640080" y="4937760"/>
            <a:ext cx="10881360" cy="457200"/>
          </a:xfrm>
          <a:prstGeom prst="rect">
            <a:avLst/>
          </a:prstGeom>
          <a:noFill/>
          <a:ln/>
        </p:spPr>
        <p:txBody>
          <a:bodyPr wrap="square" lIns="0" tIns="0" rIns="0" bIns="0" rtlCol="0" anchor="ctr"/>
          <a:lstStyle/>
          <a:p>
            <a:pPr algn="l" indent="0" marL="0">
              <a:buNone/>
            </a:pPr>
            <a:r>
              <a:rPr lang="en-US" sz="1600" dirty="0">
                <a:solidFill>
                  <a:srgbClr val="AFB3BD"/>
                </a:solidFill>
                <a:latin typeface="Helvetica" pitchFamily="34" charset="0"/>
                <a:ea typeface="Helvetica" pitchFamily="34" charset="-122"/>
                <a:cs typeface="Helvetica" pitchFamily="34" charset="-120"/>
              </a:rPr>
              <a:t>Built on the Microsoft Agent Governance Toolkit.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 · THE OUTCOME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What you actually get.</a:t>
            </a:r>
            <a:endParaRPr lang="en-US" sz="4600" dirty="0"/>
          </a:p>
        </p:txBody>
      </p:sp>
      <p:sp>
        <p:nvSpPr>
          <p:cNvPr id="5" name="Text 3"/>
          <p:cNvSpPr/>
          <p:nvPr/>
        </p:nvSpPr>
        <p:spPr>
          <a:xfrm>
            <a:off x="640080" y="2468880"/>
            <a:ext cx="10881360" cy="17373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kars turns agent execution into Kubernetes-managed infrastructure:  declared, reconciled, isolated, governed, and observable. Every inference call, every tool invocation, every egress byte flows through one policy plane and lands as a record you can audit, rate-limit, time-box, and revoke.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every call audited</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policy decision + hash-chained JSONL row, per call, per sandbox</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sandbox in minutes</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kubectl apply KarsSandbox → Running 2/2 in ≈60 s on AKS</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one policy plane</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models · MCP · A2A · tools · egress · memory — one CRD set</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default-deny egress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time-boxed approvals carry reason + ticket; auto-expire to None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AFB3BD"/>
                </a:solidFill>
                <a:latin typeface="Helvetica" pitchFamily="34" charset="0"/>
                <a:ea typeface="Helvetica" pitchFamily="34" charset="-122"/>
                <a:cs typeface="Helvetica" pitchFamily="34" charset="-120"/>
              </a:rPr>
              <a:t>§2 · WHAT KARS IS</a:t>
            </a:r>
            <a:endParaRPr lang="en-US" sz="1100" dirty="0"/>
          </a:p>
        </p:txBody>
      </p:sp>
      <p:sp>
        <p:nvSpPr>
          <p:cNvPr id="3" name="Text 1"/>
          <p:cNvSpPr/>
          <p:nvPr/>
        </p:nvSpPr>
        <p:spPr>
          <a:xfrm>
            <a:off x="640080" y="1371600"/>
            <a:ext cx="10881360" cy="1645920"/>
          </a:xfrm>
          <a:prstGeom prst="rect">
            <a:avLst/>
          </a:prstGeom>
          <a:noFill/>
          <a:ln/>
        </p:spPr>
        <p:txBody>
          <a:bodyPr wrap="square" lIns="0" tIns="0" rIns="0" bIns="0" rtlCol="0" anchor="t"/>
          <a:lstStyle/>
          <a:p>
            <a:pPr algn="l" indent="0" marL="0">
              <a:buNone/>
            </a:pPr>
            <a:r>
              <a:rPr lang="en-US" sz="3600" b="1" dirty="0">
                <a:solidFill>
                  <a:srgbClr val="FFFFFF"/>
                </a:solidFill>
                <a:latin typeface="Helvetica" pitchFamily="34" charset="0"/>
                <a:ea typeface="Helvetica" pitchFamily="34" charset="-122"/>
                <a:cs typeface="Helvetica" pitchFamily="34" charset="-120"/>
              </a:rPr>
              <a:t>Secure, multi-runtime AI agent runtime on Azure Kubernetes Service.</a:t>
            </a:r>
            <a:endParaRPr lang="en-US" sz="3600" dirty="0"/>
          </a:p>
        </p:txBody>
      </p:sp>
      <p:sp>
        <p:nvSpPr>
          <p:cNvPr id="4" name="Text 2"/>
          <p:cNvSpPr/>
          <p:nvPr/>
        </p:nvSpPr>
        <p:spPr>
          <a:xfrm>
            <a:off x="640080" y="3017520"/>
            <a:ext cx="10881360" cy="914400"/>
          </a:xfrm>
          <a:prstGeom prst="rect">
            <a:avLst/>
          </a:prstGeom>
          <a:noFill/>
          <a:ln/>
        </p:spPr>
        <p:txBody>
          <a:bodyPr wrap="square" lIns="0" tIns="0" rIns="0" bIns="0" rtlCol="0" anchor="t"/>
          <a:lstStyle/>
          <a:p>
            <a:pPr algn="l" indent="0" marL="0">
              <a:buNone/>
            </a:pPr>
            <a:r>
              <a:rPr lang="en-US" sz="2400" dirty="0">
                <a:solidFill>
                  <a:srgbClr val="E6F1F2"/>
                </a:solidFill>
                <a:latin typeface="Helvetica" pitchFamily="34" charset="0"/>
                <a:ea typeface="Helvetica" pitchFamily="34" charset="-122"/>
                <a:cs typeface="Helvetica" pitchFamily="34" charset="-120"/>
              </a:rPr>
              <a:t>End-to-end encrypted inter-agent mesh.  Governance enforced inside the per-sandbox data plane.</a:t>
            </a:r>
            <a:endParaRPr lang="en-US" sz="2400" dirty="0"/>
          </a:p>
        </p:txBody>
      </p:sp>
      <p:sp>
        <p:nvSpPr>
          <p:cNvPr id="5" name="Shape 3"/>
          <p:cNvSpPr/>
          <p:nvPr/>
        </p:nvSpPr>
        <p:spPr>
          <a:xfrm>
            <a:off x="640080" y="4754880"/>
            <a:ext cx="1097280" cy="0"/>
          </a:xfrm>
          <a:prstGeom prst="line">
            <a:avLst/>
          </a:prstGeom>
          <a:noFill/>
          <a:ln w="19050">
            <a:solidFill>
              <a:srgbClr val="028090"/>
            </a:solidFill>
            <a:prstDash val="solid"/>
          </a:ln>
        </p:spPr>
      </p:sp>
      <p:sp>
        <p:nvSpPr>
          <p:cNvPr id="6" name="Text 4"/>
          <p:cNvSpPr/>
          <p:nvPr/>
        </p:nvSpPr>
        <p:spPr>
          <a:xfrm>
            <a:off x="64008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sandbox/</a:t>
            </a:r>
            <a:endParaRPr lang="en-US" sz="1300" dirty="0"/>
          </a:p>
        </p:txBody>
      </p:sp>
      <p:sp>
        <p:nvSpPr>
          <p:cNvPr id="7" name="Text 5"/>
          <p:cNvSpPr/>
          <p:nvPr/>
        </p:nvSpPr>
        <p:spPr>
          <a:xfrm>
            <a:off x="64008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kars-strict seccomp · iptables egress-guard · drop ALL caps</a:t>
            </a:r>
            <a:endParaRPr lang="en-US" sz="1200" dirty="0"/>
          </a:p>
        </p:txBody>
      </p:sp>
      <p:sp>
        <p:nvSpPr>
          <p:cNvPr id="8" name="Shape 6"/>
          <p:cNvSpPr/>
          <p:nvPr/>
        </p:nvSpPr>
        <p:spPr>
          <a:xfrm>
            <a:off x="3451860" y="4754880"/>
            <a:ext cx="1097280" cy="0"/>
          </a:xfrm>
          <a:prstGeom prst="line">
            <a:avLst/>
          </a:prstGeom>
          <a:noFill/>
          <a:ln w="19050">
            <a:solidFill>
              <a:srgbClr val="028090"/>
            </a:solidFill>
            <a:prstDash val="solid"/>
          </a:ln>
        </p:spPr>
      </p:sp>
      <p:sp>
        <p:nvSpPr>
          <p:cNvPr id="9" name="Text 7"/>
          <p:cNvSpPr/>
          <p:nvPr/>
        </p:nvSpPr>
        <p:spPr>
          <a:xfrm>
            <a:off x="345186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agentmesh/</a:t>
            </a:r>
            <a:endParaRPr lang="en-US" sz="1300" dirty="0"/>
          </a:p>
        </p:txBody>
      </p:sp>
      <p:sp>
        <p:nvSpPr>
          <p:cNvPr id="10" name="Text 8"/>
          <p:cNvSpPr/>
          <p:nvPr/>
        </p:nvSpPr>
        <p:spPr>
          <a:xfrm>
            <a:off x="345186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Signal Protocol · X3DH · Double Ratchet · KNOCK</a:t>
            </a:r>
            <a:endParaRPr lang="en-US" sz="1200" dirty="0"/>
          </a:p>
        </p:txBody>
      </p:sp>
      <p:sp>
        <p:nvSpPr>
          <p:cNvPr id="11" name="Shape 9"/>
          <p:cNvSpPr/>
          <p:nvPr/>
        </p:nvSpPr>
        <p:spPr>
          <a:xfrm>
            <a:off x="6263640" y="4754880"/>
            <a:ext cx="1097280" cy="0"/>
          </a:xfrm>
          <a:prstGeom prst="line">
            <a:avLst/>
          </a:prstGeom>
          <a:noFill/>
          <a:ln w="19050">
            <a:solidFill>
              <a:srgbClr val="028090"/>
            </a:solidFill>
            <a:prstDash val="solid"/>
          </a:ln>
        </p:spPr>
      </p:sp>
      <p:sp>
        <p:nvSpPr>
          <p:cNvPr id="12" name="Text 10"/>
          <p:cNvSpPr/>
          <p:nvPr/>
        </p:nvSpPr>
        <p:spPr>
          <a:xfrm>
            <a:off x="626364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router/</a:t>
            </a:r>
            <a:endParaRPr lang="en-US" sz="1300" dirty="0"/>
          </a:p>
        </p:txBody>
      </p:sp>
      <p:sp>
        <p:nvSpPr>
          <p:cNvPr id="13" name="Text 11"/>
          <p:cNvSpPr/>
          <p:nvPr/>
        </p:nvSpPr>
        <p:spPr>
          <a:xfrm>
            <a:off x="626364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InferencePolicy · ToolPolicy · Content Safety · budgets</a:t>
            </a:r>
            <a:endParaRPr lang="en-US" sz="1200" dirty="0"/>
          </a:p>
        </p:txBody>
      </p:sp>
      <p:sp>
        <p:nvSpPr>
          <p:cNvPr id="14" name="Shape 12"/>
          <p:cNvSpPr/>
          <p:nvPr/>
        </p:nvSpPr>
        <p:spPr>
          <a:xfrm>
            <a:off x="9075420" y="4754880"/>
            <a:ext cx="1097280" cy="0"/>
          </a:xfrm>
          <a:prstGeom prst="line">
            <a:avLst/>
          </a:prstGeom>
          <a:noFill/>
          <a:ln w="19050">
            <a:solidFill>
              <a:srgbClr val="028090"/>
            </a:solidFill>
            <a:prstDash val="solid"/>
          </a:ln>
        </p:spPr>
      </p:sp>
      <p:sp>
        <p:nvSpPr>
          <p:cNvPr id="15" name="Text 13"/>
          <p:cNvSpPr/>
          <p:nvPr/>
        </p:nvSpPr>
        <p:spPr>
          <a:xfrm>
            <a:off x="907542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contract/v1</a:t>
            </a:r>
            <a:endParaRPr lang="en-US" sz="1300" dirty="0"/>
          </a:p>
        </p:txBody>
      </p:sp>
      <p:sp>
        <p:nvSpPr>
          <p:cNvPr id="16" name="Text 14"/>
          <p:cNvSpPr/>
          <p:nvPr/>
        </p:nvSpPr>
        <p:spPr>
          <a:xfrm>
            <a:off x="907542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KARS_MODEL · KARS_RUNTIME_KIND · 127.0.0.1:8443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 · ARCHITECTURE · THE SHAPE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000" b="1" dirty="0">
                <a:solidFill>
                  <a:srgbClr val="1A1A1A"/>
                </a:solidFill>
                <a:latin typeface="Helvetica" pitchFamily="34" charset="0"/>
                <a:ea typeface="Helvetica" pitchFamily="34" charset="-122"/>
                <a:cs typeface="Helvetica" pitchFamily="34" charset="-120"/>
              </a:rPr>
              <a:t>How it fits together.</a:t>
            </a:r>
            <a:endParaRPr lang="en-US" sz="4000" dirty="0"/>
          </a:p>
        </p:txBody>
      </p:sp>
      <p:sp>
        <p:nvSpPr>
          <p:cNvPr id="5" name="Text 3"/>
          <p:cNvSpPr/>
          <p:nvPr/>
        </p:nvSpPr>
        <p:spPr>
          <a:xfrm>
            <a:off x="640080" y="2286000"/>
            <a:ext cx="10881360" cy="6400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Rust binaries.  Eleven CRDs.  One pod shape.  The Kubernetes API server is the source of truth — the rest is reconciliation.</a:t>
            </a:r>
            <a:endParaRPr lang="en-US" sz="1800" dirty="0"/>
          </a:p>
        </p:txBody>
      </p:sp>
      <p:sp>
        <p:nvSpPr>
          <p:cNvPr id="6" name="Text 4"/>
          <p:cNvSpPr/>
          <p:nvPr/>
        </p:nvSpPr>
        <p:spPr>
          <a:xfrm>
            <a:off x="640080" y="3017520"/>
            <a:ext cx="2011680" cy="274320"/>
          </a:xfrm>
          <a:prstGeom prst="rect">
            <a:avLst/>
          </a:prstGeom>
          <a:noFill/>
          <a:ln/>
        </p:spPr>
        <p:txBody>
          <a:bodyPr wrap="square" lIns="0" tIns="0" rIns="0" bIns="0" rtlCol="0" anchor="ctr"/>
          <a:lstStyle/>
          <a:p>
            <a:pPr indent="0" marL="0">
              <a:buNone/>
            </a:pPr>
            <a:r>
              <a:rPr lang="en-US" sz="1100" dirty="0">
                <a:solidFill>
                  <a:srgbClr val="6E7681"/>
                </a:solidFill>
                <a:latin typeface="Consolas" pitchFamily="34" charset="0"/>
                <a:ea typeface="Consolas" pitchFamily="34" charset="-122"/>
                <a:cs typeface="Consolas" pitchFamily="34" charset="-120"/>
              </a:rPr>
              <a:t>kubectl apply  ▸</a:t>
            </a:r>
            <a:endParaRPr lang="en-US" sz="1100" dirty="0"/>
          </a:p>
        </p:txBody>
      </p:sp>
      <p:sp>
        <p:nvSpPr>
          <p:cNvPr id="7" name="Shape 5"/>
          <p:cNvSpPr/>
          <p:nvPr/>
        </p:nvSpPr>
        <p:spPr>
          <a:xfrm>
            <a:off x="640080" y="3291840"/>
            <a:ext cx="10881360" cy="2377440"/>
          </a:xfrm>
          <a:prstGeom prst="roundRect">
            <a:avLst>
              <a:gd name="adj" fmla="val 5769"/>
            </a:avLst>
          </a:prstGeom>
          <a:solidFill>
            <a:srgbClr val="FFFFFF"/>
          </a:solidFill>
          <a:ln w="19050">
            <a:solidFill>
              <a:srgbClr val="028090"/>
            </a:solidFill>
            <a:prstDash val="dash"/>
          </a:ln>
        </p:spPr>
      </p:sp>
      <p:sp>
        <p:nvSpPr>
          <p:cNvPr id="8" name="Text 6"/>
          <p:cNvSpPr/>
          <p:nvPr/>
        </p:nvSpPr>
        <p:spPr>
          <a:xfrm>
            <a:off x="914400" y="3364992"/>
            <a:ext cx="27432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AKS / kind cluster</a:t>
            </a:r>
            <a:endParaRPr lang="en-US" sz="1000" dirty="0"/>
          </a:p>
        </p:txBody>
      </p:sp>
      <p:sp>
        <p:nvSpPr>
          <p:cNvPr id="9" name="Shape 7"/>
          <p:cNvSpPr/>
          <p:nvPr/>
        </p:nvSpPr>
        <p:spPr>
          <a:xfrm>
            <a:off x="914400" y="3749040"/>
            <a:ext cx="3261360" cy="1737360"/>
          </a:xfrm>
          <a:prstGeom prst="rect">
            <a:avLst/>
          </a:prstGeom>
          <a:solidFill>
            <a:srgbClr val="F6F8FA"/>
          </a:solidFill>
          <a:ln w="9525">
            <a:solidFill>
              <a:srgbClr val="028090"/>
            </a:solidFill>
            <a:prstDash val="solid"/>
          </a:ln>
        </p:spPr>
      </p:sp>
      <p:sp>
        <p:nvSpPr>
          <p:cNvPr id="10" name="Text 8"/>
          <p:cNvSpPr/>
          <p:nvPr/>
        </p:nvSpPr>
        <p:spPr>
          <a:xfrm>
            <a:off x="105156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kars CRDs</a:t>
            </a:r>
            <a:endParaRPr lang="en-US" sz="1300" dirty="0"/>
          </a:p>
        </p:txBody>
      </p:sp>
      <p:sp>
        <p:nvSpPr>
          <p:cNvPr id="11" name="Text 9"/>
          <p:cNvSpPr/>
          <p:nvPr/>
        </p:nvSpPr>
        <p:spPr>
          <a:xfrm>
            <a:off x="105156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(11 kinds · the API contract)</a:t>
            </a:r>
            <a:endParaRPr lang="en-US" sz="950" dirty="0"/>
          </a:p>
        </p:txBody>
      </p:sp>
      <p:sp>
        <p:nvSpPr>
          <p:cNvPr id="12" name="Text 10"/>
          <p:cNvSpPr/>
          <p:nvPr/>
        </p:nvSpPr>
        <p:spPr>
          <a:xfrm>
            <a:off x="1051560" y="4434840"/>
            <a:ext cx="2987040" cy="960120"/>
          </a:xfrm>
          <a:prstGeom prst="rect">
            <a:avLst/>
          </a:prstGeom>
          <a:noFill/>
          <a:ln/>
        </p:spPr>
        <p:txBody>
          <a:bodyPr wrap="square" lIns="0" tIns="0" rIns="0" bIns="0" rtlCol="0" anchor="ctr"/>
          <a:lstStyle/>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KarsSandbox</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InferencePolicy</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ToolPolicy · EgressApproval</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KarsMemory · TrustGraph</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A2AAgent · McpServer · …</a:t>
            </a:r>
            <a:endParaRPr lang="en-US" sz="1000" dirty="0"/>
          </a:p>
        </p:txBody>
      </p:sp>
      <p:sp>
        <p:nvSpPr>
          <p:cNvPr id="13" name="Shape 11"/>
          <p:cNvSpPr/>
          <p:nvPr/>
        </p:nvSpPr>
        <p:spPr>
          <a:xfrm>
            <a:off x="4450080" y="3749040"/>
            <a:ext cx="3261360" cy="1737360"/>
          </a:xfrm>
          <a:prstGeom prst="rect">
            <a:avLst/>
          </a:prstGeom>
          <a:solidFill>
            <a:srgbClr val="F6F8FA"/>
          </a:solidFill>
          <a:ln w="9525">
            <a:solidFill>
              <a:srgbClr val="028090"/>
            </a:solidFill>
            <a:prstDash val="solid"/>
          </a:ln>
        </p:spPr>
      </p:sp>
      <p:sp>
        <p:nvSpPr>
          <p:cNvPr id="14" name="Text 12"/>
          <p:cNvSpPr/>
          <p:nvPr/>
        </p:nvSpPr>
        <p:spPr>
          <a:xfrm>
            <a:off x="458724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kars-controller</a:t>
            </a:r>
            <a:endParaRPr lang="en-US" sz="1300" dirty="0"/>
          </a:p>
        </p:txBody>
      </p:sp>
      <p:sp>
        <p:nvSpPr>
          <p:cNvPr id="15" name="Text 13"/>
          <p:cNvSpPr/>
          <p:nvPr/>
        </p:nvSpPr>
        <p:spPr>
          <a:xfrm>
            <a:off x="458724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(Rust · kube-rs operator)</a:t>
            </a:r>
            <a:endParaRPr lang="en-US" sz="950" dirty="0"/>
          </a:p>
        </p:txBody>
      </p:sp>
      <p:sp>
        <p:nvSpPr>
          <p:cNvPr id="16" name="Text 14"/>
          <p:cNvSpPr/>
          <p:nvPr/>
        </p:nvSpPr>
        <p:spPr>
          <a:xfrm>
            <a:off x="4587240" y="4434840"/>
            <a:ext cx="2987040" cy="960120"/>
          </a:xfrm>
          <a:prstGeom prst="rect">
            <a:avLst/>
          </a:prstGeom>
          <a:noFill/>
          <a:ln/>
        </p:spPr>
        <p:txBody>
          <a:bodyPr wrap="square" lIns="0" tIns="0" rIns="0" bIns="0" rtlCol="0" anchor="ctr"/>
          <a:lstStyle/>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watches all 11 CRDs</a:t>
            </a:r>
            <a:endParaRPr lang="en-US" sz="1050" dirty="0"/>
          </a:p>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compiles policy → ConfigMaps</a:t>
            </a:r>
            <a:endParaRPr lang="en-US" sz="1050" dirty="0"/>
          </a:p>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reconciles desired state</a:t>
            </a:r>
            <a:endParaRPr lang="en-US" sz="1050" dirty="0"/>
          </a:p>
          <a:p>
            <a:pPr indent="0" marL="0">
              <a:buNone/>
            </a:pPr>
            <a:r>
              <a:rPr lang="en-US" sz="1050" dirty="0">
                <a:solidFill>
                  <a:srgbClr val="1A1A1A"/>
                </a:solidFill>
                <a:latin typeface="Helvetica" pitchFamily="34" charset="0"/>
                <a:ea typeface="Helvetica" pitchFamily="34" charset="-122"/>
                <a:cs typeface="Helvetica" pitchFamily="34" charset="-120"/>
              </a:rPr>
              <a:t>stamps .status.phase + conditions</a:t>
            </a:r>
            <a:endParaRPr lang="en-US" sz="1050" dirty="0"/>
          </a:p>
        </p:txBody>
      </p:sp>
      <p:sp>
        <p:nvSpPr>
          <p:cNvPr id="17" name="Shape 15"/>
          <p:cNvSpPr/>
          <p:nvPr/>
        </p:nvSpPr>
        <p:spPr>
          <a:xfrm>
            <a:off x="7985760" y="3749040"/>
            <a:ext cx="3261360" cy="1737360"/>
          </a:xfrm>
          <a:prstGeom prst="rect">
            <a:avLst/>
          </a:prstGeom>
          <a:solidFill>
            <a:srgbClr val="F6F8FA"/>
          </a:solidFill>
          <a:ln w="9525">
            <a:solidFill>
              <a:srgbClr val="028090"/>
            </a:solidFill>
            <a:prstDash val="solid"/>
          </a:ln>
        </p:spPr>
      </p:sp>
      <p:sp>
        <p:nvSpPr>
          <p:cNvPr id="18" name="Text 16"/>
          <p:cNvSpPr/>
          <p:nvPr/>
        </p:nvSpPr>
        <p:spPr>
          <a:xfrm>
            <a:off x="812292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Sandbox pod</a:t>
            </a:r>
            <a:endParaRPr lang="en-US" sz="1300" dirty="0"/>
          </a:p>
        </p:txBody>
      </p:sp>
      <p:sp>
        <p:nvSpPr>
          <p:cNvPr id="19" name="Text 17"/>
          <p:cNvSpPr/>
          <p:nvPr/>
        </p:nvSpPr>
        <p:spPr>
          <a:xfrm>
            <a:off x="812292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(per KarsSandbox CR)</a:t>
            </a:r>
            <a:endParaRPr lang="en-US" sz="950" dirty="0"/>
          </a:p>
        </p:txBody>
      </p:sp>
      <p:sp>
        <p:nvSpPr>
          <p:cNvPr id="20" name="Shape 18"/>
          <p:cNvSpPr/>
          <p:nvPr/>
        </p:nvSpPr>
        <p:spPr>
          <a:xfrm>
            <a:off x="8122920" y="4462272"/>
            <a:ext cx="2987040" cy="384048"/>
          </a:xfrm>
          <a:prstGeom prst="rect">
            <a:avLst/>
          </a:prstGeom>
          <a:solidFill>
            <a:srgbClr val="FFFFFF"/>
          </a:solidFill>
          <a:ln w="6350">
            <a:solidFill>
              <a:srgbClr val="6E7681"/>
            </a:solidFill>
            <a:prstDash val="solid"/>
          </a:ln>
        </p:spPr>
      </p:sp>
      <p:sp>
        <p:nvSpPr>
          <p:cNvPr id="21" name="Text 19"/>
          <p:cNvSpPr/>
          <p:nvPr/>
        </p:nvSpPr>
        <p:spPr>
          <a:xfrm>
            <a:off x="8214360" y="4462272"/>
            <a:ext cx="2804160" cy="38404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agent  (UID 1000)</a:t>
            </a:r>
            <a:endParaRPr lang="en-US" sz="1000" dirty="0"/>
          </a:p>
        </p:txBody>
      </p:sp>
      <p:sp>
        <p:nvSpPr>
          <p:cNvPr id="22" name="Shape 20"/>
          <p:cNvSpPr/>
          <p:nvPr/>
        </p:nvSpPr>
        <p:spPr>
          <a:xfrm>
            <a:off x="8122920" y="4901184"/>
            <a:ext cx="2987040" cy="384048"/>
          </a:xfrm>
          <a:prstGeom prst="rect">
            <a:avLst/>
          </a:prstGeom>
          <a:solidFill>
            <a:srgbClr val="FFFFFF"/>
          </a:solidFill>
          <a:ln w="9525">
            <a:solidFill>
              <a:srgbClr val="028090"/>
            </a:solidFill>
            <a:prstDash val="solid"/>
          </a:ln>
        </p:spPr>
      </p:sp>
      <p:sp>
        <p:nvSpPr>
          <p:cNvPr id="23" name="Text 21"/>
          <p:cNvSpPr/>
          <p:nvPr/>
        </p:nvSpPr>
        <p:spPr>
          <a:xfrm>
            <a:off x="8214360" y="4901184"/>
            <a:ext cx="2804160" cy="384048"/>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inference-router  (1001)</a:t>
            </a:r>
            <a:endParaRPr lang="en-US" sz="1000" dirty="0"/>
          </a:p>
        </p:txBody>
      </p:sp>
      <p:sp>
        <p:nvSpPr>
          <p:cNvPr id="24" name="Text 22"/>
          <p:cNvSpPr/>
          <p:nvPr/>
        </p:nvSpPr>
        <p:spPr>
          <a:xfrm>
            <a:off x="9601200" y="5715000"/>
            <a:ext cx="1920240" cy="274320"/>
          </a:xfrm>
          <a:prstGeom prst="rect">
            <a:avLst/>
          </a:prstGeom>
          <a:noFill/>
          <a:ln/>
        </p:spPr>
        <p:txBody>
          <a:bodyPr wrap="square" lIns="0" tIns="0" rIns="0" bIns="0" rtlCol="0" anchor="ctr"/>
          <a:lstStyle/>
          <a:p>
            <a:pPr algn="r" indent="0" marL="0">
              <a:buNone/>
            </a:pPr>
            <a:r>
              <a:rPr lang="en-US" sz="1000" dirty="0">
                <a:solidFill>
                  <a:srgbClr val="028090"/>
                </a:solidFill>
                <a:latin typeface="Consolas" pitchFamily="34" charset="0"/>
                <a:ea typeface="Consolas" pitchFamily="34" charset="-122"/>
                <a:cs typeface="Consolas" pitchFamily="34" charset="-120"/>
              </a:rPr>
              <a:t>◀  only path out  ▶</a:t>
            </a:r>
            <a:endParaRPr lang="en-US" sz="1000" dirty="0"/>
          </a:p>
        </p:txBody>
      </p:sp>
      <p:sp>
        <p:nvSpPr>
          <p:cNvPr id="25" name="Shape 23"/>
          <p:cNvSpPr/>
          <p:nvPr/>
        </p:nvSpPr>
        <p:spPr>
          <a:xfrm>
            <a:off x="640080" y="6035040"/>
            <a:ext cx="1460427" cy="365760"/>
          </a:xfrm>
          <a:prstGeom prst="roundRect">
            <a:avLst>
              <a:gd name="adj" fmla="val 12500"/>
            </a:avLst>
          </a:prstGeom>
          <a:solidFill>
            <a:srgbClr val="E6F1F2"/>
          </a:solidFill>
          <a:ln w="6350">
            <a:solidFill>
              <a:srgbClr val="028090"/>
            </a:solidFill>
            <a:prstDash val="solid"/>
          </a:ln>
        </p:spPr>
      </p:sp>
      <p:sp>
        <p:nvSpPr>
          <p:cNvPr id="26" name="Text 24"/>
          <p:cNvSpPr/>
          <p:nvPr/>
        </p:nvSpPr>
        <p:spPr>
          <a:xfrm>
            <a:off x="640080"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Azure OpenAI</a:t>
            </a:r>
            <a:endParaRPr lang="en-US" sz="1000" dirty="0"/>
          </a:p>
        </p:txBody>
      </p:sp>
      <p:sp>
        <p:nvSpPr>
          <p:cNvPr id="27" name="Shape 25"/>
          <p:cNvSpPr/>
          <p:nvPr/>
        </p:nvSpPr>
        <p:spPr>
          <a:xfrm>
            <a:off x="2210235" y="6035040"/>
            <a:ext cx="1460427" cy="365760"/>
          </a:xfrm>
          <a:prstGeom prst="roundRect">
            <a:avLst>
              <a:gd name="adj" fmla="val 12500"/>
            </a:avLst>
          </a:prstGeom>
          <a:solidFill>
            <a:srgbClr val="E6F1F2"/>
          </a:solidFill>
          <a:ln w="6350">
            <a:solidFill>
              <a:srgbClr val="028090"/>
            </a:solidFill>
            <a:prstDash val="solid"/>
          </a:ln>
        </p:spPr>
      </p:sp>
      <p:sp>
        <p:nvSpPr>
          <p:cNvPr id="28" name="Text 26"/>
          <p:cNvSpPr/>
          <p:nvPr/>
        </p:nvSpPr>
        <p:spPr>
          <a:xfrm>
            <a:off x="2210235"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Anthropic</a:t>
            </a:r>
            <a:endParaRPr lang="en-US" sz="1000" dirty="0"/>
          </a:p>
        </p:txBody>
      </p:sp>
      <p:sp>
        <p:nvSpPr>
          <p:cNvPr id="29" name="Shape 27"/>
          <p:cNvSpPr/>
          <p:nvPr/>
        </p:nvSpPr>
        <p:spPr>
          <a:xfrm>
            <a:off x="3780391" y="6035040"/>
            <a:ext cx="1460427" cy="365760"/>
          </a:xfrm>
          <a:prstGeom prst="roundRect">
            <a:avLst>
              <a:gd name="adj" fmla="val 12500"/>
            </a:avLst>
          </a:prstGeom>
          <a:solidFill>
            <a:srgbClr val="E6F1F2"/>
          </a:solidFill>
          <a:ln w="6350">
            <a:solidFill>
              <a:srgbClr val="028090"/>
            </a:solidFill>
            <a:prstDash val="solid"/>
          </a:ln>
        </p:spPr>
      </p:sp>
      <p:sp>
        <p:nvSpPr>
          <p:cNvPr id="30" name="Text 28"/>
          <p:cNvSpPr/>
          <p:nvPr/>
        </p:nvSpPr>
        <p:spPr>
          <a:xfrm>
            <a:off x="3780391"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OpenAI</a:t>
            </a:r>
            <a:endParaRPr lang="en-US" sz="1000" dirty="0"/>
          </a:p>
        </p:txBody>
      </p:sp>
      <p:sp>
        <p:nvSpPr>
          <p:cNvPr id="31" name="Shape 29"/>
          <p:cNvSpPr/>
          <p:nvPr/>
        </p:nvSpPr>
        <p:spPr>
          <a:xfrm>
            <a:off x="5350546" y="6035040"/>
            <a:ext cx="1460427" cy="365760"/>
          </a:xfrm>
          <a:prstGeom prst="roundRect">
            <a:avLst>
              <a:gd name="adj" fmla="val 12500"/>
            </a:avLst>
          </a:prstGeom>
          <a:solidFill>
            <a:srgbClr val="E6F1F2"/>
          </a:solidFill>
          <a:ln w="6350">
            <a:solidFill>
              <a:srgbClr val="028090"/>
            </a:solidFill>
            <a:prstDash val="solid"/>
          </a:ln>
        </p:spPr>
      </p:sp>
      <p:sp>
        <p:nvSpPr>
          <p:cNvPr id="32" name="Text 30"/>
          <p:cNvSpPr/>
          <p:nvPr/>
        </p:nvSpPr>
        <p:spPr>
          <a:xfrm>
            <a:off x="5350546"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Bedrock</a:t>
            </a:r>
            <a:endParaRPr lang="en-US" sz="1000" dirty="0"/>
          </a:p>
        </p:txBody>
      </p:sp>
      <p:sp>
        <p:nvSpPr>
          <p:cNvPr id="33" name="Shape 31"/>
          <p:cNvSpPr/>
          <p:nvPr/>
        </p:nvSpPr>
        <p:spPr>
          <a:xfrm>
            <a:off x="6920702" y="6035040"/>
            <a:ext cx="1460427" cy="365760"/>
          </a:xfrm>
          <a:prstGeom prst="roundRect">
            <a:avLst>
              <a:gd name="adj" fmla="val 12500"/>
            </a:avLst>
          </a:prstGeom>
          <a:solidFill>
            <a:srgbClr val="E6F1F2"/>
          </a:solidFill>
          <a:ln w="6350">
            <a:solidFill>
              <a:srgbClr val="028090"/>
            </a:solidFill>
            <a:prstDash val="solid"/>
          </a:ln>
        </p:spPr>
      </p:sp>
      <p:sp>
        <p:nvSpPr>
          <p:cNvPr id="34" name="Text 32"/>
          <p:cNvSpPr/>
          <p:nvPr/>
        </p:nvSpPr>
        <p:spPr>
          <a:xfrm>
            <a:off x="6920702"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MCP</a:t>
            </a:r>
            <a:endParaRPr lang="en-US" sz="1000" dirty="0"/>
          </a:p>
        </p:txBody>
      </p:sp>
      <p:sp>
        <p:nvSpPr>
          <p:cNvPr id="35" name="Shape 33"/>
          <p:cNvSpPr/>
          <p:nvPr/>
        </p:nvSpPr>
        <p:spPr>
          <a:xfrm>
            <a:off x="8490857" y="6035040"/>
            <a:ext cx="1460427" cy="365760"/>
          </a:xfrm>
          <a:prstGeom prst="roundRect">
            <a:avLst>
              <a:gd name="adj" fmla="val 12500"/>
            </a:avLst>
          </a:prstGeom>
          <a:solidFill>
            <a:srgbClr val="E6F1F2"/>
          </a:solidFill>
          <a:ln w="6350">
            <a:solidFill>
              <a:srgbClr val="028090"/>
            </a:solidFill>
            <a:prstDash val="solid"/>
          </a:ln>
        </p:spPr>
      </p:sp>
      <p:sp>
        <p:nvSpPr>
          <p:cNvPr id="36" name="Text 34"/>
          <p:cNvSpPr/>
          <p:nvPr/>
        </p:nvSpPr>
        <p:spPr>
          <a:xfrm>
            <a:off x="8490857"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A2A peers</a:t>
            </a:r>
            <a:endParaRPr lang="en-US" sz="1000" dirty="0"/>
          </a:p>
        </p:txBody>
      </p:sp>
      <p:sp>
        <p:nvSpPr>
          <p:cNvPr id="37" name="Shape 35"/>
          <p:cNvSpPr/>
          <p:nvPr/>
        </p:nvSpPr>
        <p:spPr>
          <a:xfrm>
            <a:off x="10061013" y="6035040"/>
            <a:ext cx="1460427" cy="365760"/>
          </a:xfrm>
          <a:prstGeom prst="roundRect">
            <a:avLst>
              <a:gd name="adj" fmla="val 12500"/>
            </a:avLst>
          </a:prstGeom>
          <a:solidFill>
            <a:srgbClr val="E6F1F2"/>
          </a:solidFill>
          <a:ln w="6350">
            <a:solidFill>
              <a:srgbClr val="028090"/>
            </a:solidFill>
            <a:prstDash val="solid"/>
          </a:ln>
        </p:spPr>
      </p:sp>
      <p:sp>
        <p:nvSpPr>
          <p:cNvPr id="38" name="Text 36"/>
          <p:cNvSpPr/>
          <p:nvPr/>
        </p:nvSpPr>
        <p:spPr>
          <a:xfrm>
            <a:off x="10061013"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AGT relay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§3.1 · ARCHITECTURE · THE CORE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000" b="1" dirty="0">
                <a:solidFill>
                  <a:srgbClr val="1A1A1A"/>
                </a:solidFill>
                <a:latin typeface="Helvetica" pitchFamily="34" charset="0"/>
                <a:ea typeface="Helvetica" pitchFamily="34" charset="-122"/>
                <a:cs typeface="Helvetica" pitchFamily="34" charset="-120"/>
              </a:rPr>
              <a:t>Three components.  One contract.</a:t>
            </a:r>
            <a:endParaRPr lang="en-US" sz="4000" dirty="0"/>
          </a:p>
        </p:txBody>
      </p:sp>
      <p:sp>
        <p:nvSpPr>
          <p:cNvPr id="5" name="Text 3"/>
          <p:cNvSpPr/>
          <p:nvPr/>
        </p:nvSpPr>
        <p:spPr>
          <a:xfrm>
            <a:off x="640080" y="233172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Rust binaries and a set of CRDs do the work.  The controller turns desired state into Kubernetes primitives.  The router sits inside every sandbox pod and is the single egress path. The CRDs are the contract between them.</a:t>
            </a:r>
            <a:endParaRPr lang="en-US" sz="1800" dirty="0"/>
          </a:p>
        </p:txBody>
      </p:sp>
      <p:sp>
        <p:nvSpPr>
          <p:cNvPr id="6" name="Shape 4"/>
          <p:cNvSpPr/>
          <p:nvPr/>
        </p:nvSpPr>
        <p:spPr>
          <a:xfrm>
            <a:off x="640080" y="4023360"/>
            <a:ext cx="3413760" cy="2377440"/>
          </a:xfrm>
          <a:prstGeom prst="rect">
            <a:avLst/>
          </a:prstGeom>
          <a:solidFill>
            <a:srgbClr val="FFFFFF"/>
          </a:solidFill>
          <a:ln w="12700">
            <a:solidFill>
              <a:srgbClr val="028090"/>
            </a:solidFill>
            <a:prstDash val="solid"/>
          </a:ln>
        </p:spPr>
      </p:sp>
      <p:sp>
        <p:nvSpPr>
          <p:cNvPr id="7" name="Text 5"/>
          <p:cNvSpPr/>
          <p:nvPr/>
        </p:nvSpPr>
        <p:spPr>
          <a:xfrm>
            <a:off x="8229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Controller</a:t>
            </a:r>
            <a:endParaRPr lang="en-US" sz="1800" dirty="0"/>
          </a:p>
        </p:txBody>
      </p:sp>
      <p:sp>
        <p:nvSpPr>
          <p:cNvPr id="8" name="Text 6"/>
          <p:cNvSpPr/>
          <p:nvPr/>
        </p:nvSpPr>
        <p:spPr>
          <a:xfrm>
            <a:off x="8229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controller/src/main.rs</a:t>
            </a:r>
            <a:endParaRPr lang="en-US" sz="1000" dirty="0"/>
          </a:p>
        </p:txBody>
      </p:sp>
      <p:sp>
        <p:nvSpPr>
          <p:cNvPr id="9" name="Text 7"/>
          <p:cNvSpPr/>
          <p:nvPr/>
        </p:nvSpPr>
        <p:spPr>
          <a:xfrm>
            <a:off x="8229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Rust 1.88 · kube-rs operator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11 reconcilers (one per CRD kind)</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leader election · backoff · drift watch</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compiles policy → ConfigMaps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stamps .status.phase + conditions</a:t>
            </a:r>
            <a:endParaRPr lang="en-US" sz="1150" dirty="0"/>
          </a:p>
        </p:txBody>
      </p:sp>
      <p:sp>
        <p:nvSpPr>
          <p:cNvPr id="10" name="Shape 8"/>
          <p:cNvSpPr/>
          <p:nvPr/>
        </p:nvSpPr>
        <p:spPr>
          <a:xfrm>
            <a:off x="4373880" y="4023360"/>
            <a:ext cx="3413760" cy="2377440"/>
          </a:xfrm>
          <a:prstGeom prst="rect">
            <a:avLst/>
          </a:prstGeom>
          <a:solidFill>
            <a:srgbClr val="FFFFFF"/>
          </a:solidFill>
          <a:ln w="12700">
            <a:solidFill>
              <a:srgbClr val="028090"/>
            </a:solidFill>
            <a:prstDash val="solid"/>
          </a:ln>
        </p:spPr>
      </p:sp>
      <p:sp>
        <p:nvSpPr>
          <p:cNvPr id="11" name="Text 9"/>
          <p:cNvSpPr/>
          <p:nvPr/>
        </p:nvSpPr>
        <p:spPr>
          <a:xfrm>
            <a:off x="45567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CRDs</a:t>
            </a:r>
            <a:endParaRPr lang="en-US" sz="1800" dirty="0"/>
          </a:p>
        </p:txBody>
      </p:sp>
      <p:sp>
        <p:nvSpPr>
          <p:cNvPr id="12" name="Text 10"/>
          <p:cNvSpPr/>
          <p:nvPr/>
        </p:nvSpPr>
        <p:spPr>
          <a:xfrm>
            <a:off x="45567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deploy/helm/kars/templates/crd-*.yaml</a:t>
            </a:r>
            <a:endParaRPr lang="en-US" sz="1000" dirty="0"/>
          </a:p>
        </p:txBody>
      </p:sp>
      <p:sp>
        <p:nvSpPr>
          <p:cNvPr id="13" name="Text 11"/>
          <p:cNvSpPr/>
          <p:nvPr/>
        </p:nvSpPr>
        <p:spPr>
          <a:xfrm>
            <a:off x="45567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11 kinds (9 namespaced · 2 cluster)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OpenAPIv3 + Admission Policies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owned by controller · GC via ownerRefs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single source of truth</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kubectl-native diff/apply/explain</a:t>
            </a:r>
            <a:endParaRPr lang="en-US" sz="1150" dirty="0"/>
          </a:p>
        </p:txBody>
      </p:sp>
      <p:sp>
        <p:nvSpPr>
          <p:cNvPr id="14" name="Shape 12"/>
          <p:cNvSpPr/>
          <p:nvPr/>
        </p:nvSpPr>
        <p:spPr>
          <a:xfrm>
            <a:off x="8107680" y="4023360"/>
            <a:ext cx="3413760" cy="2377440"/>
          </a:xfrm>
          <a:prstGeom prst="rect">
            <a:avLst/>
          </a:prstGeom>
          <a:solidFill>
            <a:srgbClr val="FFFFFF"/>
          </a:solidFill>
          <a:ln w="12700">
            <a:solidFill>
              <a:srgbClr val="028090"/>
            </a:solidFill>
            <a:prstDash val="solid"/>
          </a:ln>
        </p:spPr>
      </p:sp>
      <p:sp>
        <p:nvSpPr>
          <p:cNvPr id="15" name="Text 13"/>
          <p:cNvSpPr/>
          <p:nvPr/>
        </p:nvSpPr>
        <p:spPr>
          <a:xfrm>
            <a:off x="82905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Inference Router</a:t>
            </a:r>
            <a:endParaRPr lang="en-US" sz="1800" dirty="0"/>
          </a:p>
        </p:txBody>
      </p:sp>
      <p:sp>
        <p:nvSpPr>
          <p:cNvPr id="16" name="Text 14"/>
          <p:cNvSpPr/>
          <p:nvPr/>
        </p:nvSpPr>
        <p:spPr>
          <a:xfrm>
            <a:off x="82905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inference-router/src/main.rs</a:t>
            </a:r>
            <a:endParaRPr lang="en-US" sz="1000" dirty="0"/>
          </a:p>
        </p:txBody>
      </p:sp>
      <p:sp>
        <p:nvSpPr>
          <p:cNvPr id="17" name="Text 15"/>
          <p:cNvSpPr/>
          <p:nvPr/>
        </p:nvSpPr>
        <p:spPr>
          <a:xfrm>
            <a:off x="82905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Rust 1.88 · axum sidecar (UID 1001)</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:8443 admin  ·  :8444 transparent proxy</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single egress path for the agent</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policy gate · audit · budget · failover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IMDS / Workload Identity — no keys in pod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§3.2 · ARCHITECTURE · REQUEST PATH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400" b="1" dirty="0">
                <a:solidFill>
                  <a:srgbClr val="1A1A1A"/>
                </a:solidFill>
                <a:latin typeface="Helvetica" pitchFamily="34" charset="0"/>
                <a:ea typeface="Helvetica" pitchFamily="34" charset="-122"/>
                <a:cs typeface="Helvetica" pitchFamily="34" charset="-120"/>
              </a:rPr>
              <a:t>Every call:  one hop, one decision, one record.</a:t>
            </a:r>
            <a:endParaRPr lang="en-US" sz="3400" dirty="0"/>
          </a:p>
        </p:txBody>
      </p:sp>
      <p:sp>
        <p:nvSpPr>
          <p:cNvPr id="5" name="Text 3"/>
          <p:cNvSpPr/>
          <p:nvPr/>
        </p:nvSpPr>
        <p:spPr>
          <a:xfrm>
            <a:off x="640080" y="228600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The agent process never sees an API key, never sees an upstream URL, never knows the difference between Foundry, Anthropic, an MCP server, or an A2A peer.  iptables rewrites every outbound to the router sidecar.  The rest is policy and bookkeeping.</a:t>
            </a:r>
            <a:endParaRPr lang="en-US" sz="1800" dirty="0"/>
          </a:p>
        </p:txBody>
      </p:sp>
      <p:sp>
        <p:nvSpPr>
          <p:cNvPr id="6" name="Text 4"/>
          <p:cNvSpPr/>
          <p:nvPr/>
        </p:nvSpPr>
        <p:spPr>
          <a:xfrm>
            <a:off x="640080" y="3840480"/>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1</a:t>
            </a:r>
            <a:endParaRPr lang="en-US" sz="1600" dirty="0"/>
          </a:p>
        </p:txBody>
      </p:sp>
      <p:sp>
        <p:nvSpPr>
          <p:cNvPr id="7" name="Text 5"/>
          <p:cNvSpPr/>
          <p:nvPr/>
        </p:nvSpPr>
        <p:spPr>
          <a:xfrm>
            <a:off x="1143000" y="3840480"/>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agent process</a:t>
            </a:r>
            <a:endParaRPr lang="en-US" sz="1400" dirty="0"/>
          </a:p>
        </p:txBody>
      </p:sp>
      <p:sp>
        <p:nvSpPr>
          <p:cNvPr id="8" name="Text 6"/>
          <p:cNvSpPr/>
          <p:nvPr/>
        </p:nvSpPr>
        <p:spPr>
          <a:xfrm>
            <a:off x="3429000" y="3840480"/>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UID 1000 makes a plain HTTPS call — no SDK, no special client</a:t>
            </a:r>
            <a:endParaRPr lang="en-US" sz="1200" dirty="0"/>
          </a:p>
        </p:txBody>
      </p:sp>
      <p:sp>
        <p:nvSpPr>
          <p:cNvPr id="9" name="Text 7"/>
          <p:cNvSpPr/>
          <p:nvPr/>
        </p:nvSpPr>
        <p:spPr>
          <a:xfrm>
            <a:off x="640080" y="4261104"/>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2</a:t>
            </a:r>
            <a:endParaRPr lang="en-US" sz="1600" dirty="0"/>
          </a:p>
        </p:txBody>
      </p:sp>
      <p:sp>
        <p:nvSpPr>
          <p:cNvPr id="10" name="Text 8"/>
          <p:cNvSpPr/>
          <p:nvPr/>
        </p:nvSpPr>
        <p:spPr>
          <a:xfrm>
            <a:off x="1143000" y="4261104"/>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iptables DNAT</a:t>
            </a:r>
            <a:endParaRPr lang="en-US" sz="1400" dirty="0"/>
          </a:p>
        </p:txBody>
      </p:sp>
      <p:sp>
        <p:nvSpPr>
          <p:cNvPr id="11" name="Text 9"/>
          <p:cNvSpPr/>
          <p:nvPr/>
        </p:nvSpPr>
        <p:spPr>
          <a:xfrm>
            <a:off x="3429000" y="4261104"/>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kars-strict redirects :80/:443 → 127.0.0.1:8444  (egress-guard init-container)</a:t>
            </a:r>
            <a:endParaRPr lang="en-US" sz="1200" dirty="0"/>
          </a:p>
        </p:txBody>
      </p:sp>
      <p:sp>
        <p:nvSpPr>
          <p:cNvPr id="12" name="Text 10"/>
          <p:cNvSpPr/>
          <p:nvPr/>
        </p:nvSpPr>
        <p:spPr>
          <a:xfrm>
            <a:off x="640080" y="4681728"/>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3</a:t>
            </a:r>
            <a:endParaRPr lang="en-US" sz="1600" dirty="0"/>
          </a:p>
        </p:txBody>
      </p:sp>
      <p:sp>
        <p:nvSpPr>
          <p:cNvPr id="13" name="Text 11"/>
          <p:cNvSpPr/>
          <p:nvPr/>
        </p:nvSpPr>
        <p:spPr>
          <a:xfrm>
            <a:off x="1143000" y="4681728"/>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router :8444</a:t>
            </a:r>
            <a:endParaRPr lang="en-US" sz="1400" dirty="0"/>
          </a:p>
        </p:txBody>
      </p:sp>
      <p:sp>
        <p:nvSpPr>
          <p:cNvPr id="14" name="Text 12"/>
          <p:cNvSpPr/>
          <p:nvPr/>
        </p:nvSpPr>
        <p:spPr>
          <a:xfrm>
            <a:off x="3429000" y="4681728"/>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transparent proxy terminates TLS, reconstitutes the request, looks up policy</a:t>
            </a:r>
            <a:endParaRPr lang="en-US" sz="1200" dirty="0"/>
          </a:p>
        </p:txBody>
      </p:sp>
      <p:sp>
        <p:nvSpPr>
          <p:cNvPr id="15" name="Text 13"/>
          <p:cNvSpPr/>
          <p:nvPr/>
        </p:nvSpPr>
        <p:spPr>
          <a:xfrm>
            <a:off x="640080" y="5102352"/>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4</a:t>
            </a:r>
            <a:endParaRPr lang="en-US" sz="1600" dirty="0"/>
          </a:p>
        </p:txBody>
      </p:sp>
      <p:sp>
        <p:nvSpPr>
          <p:cNvPr id="16" name="Text 14"/>
          <p:cNvSpPr/>
          <p:nvPr/>
        </p:nvSpPr>
        <p:spPr>
          <a:xfrm>
            <a:off x="1143000" y="5102352"/>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policy gate</a:t>
            </a:r>
            <a:endParaRPr lang="en-US" sz="1400" dirty="0"/>
          </a:p>
        </p:txBody>
      </p:sp>
      <p:sp>
        <p:nvSpPr>
          <p:cNvPr id="17" name="Text 15"/>
          <p:cNvSpPr/>
          <p:nvPr/>
        </p:nvSpPr>
        <p:spPr>
          <a:xfrm>
            <a:off x="3429000" y="5102352"/>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InferencePolicy · ToolPolicy · EgressApproval · Content Safety prompt-shields</a:t>
            </a:r>
            <a:endParaRPr lang="en-US" sz="1200" dirty="0"/>
          </a:p>
        </p:txBody>
      </p:sp>
      <p:sp>
        <p:nvSpPr>
          <p:cNvPr id="18" name="Text 16"/>
          <p:cNvSpPr/>
          <p:nvPr/>
        </p:nvSpPr>
        <p:spPr>
          <a:xfrm>
            <a:off x="640080" y="5522976"/>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5</a:t>
            </a:r>
            <a:endParaRPr lang="en-US" sz="1600" dirty="0"/>
          </a:p>
        </p:txBody>
      </p:sp>
      <p:sp>
        <p:nvSpPr>
          <p:cNvPr id="19" name="Text 17"/>
          <p:cNvSpPr/>
          <p:nvPr/>
        </p:nvSpPr>
        <p:spPr>
          <a:xfrm>
            <a:off x="1143000" y="5522976"/>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budget + audit</a:t>
            </a:r>
            <a:endParaRPr lang="en-US" sz="1400" dirty="0"/>
          </a:p>
        </p:txBody>
      </p:sp>
      <p:sp>
        <p:nvSpPr>
          <p:cNvPr id="20" name="Text 18"/>
          <p:cNvSpPr/>
          <p:nvPr/>
        </p:nvSpPr>
        <p:spPr>
          <a:xfrm>
            <a:off x="3429000" y="5522976"/>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per-sandbox token meter ticks · hash-chained JSONL row written · OTel emitted</a:t>
            </a:r>
            <a:endParaRPr lang="en-US" sz="1200" dirty="0"/>
          </a:p>
        </p:txBody>
      </p:sp>
      <p:sp>
        <p:nvSpPr>
          <p:cNvPr id="21" name="Text 19"/>
          <p:cNvSpPr/>
          <p:nvPr/>
        </p:nvSpPr>
        <p:spPr>
          <a:xfrm>
            <a:off x="640080" y="5943600"/>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6</a:t>
            </a:r>
            <a:endParaRPr lang="en-US" sz="1600" dirty="0"/>
          </a:p>
        </p:txBody>
      </p:sp>
      <p:sp>
        <p:nvSpPr>
          <p:cNvPr id="22" name="Text 20"/>
          <p:cNvSpPr/>
          <p:nvPr/>
        </p:nvSpPr>
        <p:spPr>
          <a:xfrm>
            <a:off x="1143000" y="5943600"/>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upstream</a:t>
            </a:r>
            <a:endParaRPr lang="en-US" sz="1400" dirty="0"/>
          </a:p>
        </p:txBody>
      </p:sp>
      <p:sp>
        <p:nvSpPr>
          <p:cNvPr id="23" name="Text 21"/>
          <p:cNvSpPr/>
          <p:nvPr/>
        </p:nvSpPr>
        <p:spPr>
          <a:xfrm>
            <a:off x="3429000" y="5943600"/>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Azure OpenAI · Anthropic · OpenAI · Bedrock · MCP · A2A — chosen by failover chain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§3.3 · ARCHITECTURE · ROUTER INTERNALS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Inside the sidecar.</a:t>
            </a:r>
            <a:endParaRPr lang="en-US" sz="3800" dirty="0"/>
          </a:p>
        </p:txBody>
      </p:sp>
      <p:sp>
        <p:nvSpPr>
          <p:cNvPr id="5" name="Text 3"/>
          <p:cNvSpPr/>
          <p:nvPr/>
        </p:nvSpPr>
        <p:spPr>
          <a:xfrm>
            <a:off x="640080" y="2286000"/>
            <a:ext cx="10881360" cy="10972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axum routes are mounted as merged sub-routers (inference, foundry, mesh, mcp, a2a, handoff, spawn, governance, egress, admin).  Cross-cutting subsystems are wired once as Tower layers and reused by every route.</a:t>
            </a:r>
            <a:endParaRPr lang="en-US" sz="1800" dirty="0"/>
          </a:p>
        </p:txBody>
      </p:sp>
      <p:sp>
        <p:nvSpPr>
          <p:cNvPr id="6" name="Text 4"/>
          <p:cNvSpPr/>
          <p:nvPr/>
        </p:nvSpPr>
        <p:spPr>
          <a:xfrm>
            <a:off x="640080" y="3611880"/>
            <a:ext cx="548640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Routes</a:t>
            </a:r>
            <a:endParaRPr lang="en-US" sz="1600" dirty="0"/>
          </a:p>
        </p:txBody>
      </p:sp>
      <p:sp>
        <p:nvSpPr>
          <p:cNvPr id="7" name="Text 5"/>
          <p:cNvSpPr/>
          <p:nvPr/>
        </p:nvSpPr>
        <p:spPr>
          <a:xfrm>
            <a:off x="640080" y="4023360"/>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/v1/chat/completions</a:t>
            </a:r>
            <a:endParaRPr lang="en-US" sz="1050" dirty="0"/>
          </a:p>
        </p:txBody>
      </p:sp>
      <p:sp>
        <p:nvSpPr>
          <p:cNvPr id="8" name="Text 6"/>
          <p:cNvSpPr/>
          <p:nvPr/>
        </p:nvSpPr>
        <p:spPr>
          <a:xfrm>
            <a:off x="3017520" y="4023360"/>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OpenAI-compatible inference (translated to Azure / Anthropic)</a:t>
            </a:r>
            <a:endParaRPr lang="en-US" sz="1050" dirty="0"/>
          </a:p>
        </p:txBody>
      </p:sp>
      <p:sp>
        <p:nvSpPr>
          <p:cNvPr id="9" name="Text 7"/>
          <p:cNvSpPr/>
          <p:nvPr/>
        </p:nvSpPr>
        <p:spPr>
          <a:xfrm>
            <a:off x="640080" y="4352544"/>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/v1/messages</a:t>
            </a:r>
            <a:endParaRPr lang="en-US" sz="1050" dirty="0"/>
          </a:p>
        </p:txBody>
      </p:sp>
      <p:sp>
        <p:nvSpPr>
          <p:cNvPr id="10" name="Text 8"/>
          <p:cNvSpPr/>
          <p:nvPr/>
        </p:nvSpPr>
        <p:spPr>
          <a:xfrm>
            <a:off x="3017520" y="4352544"/>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Anthropic Messages API · native passthrough</a:t>
            </a:r>
            <a:endParaRPr lang="en-US" sz="1050" dirty="0"/>
          </a:p>
        </p:txBody>
      </p:sp>
      <p:sp>
        <p:nvSpPr>
          <p:cNvPr id="11" name="Text 9"/>
          <p:cNvSpPr/>
          <p:nvPr/>
        </p:nvSpPr>
        <p:spPr>
          <a:xfrm>
            <a:off x="640080" y="4681728"/>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/mcp</a:t>
            </a:r>
            <a:endParaRPr lang="en-US" sz="1050" dirty="0"/>
          </a:p>
        </p:txBody>
      </p:sp>
      <p:sp>
        <p:nvSpPr>
          <p:cNvPr id="12" name="Text 10"/>
          <p:cNvSpPr/>
          <p:nvPr/>
        </p:nvSpPr>
        <p:spPr>
          <a:xfrm>
            <a:off x="3017520" y="4681728"/>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Model Context Protocol · Streamable HTTP + OAuth</a:t>
            </a:r>
            <a:endParaRPr lang="en-US" sz="1050" dirty="0"/>
          </a:p>
        </p:txBody>
      </p:sp>
      <p:sp>
        <p:nvSpPr>
          <p:cNvPr id="13" name="Text 11"/>
          <p:cNvSpPr/>
          <p:nvPr/>
        </p:nvSpPr>
        <p:spPr>
          <a:xfrm>
            <a:off x="640080" y="5010912"/>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/a2a + /.well-known/</a:t>
            </a:r>
            <a:endParaRPr lang="en-US" sz="1050" dirty="0"/>
          </a:p>
        </p:txBody>
      </p:sp>
      <p:sp>
        <p:nvSpPr>
          <p:cNvPr id="14" name="Text 12"/>
          <p:cNvSpPr/>
          <p:nvPr/>
        </p:nvSpPr>
        <p:spPr>
          <a:xfrm>
            <a:off x="3017520" y="5010912"/>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A2A 1.0.0 JSON-RPC + signed Agent Card (Ed25519)</a:t>
            </a:r>
            <a:endParaRPr lang="en-US" sz="1050" dirty="0"/>
          </a:p>
        </p:txBody>
      </p:sp>
      <p:sp>
        <p:nvSpPr>
          <p:cNvPr id="15" name="Text 13"/>
          <p:cNvSpPr/>
          <p:nvPr/>
        </p:nvSpPr>
        <p:spPr>
          <a:xfrm>
            <a:off x="640080" y="5340096"/>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/mesh</a:t>
            </a:r>
            <a:endParaRPr lang="en-US" sz="1050" dirty="0"/>
          </a:p>
        </p:txBody>
      </p:sp>
      <p:sp>
        <p:nvSpPr>
          <p:cNvPr id="16" name="Text 14"/>
          <p:cNvSpPr/>
          <p:nvPr/>
        </p:nvSpPr>
        <p:spPr>
          <a:xfrm>
            <a:off x="3017520" y="5340096"/>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WebSocket proxy to AGT relay (Signal-encrypted bytes only)</a:t>
            </a:r>
            <a:endParaRPr lang="en-US" sz="1050" dirty="0"/>
          </a:p>
        </p:txBody>
      </p:sp>
      <p:sp>
        <p:nvSpPr>
          <p:cNvPr id="17" name="Text 15"/>
          <p:cNvSpPr/>
          <p:nvPr/>
        </p:nvSpPr>
        <p:spPr>
          <a:xfrm>
            <a:off x="640080" y="5669280"/>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/spawn</a:t>
            </a:r>
            <a:endParaRPr lang="en-US" sz="1050" dirty="0"/>
          </a:p>
        </p:txBody>
      </p:sp>
      <p:sp>
        <p:nvSpPr>
          <p:cNvPr id="18" name="Text 16"/>
          <p:cNvSpPr/>
          <p:nvPr/>
        </p:nvSpPr>
        <p:spPr>
          <a:xfrm>
            <a:off x="3017520" y="5669280"/>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sub-agent spawn — governance-gated, parent-AMID-attested</a:t>
            </a:r>
            <a:endParaRPr lang="en-US" sz="1050" dirty="0"/>
          </a:p>
        </p:txBody>
      </p:sp>
      <p:sp>
        <p:nvSpPr>
          <p:cNvPr id="19" name="Text 17"/>
          <p:cNvSpPr/>
          <p:nvPr/>
        </p:nvSpPr>
        <p:spPr>
          <a:xfrm>
            <a:off x="640080" y="5998464"/>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/handoff/*</a:t>
            </a:r>
            <a:endParaRPr lang="en-US" sz="1050" dirty="0"/>
          </a:p>
        </p:txBody>
      </p:sp>
      <p:sp>
        <p:nvSpPr>
          <p:cNvPr id="20" name="Text 18"/>
          <p:cNvSpPr/>
          <p:nvPr/>
        </p:nvSpPr>
        <p:spPr>
          <a:xfrm>
            <a:off x="3017520" y="5998464"/>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agent succession with token replay + drain semantics</a:t>
            </a:r>
            <a:endParaRPr lang="en-US" sz="1050" dirty="0"/>
          </a:p>
        </p:txBody>
      </p:sp>
      <p:sp>
        <p:nvSpPr>
          <p:cNvPr id="21" name="Text 19"/>
          <p:cNvSpPr/>
          <p:nvPr/>
        </p:nvSpPr>
        <p:spPr>
          <a:xfrm>
            <a:off x="640080" y="6327648"/>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/admin/* + /metrics</a:t>
            </a:r>
            <a:endParaRPr lang="en-US" sz="1050" dirty="0"/>
          </a:p>
        </p:txBody>
      </p:sp>
      <p:sp>
        <p:nvSpPr>
          <p:cNvPr id="22" name="Text 20"/>
          <p:cNvSpPr/>
          <p:nvPr/>
        </p:nvSpPr>
        <p:spPr>
          <a:xfrm>
            <a:off x="3017520" y="6327648"/>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operator API · Prometheus exporters · health probes</a:t>
            </a:r>
            <a:endParaRPr lang="en-US" sz="1050" dirty="0"/>
          </a:p>
        </p:txBody>
      </p:sp>
      <p:sp>
        <p:nvSpPr>
          <p:cNvPr id="23" name="Text 21"/>
          <p:cNvSpPr/>
          <p:nvPr/>
        </p:nvSpPr>
        <p:spPr>
          <a:xfrm>
            <a:off x="6400800" y="3611880"/>
            <a:ext cx="51206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Subsystems</a:t>
            </a:r>
            <a:endParaRPr lang="en-US" sz="1600" dirty="0"/>
          </a:p>
        </p:txBody>
      </p:sp>
      <p:sp>
        <p:nvSpPr>
          <p:cNvPr id="24" name="Text 22"/>
          <p:cNvSpPr/>
          <p:nvPr/>
        </p:nvSpPr>
        <p:spPr>
          <a:xfrm>
            <a:off x="6400800" y="4023360"/>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audit</a:t>
            </a:r>
            <a:endParaRPr lang="en-US" sz="1050" dirty="0"/>
          </a:p>
        </p:txBody>
      </p:sp>
      <p:sp>
        <p:nvSpPr>
          <p:cNvPr id="25" name="Text 23"/>
          <p:cNvSpPr/>
          <p:nvPr/>
        </p:nvSpPr>
        <p:spPr>
          <a:xfrm>
            <a:off x="8046720" y="4023360"/>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hash-chained JSONL — prev_hash / hash per row</a:t>
            </a:r>
            <a:endParaRPr lang="en-US" sz="1050" dirty="0"/>
          </a:p>
        </p:txBody>
      </p:sp>
      <p:sp>
        <p:nvSpPr>
          <p:cNvPr id="26" name="Text 24"/>
          <p:cNvSpPr/>
          <p:nvPr/>
        </p:nvSpPr>
        <p:spPr>
          <a:xfrm>
            <a:off x="6400800" y="4352544"/>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budget</a:t>
            </a:r>
            <a:endParaRPr lang="en-US" sz="1050" dirty="0"/>
          </a:p>
        </p:txBody>
      </p:sp>
      <p:sp>
        <p:nvSpPr>
          <p:cNvPr id="27" name="Text 25"/>
          <p:cNvSpPr/>
          <p:nvPr/>
        </p:nvSpPr>
        <p:spPr>
          <a:xfrm>
            <a:off x="8046720" y="4352544"/>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per-sandbox token meter · per-tool RPS · 429 on exhaustion</a:t>
            </a:r>
            <a:endParaRPr lang="en-US" sz="1050" dirty="0"/>
          </a:p>
        </p:txBody>
      </p:sp>
      <p:sp>
        <p:nvSpPr>
          <p:cNvPr id="28" name="Text 26"/>
          <p:cNvSpPr/>
          <p:nvPr/>
        </p:nvSpPr>
        <p:spPr>
          <a:xfrm>
            <a:off x="6400800" y="4681728"/>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failover</a:t>
            </a:r>
            <a:endParaRPr lang="en-US" sz="1050" dirty="0"/>
          </a:p>
        </p:txBody>
      </p:sp>
      <p:sp>
        <p:nvSpPr>
          <p:cNvPr id="29" name="Text 27"/>
          <p:cNvSpPr/>
          <p:nvPr/>
        </p:nvSpPr>
        <p:spPr>
          <a:xfrm>
            <a:off x="8046720" y="4681728"/>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provider chain · 503/RateLimit auto-fallback · Copilot JWT refresh</a:t>
            </a:r>
            <a:endParaRPr lang="en-US" sz="1050" dirty="0"/>
          </a:p>
        </p:txBody>
      </p:sp>
      <p:sp>
        <p:nvSpPr>
          <p:cNvPr id="30" name="Text 28"/>
          <p:cNvSpPr/>
          <p:nvPr/>
        </p:nvSpPr>
        <p:spPr>
          <a:xfrm>
            <a:off x="6400800" y="5010912"/>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content safety</a:t>
            </a:r>
            <a:endParaRPr lang="en-US" sz="1050" dirty="0"/>
          </a:p>
        </p:txBody>
      </p:sp>
      <p:sp>
        <p:nvSpPr>
          <p:cNvPr id="31" name="Text 29"/>
          <p:cNvSpPr/>
          <p:nvPr/>
        </p:nvSpPr>
        <p:spPr>
          <a:xfrm>
            <a:off x="8046720" y="5010912"/>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Azure prompt-shields · jailbreak detection · blocked-output rewrite</a:t>
            </a:r>
            <a:endParaRPr lang="en-US" sz="1050" dirty="0"/>
          </a:p>
        </p:txBody>
      </p:sp>
      <p:sp>
        <p:nvSpPr>
          <p:cNvPr id="32" name="Text 30"/>
          <p:cNvSpPr/>
          <p:nvPr/>
        </p:nvSpPr>
        <p:spPr>
          <a:xfrm>
            <a:off x="6400800" y="5340096"/>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trust store</a:t>
            </a:r>
            <a:endParaRPr lang="en-US" sz="1050" dirty="0"/>
          </a:p>
        </p:txBody>
      </p:sp>
      <p:sp>
        <p:nvSpPr>
          <p:cNvPr id="33" name="Text 31"/>
          <p:cNvSpPr/>
          <p:nvPr/>
        </p:nvSpPr>
        <p:spPr>
          <a:xfrm>
            <a:off x="8046720" y="5340096"/>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Ed25519 identities · X25519 keys · X3DH bundles · Double Ratchet sessions</a:t>
            </a:r>
            <a:endParaRPr lang="en-US" sz="1050" dirty="0"/>
          </a:p>
        </p:txBody>
      </p:sp>
      <p:sp>
        <p:nvSpPr>
          <p:cNvPr id="34" name="Text 32"/>
          <p:cNvSpPr/>
          <p:nvPr/>
        </p:nvSpPr>
        <p:spPr>
          <a:xfrm>
            <a:off x="6400800" y="5669280"/>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auth</a:t>
            </a:r>
            <a:endParaRPr lang="en-US" sz="1050" dirty="0"/>
          </a:p>
        </p:txBody>
      </p:sp>
      <p:sp>
        <p:nvSpPr>
          <p:cNvPr id="35" name="Text 33"/>
          <p:cNvSpPr/>
          <p:nvPr/>
        </p:nvSpPr>
        <p:spPr>
          <a:xfrm>
            <a:off x="8046720" y="5669280"/>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IMDS / Workload Identity · no API keys ever land in the pod</a:t>
            </a:r>
            <a:endParaRPr lang="en-US" sz="1050" dirty="0"/>
          </a:p>
        </p:txBody>
      </p:sp>
      <p:sp>
        <p:nvSpPr>
          <p:cNvPr id="36" name="Text 34"/>
          <p:cNvSpPr/>
          <p:nvPr/>
        </p:nvSpPr>
        <p:spPr>
          <a:xfrm>
            <a:off x="6400800" y="5998464"/>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mtls</a:t>
            </a:r>
            <a:endParaRPr lang="en-US" sz="1050" dirty="0"/>
          </a:p>
        </p:txBody>
      </p:sp>
      <p:sp>
        <p:nvSpPr>
          <p:cNvPr id="37" name="Text 35"/>
          <p:cNvSpPr/>
          <p:nvPr/>
        </p:nvSpPr>
        <p:spPr>
          <a:xfrm>
            <a:off x="8046720" y="5998464"/>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A2A inter-cluster mTLS · trust-graph projection</a:t>
            </a:r>
            <a:endParaRPr lang="en-US" sz="1050" dirty="0"/>
          </a:p>
        </p:txBody>
      </p:sp>
      <p:sp>
        <p:nvSpPr>
          <p:cNvPr id="38" name="Text 36"/>
          <p:cNvSpPr/>
          <p:nvPr/>
        </p:nvSpPr>
        <p:spPr>
          <a:xfrm>
            <a:off x="6400800" y="6327648"/>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mesh transport</a:t>
            </a:r>
            <a:endParaRPr lang="en-US" sz="1050" dirty="0"/>
          </a:p>
        </p:txBody>
      </p:sp>
      <p:sp>
        <p:nvSpPr>
          <p:cNvPr id="39" name="Text 37"/>
          <p:cNvSpPr/>
          <p:nvPr/>
        </p:nvSpPr>
        <p:spPr>
          <a:xfrm>
            <a:off x="8046720" y="6327648"/>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AGT MeshClient · KNOCK proof-of-possession · sealed-sender mode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§3.4 · ARCHITECTURE · THE CONTROLLER LOOP</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000" b="1" dirty="0">
                <a:solidFill>
                  <a:srgbClr val="1A1A1A"/>
                </a:solidFill>
                <a:latin typeface="Helvetica" pitchFamily="34" charset="0"/>
                <a:ea typeface="Helvetica" pitchFamily="34" charset="-122"/>
                <a:cs typeface="Helvetica" pitchFamily="34" charset="-120"/>
              </a:rPr>
              <a:t>KarsSandbox  →  nine Kubernetes primitives.</a:t>
            </a:r>
            <a:endParaRPr lang="en-US" sz="3000" dirty="0"/>
          </a:p>
        </p:txBody>
      </p:sp>
      <p:sp>
        <p:nvSpPr>
          <p:cNvPr id="5" name="Text 3"/>
          <p:cNvSpPr/>
          <p:nvPr/>
        </p:nvSpPr>
        <p:spPr>
          <a:xfrm>
            <a:off x="640080" y="224028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Reconciliation is idempotent.  Every apply walks nine steps under server-side apply with field managers per step (so other controllers can co-own pieces).  ownerRefs guarantee garbage collection — delete the KarsSandbox, the namespace and everything in it go too.  Source:  controller/src/reconciler/mod.rs:668-2927.</a:t>
            </a:r>
            <a:endParaRPr lang="en-US" sz="1800" dirty="0"/>
          </a:p>
        </p:txBody>
      </p:sp>
      <p:sp>
        <p:nvSpPr>
          <p:cNvPr id="6" name="Text 4"/>
          <p:cNvSpPr/>
          <p:nvPr/>
        </p:nvSpPr>
        <p:spPr>
          <a:xfrm>
            <a:off x="640080" y="3886200"/>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1</a:t>
            </a:r>
            <a:endParaRPr lang="en-US" sz="1200" dirty="0"/>
          </a:p>
        </p:txBody>
      </p:sp>
      <p:sp>
        <p:nvSpPr>
          <p:cNvPr id="7" name="Text 5"/>
          <p:cNvSpPr/>
          <p:nvPr/>
        </p:nvSpPr>
        <p:spPr>
          <a:xfrm>
            <a:off x="1005840" y="3886200"/>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Namespace</a:t>
            </a:r>
            <a:endParaRPr lang="en-US" sz="1200" dirty="0"/>
          </a:p>
        </p:txBody>
      </p:sp>
      <p:sp>
        <p:nvSpPr>
          <p:cNvPr id="8" name="Text 6"/>
          <p:cNvSpPr/>
          <p:nvPr/>
        </p:nvSpPr>
        <p:spPr>
          <a:xfrm>
            <a:off x="2880360" y="3886200"/>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kars-&lt;name&gt; — isolation boundary; only the controller-managed objects exist here</a:t>
            </a:r>
            <a:endParaRPr lang="en-US" sz="1050" dirty="0"/>
          </a:p>
        </p:txBody>
      </p:sp>
      <p:sp>
        <p:nvSpPr>
          <p:cNvPr id="9" name="Text 7"/>
          <p:cNvSpPr/>
          <p:nvPr/>
        </p:nvSpPr>
        <p:spPr>
          <a:xfrm>
            <a:off x="640080" y="4178808"/>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2</a:t>
            </a:r>
            <a:endParaRPr lang="en-US" sz="1200" dirty="0"/>
          </a:p>
        </p:txBody>
      </p:sp>
      <p:sp>
        <p:nvSpPr>
          <p:cNvPr id="10" name="Text 8"/>
          <p:cNvSpPr/>
          <p:nvPr/>
        </p:nvSpPr>
        <p:spPr>
          <a:xfrm>
            <a:off x="1005840" y="4178808"/>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ServiceAccount + WI</a:t>
            </a:r>
            <a:endParaRPr lang="en-US" sz="1200" dirty="0"/>
          </a:p>
        </p:txBody>
      </p:sp>
      <p:sp>
        <p:nvSpPr>
          <p:cNvPr id="11" name="Text 9"/>
          <p:cNvSpPr/>
          <p:nvPr/>
        </p:nvSpPr>
        <p:spPr>
          <a:xfrm>
            <a:off x="2880360" y="4178808"/>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Azure Workload Identity binding · per-sandbox FedCred · short-lived OIDC tokens</a:t>
            </a:r>
            <a:endParaRPr lang="en-US" sz="1050" dirty="0"/>
          </a:p>
        </p:txBody>
      </p:sp>
      <p:sp>
        <p:nvSpPr>
          <p:cNvPr id="12" name="Text 10"/>
          <p:cNvSpPr/>
          <p:nvPr/>
        </p:nvSpPr>
        <p:spPr>
          <a:xfrm>
            <a:off x="640080" y="4471416"/>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3</a:t>
            </a:r>
            <a:endParaRPr lang="en-US" sz="1200" dirty="0"/>
          </a:p>
        </p:txBody>
      </p:sp>
      <p:sp>
        <p:nvSpPr>
          <p:cNvPr id="13" name="Text 11"/>
          <p:cNvSpPr/>
          <p:nvPr/>
        </p:nvSpPr>
        <p:spPr>
          <a:xfrm>
            <a:off x="1005840" y="4471416"/>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NetworkPolicy</a:t>
            </a:r>
            <a:endParaRPr lang="en-US" sz="1200" dirty="0"/>
          </a:p>
        </p:txBody>
      </p:sp>
      <p:sp>
        <p:nvSpPr>
          <p:cNvPr id="14" name="Text 12"/>
          <p:cNvSpPr/>
          <p:nvPr/>
        </p:nvSpPr>
        <p:spPr>
          <a:xfrm>
            <a:off x="2880360" y="4471416"/>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default-deny + allowlist · ingress :8443 from monitoring · DNS + IMDS only egress</a:t>
            </a:r>
            <a:endParaRPr lang="en-US" sz="1050" dirty="0"/>
          </a:p>
        </p:txBody>
      </p:sp>
      <p:sp>
        <p:nvSpPr>
          <p:cNvPr id="15" name="Text 13"/>
          <p:cNvSpPr/>
          <p:nvPr/>
        </p:nvSpPr>
        <p:spPr>
          <a:xfrm>
            <a:off x="640080" y="4764024"/>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4</a:t>
            </a:r>
            <a:endParaRPr lang="en-US" sz="1200" dirty="0"/>
          </a:p>
        </p:txBody>
      </p:sp>
      <p:sp>
        <p:nvSpPr>
          <p:cNvPr id="16" name="Text 14"/>
          <p:cNvSpPr/>
          <p:nvPr/>
        </p:nvSpPr>
        <p:spPr>
          <a:xfrm>
            <a:off x="1005840" y="4764024"/>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ConfigMaps</a:t>
            </a:r>
            <a:endParaRPr lang="en-US" sz="1200" dirty="0"/>
          </a:p>
        </p:txBody>
      </p:sp>
      <p:sp>
        <p:nvSpPr>
          <p:cNvPr id="17" name="Text 15"/>
          <p:cNvSpPr/>
          <p:nvPr/>
        </p:nvSpPr>
        <p:spPr>
          <a:xfrm>
            <a:off x="2880360" y="4764024"/>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policy bundles (Inference + Tool + Egress + Memory) · AGT envelope · run-tag</a:t>
            </a:r>
            <a:endParaRPr lang="en-US" sz="1050" dirty="0"/>
          </a:p>
        </p:txBody>
      </p:sp>
      <p:sp>
        <p:nvSpPr>
          <p:cNvPr id="18" name="Text 16"/>
          <p:cNvSpPr/>
          <p:nvPr/>
        </p:nvSpPr>
        <p:spPr>
          <a:xfrm>
            <a:off x="640080" y="5056632"/>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5</a:t>
            </a:r>
            <a:endParaRPr lang="en-US" sz="1200" dirty="0"/>
          </a:p>
        </p:txBody>
      </p:sp>
      <p:sp>
        <p:nvSpPr>
          <p:cNvPr id="19" name="Text 17"/>
          <p:cNvSpPr/>
          <p:nvPr/>
        </p:nvSpPr>
        <p:spPr>
          <a:xfrm>
            <a:off x="1005840" y="5056632"/>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Secret</a:t>
            </a:r>
            <a:endParaRPr lang="en-US" sz="1200" dirty="0"/>
          </a:p>
        </p:txBody>
      </p:sp>
      <p:sp>
        <p:nvSpPr>
          <p:cNvPr id="20" name="Text 18"/>
          <p:cNvSpPr/>
          <p:nvPr/>
        </p:nvSpPr>
        <p:spPr>
          <a:xfrm>
            <a:off x="2880360" y="5056632"/>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gateway token (rotated) · router admin token · seccomp profile path</a:t>
            </a:r>
            <a:endParaRPr lang="en-US" sz="1050" dirty="0"/>
          </a:p>
        </p:txBody>
      </p:sp>
      <p:sp>
        <p:nvSpPr>
          <p:cNvPr id="21" name="Text 19"/>
          <p:cNvSpPr/>
          <p:nvPr/>
        </p:nvSpPr>
        <p:spPr>
          <a:xfrm>
            <a:off x="640080" y="5349240"/>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6</a:t>
            </a:r>
            <a:endParaRPr lang="en-US" sz="1200" dirty="0"/>
          </a:p>
        </p:txBody>
      </p:sp>
      <p:sp>
        <p:nvSpPr>
          <p:cNvPr id="22" name="Text 20"/>
          <p:cNvSpPr/>
          <p:nvPr/>
        </p:nvSpPr>
        <p:spPr>
          <a:xfrm>
            <a:off x="1005840" y="5349240"/>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Deployment</a:t>
            </a:r>
            <a:endParaRPr lang="en-US" sz="1200" dirty="0"/>
          </a:p>
        </p:txBody>
      </p:sp>
      <p:sp>
        <p:nvSpPr>
          <p:cNvPr id="23" name="Text 21"/>
          <p:cNvSpPr/>
          <p:nvPr/>
        </p:nvSpPr>
        <p:spPr>
          <a:xfrm>
            <a:off x="2880360" y="5349240"/>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1 init container (egress-guard) + 2 app containers (openclaw + inference-router)</a:t>
            </a:r>
            <a:endParaRPr lang="en-US" sz="1050" dirty="0"/>
          </a:p>
        </p:txBody>
      </p:sp>
      <p:sp>
        <p:nvSpPr>
          <p:cNvPr id="24" name="Text 22"/>
          <p:cNvSpPr/>
          <p:nvPr/>
        </p:nvSpPr>
        <p:spPr>
          <a:xfrm>
            <a:off x="640080" y="5641848"/>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7</a:t>
            </a:r>
            <a:endParaRPr lang="en-US" sz="1200" dirty="0"/>
          </a:p>
        </p:txBody>
      </p:sp>
      <p:sp>
        <p:nvSpPr>
          <p:cNvPr id="25" name="Text 23"/>
          <p:cNvSpPr/>
          <p:nvPr/>
        </p:nvSpPr>
        <p:spPr>
          <a:xfrm>
            <a:off x="1005840" y="5641848"/>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Service</a:t>
            </a:r>
            <a:endParaRPr lang="en-US" sz="1200" dirty="0"/>
          </a:p>
        </p:txBody>
      </p:sp>
      <p:sp>
        <p:nvSpPr>
          <p:cNvPr id="26" name="Text 24"/>
          <p:cNvSpPr/>
          <p:nvPr/>
        </p:nvSpPr>
        <p:spPr>
          <a:xfrm>
            <a:off x="2880360" y="5641848"/>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cluster-internal :8443 router admin + :18789 OpenClaw WebUI</a:t>
            </a:r>
            <a:endParaRPr lang="en-US" sz="1050" dirty="0"/>
          </a:p>
        </p:txBody>
      </p:sp>
      <p:sp>
        <p:nvSpPr>
          <p:cNvPr id="27" name="Text 25"/>
          <p:cNvSpPr/>
          <p:nvPr/>
        </p:nvSpPr>
        <p:spPr>
          <a:xfrm>
            <a:off x="640080" y="5934456"/>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8</a:t>
            </a:r>
            <a:endParaRPr lang="en-US" sz="1200" dirty="0"/>
          </a:p>
        </p:txBody>
      </p:sp>
      <p:sp>
        <p:nvSpPr>
          <p:cNvPr id="28" name="Text 26"/>
          <p:cNvSpPr/>
          <p:nvPr/>
        </p:nvSpPr>
        <p:spPr>
          <a:xfrm>
            <a:off x="1005840" y="5934456"/>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ClusterRoleBinding</a:t>
            </a:r>
            <a:endParaRPr lang="en-US" sz="1200" dirty="0"/>
          </a:p>
        </p:txBody>
      </p:sp>
      <p:sp>
        <p:nvSpPr>
          <p:cNvPr id="29" name="Text 27"/>
          <p:cNvSpPr/>
          <p:nvPr/>
        </p:nvSpPr>
        <p:spPr>
          <a:xfrm>
            <a:off x="2880360" y="5934456"/>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spawn permissions — sandbox SA may create sub-sandbox KarsSandbox CRs</a:t>
            </a:r>
            <a:endParaRPr lang="en-US" sz="1050" dirty="0"/>
          </a:p>
        </p:txBody>
      </p:sp>
      <p:sp>
        <p:nvSpPr>
          <p:cNvPr id="30" name="Text 28"/>
          <p:cNvSpPr/>
          <p:nvPr/>
        </p:nvSpPr>
        <p:spPr>
          <a:xfrm>
            <a:off x="640080" y="6227064"/>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9</a:t>
            </a:r>
            <a:endParaRPr lang="en-US" sz="1200" dirty="0"/>
          </a:p>
        </p:txBody>
      </p:sp>
      <p:sp>
        <p:nvSpPr>
          <p:cNvPr id="31" name="Text 29"/>
          <p:cNvSpPr/>
          <p:nvPr/>
        </p:nvSpPr>
        <p:spPr>
          <a:xfrm>
            <a:off x="1005840" y="6227064"/>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CronJob</a:t>
            </a:r>
            <a:endParaRPr lang="en-US" sz="1200" dirty="0"/>
          </a:p>
        </p:txBody>
      </p:sp>
      <p:sp>
        <p:nvSpPr>
          <p:cNvPr id="32" name="Text 30"/>
          <p:cNvSpPr/>
          <p:nvPr/>
        </p:nvSpPr>
        <p:spPr>
          <a:xfrm>
            <a:off x="2880360" y="6227064"/>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blocklist refresh every 6 h — pulls signed allowlist deltas + updates router CM</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§3.5 · ARCHITECTURE · STATUS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Status is the operator contract.</a:t>
            </a:r>
            <a:endParaRPr lang="en-US" sz="3200" dirty="0"/>
          </a:p>
        </p:txBody>
      </p:sp>
      <p:sp>
        <p:nvSpPr>
          <p:cNvPr id="5" name="Text 3"/>
          <p:cNvSpPr/>
          <p:nvPr/>
        </p:nvSpPr>
        <p:spPr>
          <a:xfrm>
            <a:off x="640080" y="2240280"/>
            <a:ext cx="10881360" cy="15544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CRD carries `.status.phase` from a fixed taxonomy, generation-tracked conditions, last-reconciled timestamp, and a degradation reason. Drift surfaces as Kubernetes Warning Events.  The router emits Prometheus counters + GenAI OpenTelemetry.</a:t>
            </a:r>
            <a:endParaRPr lang="en-US" sz="1800" dirty="0"/>
          </a:p>
        </p:txBody>
      </p:sp>
      <p:sp>
        <p:nvSpPr>
          <p:cNvPr id="6" name="Shape 4"/>
          <p:cNvSpPr/>
          <p:nvPr/>
        </p:nvSpPr>
        <p:spPr>
          <a:xfrm>
            <a:off x="640080" y="3931920"/>
            <a:ext cx="5943600" cy="2651760"/>
          </a:xfrm>
          <a:prstGeom prst="rect">
            <a:avLst/>
          </a:prstGeom>
          <a:solidFill>
            <a:srgbClr val="F6F8FA"/>
          </a:solidFill>
          <a:ln w="9525">
            <a:solidFill>
              <a:srgbClr val="E1E4E8"/>
            </a:solidFill>
            <a:prstDash val="solid"/>
          </a:ln>
        </p:spPr>
      </p:sp>
      <p:sp>
        <p:nvSpPr>
          <p:cNvPr id="7" name="Text 5"/>
          <p:cNvSpPr/>
          <p:nvPr/>
        </p:nvSpPr>
        <p:spPr>
          <a:xfrm>
            <a:off x="868680" y="4160520"/>
            <a:ext cx="5486400" cy="2194560"/>
          </a:xfrm>
          <a:prstGeom prst="rect">
            <a:avLst/>
          </a:prstGeom>
          <a:noFill/>
          <a:ln/>
        </p:spPr>
        <p:txBody>
          <a:bodyPr wrap="square" lIns="0" tIns="0" rIns="0" bIns="0" rtlCol="0" anchor="t"/>
          <a:lstStyle/>
          <a:p>
            <a:pPr algn="l" indent="0" marL="0">
              <a:buNone/>
            </a:pPr>
            <a:r>
              <a:rPr lang="en-US" sz="1100" dirty="0">
                <a:solidFill>
                  <a:srgbClr val="1A1A1A"/>
                </a:solidFill>
                <a:latin typeface="Consolas" pitchFamily="34" charset="0"/>
                <a:ea typeface="Consolas" pitchFamily="34" charset="-122"/>
                <a:cs typeface="Consolas" pitchFamily="34" charset="-120"/>
              </a:rPr>
              <a:t>status:
</a:t>
            </a:r>
            <a:pPr algn="l" indent="0" marL="0">
              <a:buNone/>
            </a:pPr>
            <a:r>
              <a:rPr lang="en-US" sz="1100" dirty="0">
                <a:solidFill>
                  <a:srgbClr val="C53030"/>
                </a:solidFill>
                <a:latin typeface="Consolas" pitchFamily="34" charset="0"/>
                <a:ea typeface="Consolas" pitchFamily="34" charset="-122"/>
                <a:cs typeface="Consolas" pitchFamily="34" charset="-120"/>
              </a:rPr>
              <a:t>  phase: </a:t>
            </a:r>
            <a:pPr algn="l" indent="0" marL="0">
              <a:buNone/>
            </a:pPr>
            <a:r>
              <a:rPr lang="en-US" sz="1100" dirty="0">
                <a:solidFill>
                  <a:srgbClr val="276749"/>
                </a:solidFill>
                <a:latin typeface="Consolas" pitchFamily="34" charset="0"/>
                <a:ea typeface="Consolas" pitchFamily="34" charset="-122"/>
                <a:cs typeface="Consolas" pitchFamily="34" charset="-120"/>
              </a:rPr>
              <a:t>Running
</a:t>
            </a:r>
            <a:pPr algn="l" indent="0" marL="0">
              <a:buNone/>
            </a:pPr>
            <a:r>
              <a:rPr lang="en-US" sz="1100" dirty="0">
                <a:solidFill>
                  <a:srgbClr val="C53030"/>
                </a:solidFill>
                <a:latin typeface="Consolas" pitchFamily="34" charset="0"/>
                <a:ea typeface="Consolas" pitchFamily="34" charset="-122"/>
                <a:cs typeface="Consolas" pitchFamily="34" charset="-120"/>
              </a:rPr>
              <a:t>  observedGeneration: </a:t>
            </a:r>
            <a:pPr algn="l" indent="0" marL="0">
              <a:buNone/>
            </a:pPr>
            <a:r>
              <a:rPr lang="en-US" sz="1100" dirty="0">
                <a:solidFill>
                  <a:srgbClr val="276749"/>
                </a:solidFill>
                <a:latin typeface="Consolas" pitchFamily="34" charset="0"/>
                <a:ea typeface="Consolas" pitchFamily="34" charset="-122"/>
                <a:cs typeface="Consolas" pitchFamily="34" charset="-120"/>
              </a:rPr>
              <a:t>7
</a:t>
            </a:r>
            <a:pPr algn="l" indent="0" marL="0">
              <a:buNone/>
            </a:pPr>
            <a:r>
              <a:rPr lang="en-US" sz="1100" dirty="0">
                <a:solidFill>
                  <a:srgbClr val="C53030"/>
                </a:solidFill>
                <a:latin typeface="Consolas" pitchFamily="34" charset="0"/>
                <a:ea typeface="Consolas" pitchFamily="34" charset="-122"/>
                <a:cs typeface="Consolas" pitchFamily="34" charset="-120"/>
              </a:rPr>
              <a:t>  lastReconciled: </a:t>
            </a:r>
            <a:pPr algn="l" indent="0" marL="0">
              <a:buNone/>
            </a:pPr>
            <a:r>
              <a:rPr lang="en-US" sz="1100" dirty="0">
                <a:solidFill>
                  <a:srgbClr val="276749"/>
                </a:solidFill>
                <a:latin typeface="Consolas" pitchFamily="34" charset="0"/>
                <a:ea typeface="Consolas" pitchFamily="34" charset="-122"/>
                <a:cs typeface="Consolas" pitchFamily="34" charset="-120"/>
              </a:rPr>
              <a:t>"2026-06-08T18:23:11Z"
</a:t>
            </a:r>
            <a:pPr algn="l" indent="0" marL="0">
              <a:buNone/>
            </a:pPr>
            <a:r>
              <a:rPr lang="en-US" sz="1100" dirty="0">
                <a:solidFill>
                  <a:srgbClr val="1A1A1A"/>
                </a:solidFill>
                <a:latin typeface="Consolas" pitchFamily="34" charset="0"/>
                <a:ea typeface="Consolas" pitchFamily="34" charset="-122"/>
                <a:cs typeface="Consolas" pitchFamily="34" charset="-120"/>
              </a:rPr>
              <a:t>  conditions: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PolicyCompiled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EnvelopeApplied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RouterEnforcing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ConfirmedDigest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Available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PodReady
</a:t>
            </a:r>
            <a:endParaRPr lang="en-US" sz="1100" dirty="0"/>
          </a:p>
        </p:txBody>
      </p:sp>
      <p:sp>
        <p:nvSpPr>
          <p:cNvPr id="8" name="Text 6"/>
          <p:cNvSpPr/>
          <p:nvPr/>
        </p:nvSpPr>
        <p:spPr>
          <a:xfrm>
            <a:off x="6675120" y="3931920"/>
            <a:ext cx="4846320" cy="32004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Phase taxonomy</a:t>
            </a:r>
            <a:endParaRPr lang="en-US" sz="1400" dirty="0"/>
          </a:p>
        </p:txBody>
      </p:sp>
      <p:sp>
        <p:nvSpPr>
          <p:cNvPr id="9" name="Text 7"/>
          <p:cNvSpPr/>
          <p:nvPr/>
        </p:nvSpPr>
        <p:spPr>
          <a:xfrm>
            <a:off x="6675120" y="4297680"/>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Pending</a:t>
            </a:r>
            <a:endParaRPr lang="en-US" sz="1000" dirty="0"/>
          </a:p>
        </p:txBody>
      </p:sp>
      <p:sp>
        <p:nvSpPr>
          <p:cNvPr id="10" name="Text 8"/>
          <p:cNvSpPr/>
          <p:nvPr/>
        </p:nvSpPr>
        <p:spPr>
          <a:xfrm>
            <a:off x="7955280" y="4297680"/>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controller accepted CR</a:t>
            </a:r>
            <a:endParaRPr lang="en-US" sz="1000" dirty="0"/>
          </a:p>
        </p:txBody>
      </p:sp>
      <p:sp>
        <p:nvSpPr>
          <p:cNvPr id="11" name="Text 9"/>
          <p:cNvSpPr/>
          <p:nvPr/>
        </p:nvSpPr>
        <p:spPr>
          <a:xfrm>
            <a:off x="6675120" y="4544568"/>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Compiled</a:t>
            </a:r>
            <a:endParaRPr lang="en-US" sz="1000" dirty="0"/>
          </a:p>
        </p:txBody>
      </p:sp>
      <p:sp>
        <p:nvSpPr>
          <p:cNvPr id="12" name="Text 10"/>
          <p:cNvSpPr/>
          <p:nvPr/>
        </p:nvSpPr>
        <p:spPr>
          <a:xfrm>
            <a:off x="7955280" y="4544568"/>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spec parsed → ConfigMaps written</a:t>
            </a:r>
            <a:endParaRPr lang="en-US" sz="1000" dirty="0"/>
          </a:p>
        </p:txBody>
      </p:sp>
      <p:sp>
        <p:nvSpPr>
          <p:cNvPr id="13" name="Text 11"/>
          <p:cNvSpPr/>
          <p:nvPr/>
        </p:nvSpPr>
        <p:spPr>
          <a:xfrm>
            <a:off x="6675120" y="4791456"/>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Ready</a:t>
            </a:r>
            <a:endParaRPr lang="en-US" sz="1000" dirty="0"/>
          </a:p>
        </p:txBody>
      </p:sp>
      <p:sp>
        <p:nvSpPr>
          <p:cNvPr id="14" name="Text 12"/>
          <p:cNvSpPr/>
          <p:nvPr/>
        </p:nvSpPr>
        <p:spPr>
          <a:xfrm>
            <a:off x="7955280" y="4791456"/>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data plane confirmed enforcing</a:t>
            </a:r>
            <a:endParaRPr lang="en-US" sz="1000" dirty="0"/>
          </a:p>
        </p:txBody>
      </p:sp>
      <p:sp>
        <p:nvSpPr>
          <p:cNvPr id="15" name="Text 13"/>
          <p:cNvSpPr/>
          <p:nvPr/>
        </p:nvSpPr>
        <p:spPr>
          <a:xfrm>
            <a:off x="6675120" y="5038344"/>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Running</a:t>
            </a:r>
            <a:endParaRPr lang="en-US" sz="1000" dirty="0"/>
          </a:p>
        </p:txBody>
      </p:sp>
      <p:sp>
        <p:nvSpPr>
          <p:cNvPr id="16" name="Text 14"/>
          <p:cNvSpPr/>
          <p:nvPr/>
        </p:nvSpPr>
        <p:spPr>
          <a:xfrm>
            <a:off x="7955280" y="5038344"/>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Pod ready (sandbox only)</a:t>
            </a:r>
            <a:endParaRPr lang="en-US" sz="1000" dirty="0"/>
          </a:p>
        </p:txBody>
      </p:sp>
      <p:sp>
        <p:nvSpPr>
          <p:cNvPr id="17" name="Text 15"/>
          <p:cNvSpPr/>
          <p:nvPr/>
        </p:nvSpPr>
        <p:spPr>
          <a:xfrm>
            <a:off x="6675120" y="5285232"/>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Degraded</a:t>
            </a:r>
            <a:endParaRPr lang="en-US" sz="1000" dirty="0"/>
          </a:p>
        </p:txBody>
      </p:sp>
      <p:sp>
        <p:nvSpPr>
          <p:cNvPr id="18" name="Text 16"/>
          <p:cNvSpPr/>
          <p:nvPr/>
        </p:nvSpPr>
        <p:spPr>
          <a:xfrm>
            <a:off x="7955280" y="5285232"/>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valid but partial — see reason</a:t>
            </a:r>
            <a:endParaRPr lang="en-US" sz="1000" dirty="0"/>
          </a:p>
        </p:txBody>
      </p:sp>
      <p:sp>
        <p:nvSpPr>
          <p:cNvPr id="19" name="Text 17"/>
          <p:cNvSpPr/>
          <p:nvPr/>
        </p:nvSpPr>
        <p:spPr>
          <a:xfrm>
            <a:off x="6675120" y="5532120"/>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Failed</a:t>
            </a:r>
            <a:endParaRPr lang="en-US" sz="1000" dirty="0"/>
          </a:p>
        </p:txBody>
      </p:sp>
      <p:sp>
        <p:nvSpPr>
          <p:cNvPr id="20" name="Text 18"/>
          <p:cNvSpPr/>
          <p:nvPr/>
        </p:nvSpPr>
        <p:spPr>
          <a:xfrm>
            <a:off x="7955280" y="5532120"/>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hard prereq broken</a:t>
            </a:r>
            <a:endParaRPr lang="en-US" sz="1000" dirty="0"/>
          </a:p>
        </p:txBody>
      </p:sp>
      <p:sp>
        <p:nvSpPr>
          <p:cNvPr id="21" name="Text 19"/>
          <p:cNvSpPr/>
          <p:nvPr/>
        </p:nvSpPr>
        <p:spPr>
          <a:xfrm>
            <a:off x="6675120" y="5779008"/>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Active</a:t>
            </a:r>
            <a:endParaRPr lang="en-US" sz="1000" dirty="0"/>
          </a:p>
        </p:txBody>
      </p:sp>
      <p:sp>
        <p:nvSpPr>
          <p:cNvPr id="22" name="Text 20"/>
          <p:cNvSpPr/>
          <p:nvPr/>
        </p:nvSpPr>
        <p:spPr>
          <a:xfrm>
            <a:off x="7955280" y="5779008"/>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grant phase (EgressApproval)</a:t>
            </a:r>
            <a:endParaRPr lang="en-US" sz="1000" dirty="0"/>
          </a:p>
        </p:txBody>
      </p:sp>
      <p:sp>
        <p:nvSpPr>
          <p:cNvPr id="23" name="Text 21"/>
          <p:cNvSpPr/>
          <p:nvPr/>
        </p:nvSpPr>
        <p:spPr>
          <a:xfrm>
            <a:off x="6675120" y="6025896"/>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Expired</a:t>
            </a:r>
            <a:endParaRPr lang="en-US" sz="1000" dirty="0"/>
          </a:p>
        </p:txBody>
      </p:sp>
      <p:sp>
        <p:nvSpPr>
          <p:cNvPr id="24" name="Text 22"/>
          <p:cNvSpPr/>
          <p:nvPr/>
        </p:nvSpPr>
        <p:spPr>
          <a:xfrm>
            <a:off x="7955280" y="6025896"/>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grant terminal phase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§3.6 · ARCHITECTURE · THE CRD SET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Eleven CRDs.</a:t>
            </a:r>
            <a:endParaRPr lang="en-US" sz="4200" dirty="0"/>
          </a:p>
        </p:txBody>
      </p:sp>
      <p:sp>
        <p:nvSpPr>
          <p:cNvPr id="5" name="Text 3"/>
          <p:cNvSpPr/>
          <p:nvPr/>
        </p:nvSpPr>
        <p:spPr>
          <a:xfrm>
            <a:off x="640080" y="2240280"/>
            <a:ext cx="10881360" cy="118872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Nine namespaced (one per sandbox concern) plus two cluster-scoped (tenant-wide identity + cross-cluster trust topology).  Every kind has an OpenAPIv3 schema, a dedicated reconciler, and ValidatingAdmissionPolicy guard-rails.</a:t>
            </a:r>
            <a:endParaRPr lang="en-US" sz="1800" dirty="0"/>
          </a:p>
        </p:txBody>
      </p:sp>
      <p:sp>
        <p:nvSpPr>
          <p:cNvPr id="6" name="Text 4"/>
          <p:cNvSpPr/>
          <p:nvPr/>
        </p:nvSpPr>
        <p:spPr>
          <a:xfrm>
            <a:off x="640080" y="3703320"/>
            <a:ext cx="173736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KIND</a:t>
            </a:r>
            <a:endParaRPr lang="en-US" sz="900" dirty="0"/>
          </a:p>
        </p:txBody>
      </p:sp>
      <p:sp>
        <p:nvSpPr>
          <p:cNvPr id="7" name="Text 5"/>
          <p:cNvSpPr/>
          <p:nvPr/>
        </p:nvSpPr>
        <p:spPr>
          <a:xfrm>
            <a:off x="2423160" y="3703320"/>
            <a:ext cx="86868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SCOPE</a:t>
            </a:r>
            <a:endParaRPr lang="en-US" sz="900" dirty="0"/>
          </a:p>
        </p:txBody>
      </p:sp>
      <p:sp>
        <p:nvSpPr>
          <p:cNvPr id="8" name="Text 6"/>
          <p:cNvSpPr/>
          <p:nvPr/>
        </p:nvSpPr>
        <p:spPr>
          <a:xfrm>
            <a:off x="3337560" y="3703320"/>
            <a:ext cx="594360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WHAT IT DOES</a:t>
            </a:r>
            <a:endParaRPr lang="en-US" sz="900" dirty="0"/>
          </a:p>
        </p:txBody>
      </p:sp>
      <p:sp>
        <p:nvSpPr>
          <p:cNvPr id="9" name="Text 7"/>
          <p:cNvSpPr/>
          <p:nvPr/>
        </p:nvSpPr>
        <p:spPr>
          <a:xfrm>
            <a:off x="9372600" y="3703320"/>
            <a:ext cx="274320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RECONCILER</a:t>
            </a:r>
            <a:endParaRPr lang="en-US" sz="900" dirty="0"/>
          </a:p>
        </p:txBody>
      </p:sp>
      <p:sp>
        <p:nvSpPr>
          <p:cNvPr id="10" name="Shape 8"/>
          <p:cNvSpPr/>
          <p:nvPr/>
        </p:nvSpPr>
        <p:spPr>
          <a:xfrm>
            <a:off x="640080" y="3995928"/>
            <a:ext cx="10881360" cy="0"/>
          </a:xfrm>
          <a:prstGeom prst="line">
            <a:avLst/>
          </a:prstGeom>
          <a:noFill/>
          <a:ln w="9525">
            <a:solidFill>
              <a:srgbClr val="028090"/>
            </a:solidFill>
            <a:prstDash val="solid"/>
          </a:ln>
        </p:spPr>
      </p:sp>
      <p:sp>
        <p:nvSpPr>
          <p:cNvPr id="11" name="Text 9"/>
          <p:cNvSpPr/>
          <p:nvPr/>
        </p:nvSpPr>
        <p:spPr>
          <a:xfrm>
            <a:off x="640080" y="393192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KarsSandbox</a:t>
            </a:r>
            <a:endParaRPr lang="en-US" sz="1000" dirty="0"/>
          </a:p>
        </p:txBody>
      </p:sp>
      <p:sp>
        <p:nvSpPr>
          <p:cNvPr id="12" name="Text 10"/>
          <p:cNvSpPr/>
          <p:nvPr/>
        </p:nvSpPr>
        <p:spPr>
          <a:xfrm>
            <a:off x="2423160" y="3931920"/>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13" name="Text 11"/>
          <p:cNvSpPr/>
          <p:nvPr/>
        </p:nvSpPr>
        <p:spPr>
          <a:xfrm>
            <a:off x="3337560" y="393192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provisions a governed sandbox (9 K8s primitives)</a:t>
            </a:r>
            <a:endParaRPr lang="en-US" sz="1000" dirty="0"/>
          </a:p>
        </p:txBody>
      </p:sp>
      <p:sp>
        <p:nvSpPr>
          <p:cNvPr id="14" name="Text 12"/>
          <p:cNvSpPr/>
          <p:nvPr/>
        </p:nvSpPr>
        <p:spPr>
          <a:xfrm>
            <a:off x="9372600" y="393192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reconciler/mod.rs</a:t>
            </a:r>
            <a:endParaRPr lang="en-US" sz="900" dirty="0"/>
          </a:p>
        </p:txBody>
      </p:sp>
      <p:sp>
        <p:nvSpPr>
          <p:cNvPr id="15" name="Text 13"/>
          <p:cNvSpPr/>
          <p:nvPr/>
        </p:nvSpPr>
        <p:spPr>
          <a:xfrm>
            <a:off x="640080" y="4155948"/>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InferencePolicy</a:t>
            </a:r>
            <a:endParaRPr lang="en-US" sz="1000" dirty="0"/>
          </a:p>
        </p:txBody>
      </p:sp>
      <p:sp>
        <p:nvSpPr>
          <p:cNvPr id="16" name="Text 14"/>
          <p:cNvSpPr/>
          <p:nvPr/>
        </p:nvSpPr>
        <p:spPr>
          <a:xfrm>
            <a:off x="2423160" y="4155948"/>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17" name="Text 15"/>
          <p:cNvSpPr/>
          <p:nvPr/>
        </p:nvSpPr>
        <p:spPr>
          <a:xfrm>
            <a:off x="3337560" y="4155948"/>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model preference · content safety · token budget</a:t>
            </a:r>
            <a:endParaRPr lang="en-US" sz="1000" dirty="0"/>
          </a:p>
        </p:txBody>
      </p:sp>
      <p:sp>
        <p:nvSpPr>
          <p:cNvPr id="18" name="Text 16"/>
          <p:cNvSpPr/>
          <p:nvPr/>
        </p:nvSpPr>
        <p:spPr>
          <a:xfrm>
            <a:off x="9372600" y="4155948"/>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inference_policy</a:t>
            </a:r>
            <a:endParaRPr lang="en-US" sz="900" dirty="0"/>
          </a:p>
        </p:txBody>
      </p:sp>
      <p:sp>
        <p:nvSpPr>
          <p:cNvPr id="19" name="Text 17"/>
          <p:cNvSpPr/>
          <p:nvPr/>
        </p:nvSpPr>
        <p:spPr>
          <a:xfrm>
            <a:off x="640080" y="4379976"/>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ToolPolicy</a:t>
            </a:r>
            <a:endParaRPr lang="en-US" sz="1000" dirty="0"/>
          </a:p>
        </p:txBody>
      </p:sp>
      <p:sp>
        <p:nvSpPr>
          <p:cNvPr id="20" name="Text 18"/>
          <p:cNvSpPr/>
          <p:nvPr/>
        </p:nvSpPr>
        <p:spPr>
          <a:xfrm>
            <a:off x="2423160" y="4379976"/>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1" name="Text 19"/>
          <p:cNvSpPr/>
          <p:nvPr/>
        </p:nvSpPr>
        <p:spPr>
          <a:xfrm>
            <a:off x="3337560" y="4379976"/>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per-tool approval channel · rate limit · audit hooks</a:t>
            </a:r>
            <a:endParaRPr lang="en-US" sz="1000" dirty="0"/>
          </a:p>
        </p:txBody>
      </p:sp>
      <p:sp>
        <p:nvSpPr>
          <p:cNvPr id="22" name="Text 20"/>
          <p:cNvSpPr/>
          <p:nvPr/>
        </p:nvSpPr>
        <p:spPr>
          <a:xfrm>
            <a:off x="9372600" y="4379976"/>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tool_policy</a:t>
            </a:r>
            <a:endParaRPr lang="en-US" sz="900" dirty="0"/>
          </a:p>
        </p:txBody>
      </p:sp>
      <p:sp>
        <p:nvSpPr>
          <p:cNvPr id="23" name="Text 21"/>
          <p:cNvSpPr/>
          <p:nvPr/>
        </p:nvSpPr>
        <p:spPr>
          <a:xfrm>
            <a:off x="640080" y="4604004"/>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EgressApproval</a:t>
            </a:r>
            <a:endParaRPr lang="en-US" sz="1000" dirty="0"/>
          </a:p>
        </p:txBody>
      </p:sp>
      <p:sp>
        <p:nvSpPr>
          <p:cNvPr id="24" name="Text 22"/>
          <p:cNvSpPr/>
          <p:nvPr/>
        </p:nvSpPr>
        <p:spPr>
          <a:xfrm>
            <a:off x="2423160" y="4604004"/>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5" name="Text 23"/>
          <p:cNvSpPr/>
          <p:nvPr/>
        </p:nvSpPr>
        <p:spPr>
          <a:xfrm>
            <a:off x="3337560" y="4604004"/>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time-boxed egress grant (reason + ticket + TTL)</a:t>
            </a:r>
            <a:endParaRPr lang="en-US" sz="1000" dirty="0"/>
          </a:p>
        </p:txBody>
      </p:sp>
      <p:sp>
        <p:nvSpPr>
          <p:cNvPr id="26" name="Text 24"/>
          <p:cNvSpPr/>
          <p:nvPr/>
        </p:nvSpPr>
        <p:spPr>
          <a:xfrm>
            <a:off x="9372600" y="4604004"/>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egress_approval</a:t>
            </a:r>
            <a:endParaRPr lang="en-US" sz="900" dirty="0"/>
          </a:p>
        </p:txBody>
      </p:sp>
      <p:sp>
        <p:nvSpPr>
          <p:cNvPr id="27" name="Text 25"/>
          <p:cNvSpPr/>
          <p:nvPr/>
        </p:nvSpPr>
        <p:spPr>
          <a:xfrm>
            <a:off x="640080" y="4828032"/>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KarsMemory</a:t>
            </a:r>
            <a:endParaRPr lang="en-US" sz="1000" dirty="0"/>
          </a:p>
        </p:txBody>
      </p:sp>
      <p:sp>
        <p:nvSpPr>
          <p:cNvPr id="28" name="Text 26"/>
          <p:cNvSpPr/>
          <p:nvPr/>
        </p:nvSpPr>
        <p:spPr>
          <a:xfrm>
            <a:off x="2423160" y="4828032"/>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9" name="Text 27"/>
          <p:cNvSpPr/>
          <p:nvPr/>
        </p:nvSpPr>
        <p:spPr>
          <a:xfrm>
            <a:off x="3337560" y="4828032"/>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Foundry Memory Store binding · scope + retention</a:t>
            </a:r>
            <a:endParaRPr lang="en-US" sz="1000" dirty="0"/>
          </a:p>
        </p:txBody>
      </p:sp>
      <p:sp>
        <p:nvSpPr>
          <p:cNvPr id="30" name="Text 28"/>
          <p:cNvSpPr/>
          <p:nvPr/>
        </p:nvSpPr>
        <p:spPr>
          <a:xfrm>
            <a:off x="9372600" y="4828032"/>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kars_memory</a:t>
            </a:r>
            <a:endParaRPr lang="en-US" sz="900" dirty="0"/>
          </a:p>
        </p:txBody>
      </p:sp>
      <p:sp>
        <p:nvSpPr>
          <p:cNvPr id="31" name="Text 29"/>
          <p:cNvSpPr/>
          <p:nvPr/>
        </p:nvSpPr>
        <p:spPr>
          <a:xfrm>
            <a:off x="640080" y="505206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KarsEval</a:t>
            </a:r>
            <a:endParaRPr lang="en-US" sz="1000" dirty="0"/>
          </a:p>
        </p:txBody>
      </p:sp>
      <p:sp>
        <p:nvSpPr>
          <p:cNvPr id="32" name="Text 30"/>
          <p:cNvSpPr/>
          <p:nvPr/>
        </p:nvSpPr>
        <p:spPr>
          <a:xfrm>
            <a:off x="2423160" y="5052060"/>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33" name="Text 31"/>
          <p:cNvSpPr/>
          <p:nvPr/>
        </p:nvSpPr>
        <p:spPr>
          <a:xfrm>
            <a:off x="3337560" y="505206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conformance run over a sandbox · signed corpus ref</a:t>
            </a:r>
            <a:endParaRPr lang="en-US" sz="1000" dirty="0"/>
          </a:p>
        </p:txBody>
      </p:sp>
      <p:sp>
        <p:nvSpPr>
          <p:cNvPr id="34" name="Text 32"/>
          <p:cNvSpPr/>
          <p:nvPr/>
        </p:nvSpPr>
        <p:spPr>
          <a:xfrm>
            <a:off x="9372600" y="505206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kars_eval</a:t>
            </a:r>
            <a:endParaRPr lang="en-US" sz="900" dirty="0"/>
          </a:p>
        </p:txBody>
      </p:sp>
      <p:sp>
        <p:nvSpPr>
          <p:cNvPr id="35" name="Text 33"/>
          <p:cNvSpPr/>
          <p:nvPr/>
        </p:nvSpPr>
        <p:spPr>
          <a:xfrm>
            <a:off x="640080" y="5276088"/>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A2AAgent</a:t>
            </a:r>
            <a:endParaRPr lang="en-US" sz="1000" dirty="0"/>
          </a:p>
        </p:txBody>
      </p:sp>
      <p:sp>
        <p:nvSpPr>
          <p:cNvPr id="36" name="Text 34"/>
          <p:cNvSpPr/>
          <p:nvPr/>
        </p:nvSpPr>
        <p:spPr>
          <a:xfrm>
            <a:off x="2423160" y="5276088"/>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37" name="Text 35"/>
          <p:cNvSpPr/>
          <p:nvPr/>
        </p:nvSpPr>
        <p:spPr>
          <a:xfrm>
            <a:off x="3337560" y="5276088"/>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A2A 1.0.0 agent + signed Agent Card · trust roots</a:t>
            </a:r>
            <a:endParaRPr lang="en-US" sz="1000" dirty="0"/>
          </a:p>
        </p:txBody>
      </p:sp>
      <p:sp>
        <p:nvSpPr>
          <p:cNvPr id="38" name="Text 36"/>
          <p:cNvSpPr/>
          <p:nvPr/>
        </p:nvSpPr>
        <p:spPr>
          <a:xfrm>
            <a:off x="9372600" y="5276088"/>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a2a_agent</a:t>
            </a:r>
            <a:endParaRPr lang="en-US" sz="900" dirty="0"/>
          </a:p>
        </p:txBody>
      </p:sp>
      <p:sp>
        <p:nvSpPr>
          <p:cNvPr id="39" name="Text 37"/>
          <p:cNvSpPr/>
          <p:nvPr/>
        </p:nvSpPr>
        <p:spPr>
          <a:xfrm>
            <a:off x="640080" y="5500116"/>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McpServer</a:t>
            </a:r>
            <a:endParaRPr lang="en-US" sz="1000" dirty="0"/>
          </a:p>
        </p:txBody>
      </p:sp>
      <p:sp>
        <p:nvSpPr>
          <p:cNvPr id="40" name="Text 38"/>
          <p:cNvSpPr/>
          <p:nvPr/>
        </p:nvSpPr>
        <p:spPr>
          <a:xfrm>
            <a:off x="2423160" y="5500116"/>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41" name="Text 39"/>
          <p:cNvSpPr/>
          <p:nvPr/>
        </p:nvSpPr>
        <p:spPr>
          <a:xfrm>
            <a:off x="3337560" y="5500116"/>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MCP server registry · OAuth · tool exposure rules</a:t>
            </a:r>
            <a:endParaRPr lang="en-US" sz="1000" dirty="0"/>
          </a:p>
        </p:txBody>
      </p:sp>
      <p:sp>
        <p:nvSpPr>
          <p:cNvPr id="42" name="Text 40"/>
          <p:cNvSpPr/>
          <p:nvPr/>
        </p:nvSpPr>
        <p:spPr>
          <a:xfrm>
            <a:off x="9372600" y="5500116"/>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mcp_server</a:t>
            </a:r>
            <a:endParaRPr lang="en-US" sz="900" dirty="0"/>
          </a:p>
        </p:txBody>
      </p:sp>
      <p:sp>
        <p:nvSpPr>
          <p:cNvPr id="43" name="Text 41"/>
          <p:cNvSpPr/>
          <p:nvPr/>
        </p:nvSpPr>
        <p:spPr>
          <a:xfrm>
            <a:off x="640080" y="5724144"/>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KarsPairing</a:t>
            </a:r>
            <a:endParaRPr lang="en-US" sz="1000" dirty="0"/>
          </a:p>
        </p:txBody>
      </p:sp>
      <p:sp>
        <p:nvSpPr>
          <p:cNvPr id="44" name="Text 42"/>
          <p:cNvSpPr/>
          <p:nvPr/>
        </p:nvSpPr>
        <p:spPr>
          <a:xfrm>
            <a:off x="2423160" y="5724144"/>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45" name="Text 43"/>
          <p:cNvSpPr/>
          <p:nvPr/>
        </p:nvSpPr>
        <p:spPr>
          <a:xfrm>
            <a:off x="3337560" y="5724144"/>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single-use mesh-peer pairing token · TTL + AMID bind</a:t>
            </a:r>
            <a:endParaRPr lang="en-US" sz="1000" dirty="0"/>
          </a:p>
        </p:txBody>
      </p:sp>
      <p:sp>
        <p:nvSpPr>
          <p:cNvPr id="46" name="Text 44"/>
          <p:cNvSpPr/>
          <p:nvPr/>
        </p:nvSpPr>
        <p:spPr>
          <a:xfrm>
            <a:off x="9372600" y="5724144"/>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pairing</a:t>
            </a:r>
            <a:endParaRPr lang="en-US" sz="900" dirty="0"/>
          </a:p>
        </p:txBody>
      </p:sp>
      <p:sp>
        <p:nvSpPr>
          <p:cNvPr id="47" name="Text 45"/>
          <p:cNvSpPr/>
          <p:nvPr/>
        </p:nvSpPr>
        <p:spPr>
          <a:xfrm>
            <a:off x="640080" y="5948172"/>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KarsAuthConfig</a:t>
            </a:r>
            <a:endParaRPr lang="en-US" sz="1000" dirty="0"/>
          </a:p>
        </p:txBody>
      </p:sp>
      <p:sp>
        <p:nvSpPr>
          <p:cNvPr id="48" name="Text 46"/>
          <p:cNvSpPr/>
          <p:nvPr/>
        </p:nvSpPr>
        <p:spPr>
          <a:xfrm>
            <a:off x="2423160" y="5948172"/>
            <a:ext cx="868680" cy="224028"/>
          </a:xfrm>
          <a:prstGeom prst="rect">
            <a:avLst/>
          </a:prstGeom>
          <a:noFill/>
          <a:ln/>
        </p:spPr>
        <p:txBody>
          <a:bodyPr wrap="square" lIns="0" tIns="0" rIns="0" bIns="0" rtlCol="0" anchor="ctr"/>
          <a:lstStyle/>
          <a:p>
            <a:pPr indent="0" marL="0">
              <a:buNone/>
            </a:pPr>
            <a:r>
              <a:rPr lang="en-US" sz="1000" dirty="0">
                <a:solidFill>
                  <a:srgbClr val="028090"/>
                </a:solidFill>
                <a:latin typeface="Helvetica" pitchFamily="34" charset="0"/>
                <a:ea typeface="Helvetica" pitchFamily="34" charset="-122"/>
                <a:cs typeface="Helvetica" pitchFamily="34" charset="-120"/>
              </a:rPr>
              <a:t>cluster</a:t>
            </a:r>
            <a:endParaRPr lang="en-US" sz="1000" dirty="0"/>
          </a:p>
        </p:txBody>
      </p:sp>
      <p:sp>
        <p:nvSpPr>
          <p:cNvPr id="49" name="Text 47"/>
          <p:cNvSpPr/>
          <p:nvPr/>
        </p:nvSpPr>
        <p:spPr>
          <a:xfrm>
            <a:off x="3337560" y="5948172"/>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Entra tenant + authority + sponsor identities</a:t>
            </a:r>
            <a:endParaRPr lang="en-US" sz="1000" dirty="0"/>
          </a:p>
        </p:txBody>
      </p:sp>
      <p:sp>
        <p:nvSpPr>
          <p:cNvPr id="50" name="Text 48"/>
          <p:cNvSpPr/>
          <p:nvPr/>
        </p:nvSpPr>
        <p:spPr>
          <a:xfrm>
            <a:off x="9372600" y="5948172"/>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auth_config</a:t>
            </a:r>
            <a:endParaRPr lang="en-US" sz="900" dirty="0"/>
          </a:p>
        </p:txBody>
      </p:sp>
      <p:sp>
        <p:nvSpPr>
          <p:cNvPr id="51" name="Text 49"/>
          <p:cNvSpPr/>
          <p:nvPr/>
        </p:nvSpPr>
        <p:spPr>
          <a:xfrm>
            <a:off x="640080" y="617220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TrustGraph</a:t>
            </a:r>
            <a:endParaRPr lang="en-US" sz="1000" dirty="0"/>
          </a:p>
        </p:txBody>
      </p:sp>
      <p:sp>
        <p:nvSpPr>
          <p:cNvPr id="52" name="Text 50"/>
          <p:cNvSpPr/>
          <p:nvPr/>
        </p:nvSpPr>
        <p:spPr>
          <a:xfrm>
            <a:off x="2423160" y="6172200"/>
            <a:ext cx="868680" cy="224028"/>
          </a:xfrm>
          <a:prstGeom prst="rect">
            <a:avLst/>
          </a:prstGeom>
          <a:noFill/>
          <a:ln/>
        </p:spPr>
        <p:txBody>
          <a:bodyPr wrap="square" lIns="0" tIns="0" rIns="0" bIns="0" rtlCol="0" anchor="ctr"/>
          <a:lstStyle/>
          <a:p>
            <a:pPr indent="0" marL="0">
              <a:buNone/>
            </a:pPr>
            <a:r>
              <a:rPr lang="en-US" sz="1000" dirty="0">
                <a:solidFill>
                  <a:srgbClr val="028090"/>
                </a:solidFill>
                <a:latin typeface="Helvetica" pitchFamily="34" charset="0"/>
                <a:ea typeface="Helvetica" pitchFamily="34" charset="-122"/>
                <a:cs typeface="Helvetica" pitchFamily="34" charset="-120"/>
              </a:rPr>
              <a:t>cluster</a:t>
            </a:r>
            <a:endParaRPr lang="en-US" sz="1000" dirty="0"/>
          </a:p>
        </p:txBody>
      </p:sp>
      <p:sp>
        <p:nvSpPr>
          <p:cNvPr id="53" name="Text 51"/>
          <p:cNvSpPr/>
          <p:nvPr/>
        </p:nvSpPr>
        <p:spPr>
          <a:xfrm>
            <a:off x="3337560" y="617220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cross-cluster trust topology · signed edges (A2A)</a:t>
            </a:r>
            <a:endParaRPr lang="en-US" sz="1000" dirty="0"/>
          </a:p>
        </p:txBody>
      </p:sp>
      <p:sp>
        <p:nvSpPr>
          <p:cNvPr id="54" name="Text 52"/>
          <p:cNvSpPr/>
          <p:nvPr/>
        </p:nvSpPr>
        <p:spPr>
          <a:xfrm>
            <a:off x="9372600" y="617220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trust_graph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 · POLICY · INFERENCEPOLICY</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Policy is data.</a:t>
            </a:r>
            <a:endParaRPr lang="en-US" sz="4200" dirty="0"/>
          </a:p>
        </p:txBody>
      </p:sp>
      <p:sp>
        <p:nvSpPr>
          <p:cNvPr id="5" name="Shape 3"/>
          <p:cNvSpPr/>
          <p:nvPr/>
        </p:nvSpPr>
        <p:spPr>
          <a:xfrm>
            <a:off x="640080" y="2194560"/>
            <a:ext cx="6035040" cy="4297680"/>
          </a:xfrm>
          <a:prstGeom prst="rect">
            <a:avLst/>
          </a:prstGeom>
          <a:solidFill>
            <a:srgbClr val="F6F8FA"/>
          </a:solidFill>
          <a:ln w="9525">
            <a:solidFill>
              <a:srgbClr val="E1E4E8"/>
            </a:solidFill>
            <a:prstDash val="solid"/>
          </a:ln>
        </p:spPr>
      </p:sp>
      <p:sp>
        <p:nvSpPr>
          <p:cNvPr id="6" name="Text 4"/>
          <p:cNvSpPr/>
          <p:nvPr/>
        </p:nvSpPr>
        <p:spPr>
          <a:xfrm>
            <a:off x="868680" y="2423160"/>
            <a:ext cx="5577840" cy="3840480"/>
          </a:xfrm>
          <a:prstGeom prst="rect">
            <a:avLst/>
          </a:prstGeom>
          <a:noFill/>
          <a:ln/>
        </p:spPr>
        <p:txBody>
          <a:bodyPr wrap="square" lIns="0" tIns="0" rIns="0" bIns="0" rtlCol="0" anchor="t"/>
          <a:lstStyle/>
          <a:p>
            <a:pPr algn="l" indent="0" marL="0">
              <a:buNone/>
            </a:pPr>
            <a:r>
              <a:rPr lang="en-US" sz="1100" dirty="0">
                <a:solidFill>
                  <a:srgbClr val="C53030"/>
                </a:solidFill>
                <a:latin typeface="Consolas" pitchFamily="34" charset="0"/>
                <a:ea typeface="Consolas" pitchFamily="34" charset="-122"/>
                <a:cs typeface="Consolas" pitchFamily="34" charset="-120"/>
              </a:rPr>
              <a:t>apiVersion: </a:t>
            </a:r>
            <a:pPr algn="l" indent="0" marL="0">
              <a:buNone/>
            </a:pPr>
            <a:r>
              <a:rPr lang="en-US" sz="1100" dirty="0">
                <a:solidFill>
                  <a:srgbClr val="276749"/>
                </a:solidFill>
                <a:latin typeface="Consolas" pitchFamily="34" charset="0"/>
                <a:ea typeface="Consolas" pitchFamily="34" charset="-122"/>
                <a:cs typeface="Consolas" pitchFamily="34" charset="-120"/>
              </a:rPr>
              <a:t>kars.azure.com/v1alpha1
</a:t>
            </a:r>
            <a:pPr algn="l" indent="0" marL="0">
              <a:buNone/>
            </a:pPr>
            <a:r>
              <a:rPr lang="en-US" sz="1100" dirty="0">
                <a:solidFill>
                  <a:srgbClr val="C53030"/>
                </a:solidFill>
                <a:latin typeface="Consolas" pitchFamily="34" charset="0"/>
                <a:ea typeface="Consolas" pitchFamily="34" charset="-122"/>
                <a:cs typeface="Consolas" pitchFamily="34" charset="-120"/>
              </a:rPr>
              <a:t>kind: </a:t>
            </a:r>
            <a:pPr algn="l" indent="0" marL="0">
              <a:buNone/>
            </a:pPr>
            <a:r>
              <a:rPr lang="en-US" sz="1100" dirty="0">
                <a:solidFill>
                  <a:srgbClr val="276749"/>
                </a:solidFill>
                <a:latin typeface="Consolas" pitchFamily="34" charset="0"/>
                <a:ea typeface="Consolas" pitchFamily="34" charset="-122"/>
                <a:cs typeface="Consolas" pitchFamily="34" charset="-120"/>
              </a:rPr>
              <a:t>InferencePolicy
</a:t>
            </a:r>
            <a:pPr algn="l" indent="0" marL="0">
              <a:buNone/>
            </a:pPr>
            <a:r>
              <a:rPr lang="en-US" sz="1100" dirty="0">
                <a:solidFill>
                  <a:srgbClr val="1A1A1A"/>
                </a:solidFill>
                <a:latin typeface="Consolas" pitchFamily="34" charset="0"/>
                <a:ea typeface="Consolas" pitchFamily="34" charset="-122"/>
                <a:cs typeface="Consolas" pitchFamily="34" charset="-120"/>
              </a:rPr>
              <a:t>metadata:
  name: research-agent-policy
</a:t>
            </a:r>
            <a:pPr algn="l" indent="0" marL="0">
              <a:buNone/>
            </a:pPr>
            <a:r>
              <a:rPr lang="en-US" sz="1100" dirty="0">
                <a:solidFill>
                  <a:srgbClr val="1A1A1A"/>
                </a:solidFill>
                <a:latin typeface="Consolas" pitchFamily="34" charset="0"/>
                <a:ea typeface="Consolas" pitchFamily="34" charset="-122"/>
                <a:cs typeface="Consolas" pitchFamily="34" charset="-120"/>
              </a:rPr>
              <a:t>spec:
</a:t>
            </a:r>
            <a:pPr algn="l" indent="0" marL="0">
              <a:buNone/>
            </a:pPr>
            <a:r>
              <a:rPr lang="en-US" sz="1100" dirty="0">
                <a:solidFill>
                  <a:srgbClr val="1A1A1A"/>
                </a:solidFill>
                <a:latin typeface="Consolas" pitchFamily="34" charset="0"/>
                <a:ea typeface="Consolas" pitchFamily="34" charset="-122"/>
                <a:cs typeface="Consolas" pitchFamily="34" charset="-120"/>
              </a:rPr>
              <a:t>  appliesTo:
</a:t>
            </a:r>
            <a:pPr algn="l" indent="0" marL="0">
              <a:buNone/>
            </a:pPr>
            <a:r>
              <a:rPr lang="en-US" sz="1100" dirty="0">
                <a:solidFill>
                  <a:srgbClr val="C53030"/>
                </a:solidFill>
                <a:latin typeface="Consolas" pitchFamily="34" charset="0"/>
                <a:ea typeface="Consolas" pitchFamily="34" charset="-122"/>
                <a:cs typeface="Consolas" pitchFamily="34" charset="-120"/>
              </a:rPr>
              <a:t>    sandboxName: </a:t>
            </a:r>
            <a:pPr algn="l" indent="0" marL="0">
              <a:buNone/>
            </a:pPr>
            <a:r>
              <a:rPr lang="en-US" sz="1100" dirty="0">
                <a:solidFill>
                  <a:srgbClr val="276749"/>
                </a:solidFill>
                <a:latin typeface="Consolas" pitchFamily="34" charset="0"/>
                <a:ea typeface="Consolas" pitchFamily="34" charset="-122"/>
                <a:cs typeface="Consolas" pitchFamily="34" charset="-120"/>
              </a:rPr>
              <a:t>research-agent
</a:t>
            </a:r>
            <a:pPr algn="l" indent="0" marL="0">
              <a:buNone/>
            </a:pPr>
            <a:r>
              <a:rPr lang="en-US" sz="1100" dirty="0">
                <a:solidFill>
                  <a:srgbClr val="1A1A1A"/>
                </a:solidFill>
                <a:latin typeface="Consolas" pitchFamily="34" charset="0"/>
                <a:ea typeface="Consolas" pitchFamily="34" charset="-122"/>
                <a:cs typeface="Consolas" pitchFamily="34" charset="-120"/>
              </a:rPr>
              <a:t>  modelPreference:
</a:t>
            </a:r>
            <a:pPr algn="l" indent="0" marL="0">
              <a:buNone/>
            </a:pPr>
            <a:r>
              <a:rPr lang="en-US" sz="1100" dirty="0">
                <a:solidFill>
                  <a:srgbClr val="1A1A1A"/>
                </a:solidFill>
                <a:latin typeface="Consolas" pitchFamily="34" charset="0"/>
                <a:ea typeface="Consolas" pitchFamily="34" charset="-122"/>
                <a:cs typeface="Consolas" pitchFamily="34" charset="-120"/>
              </a:rPr>
              <a:t>    primary:
</a:t>
            </a:r>
            <a:pPr algn="l" indent="0" marL="0">
              <a:buNone/>
            </a:pPr>
            <a:r>
              <a:rPr lang="en-US" sz="1100" dirty="0">
                <a:solidFill>
                  <a:srgbClr val="C53030"/>
                </a:solidFill>
                <a:latin typeface="Consolas" pitchFamily="34" charset="0"/>
                <a:ea typeface="Consolas" pitchFamily="34" charset="-122"/>
                <a:cs typeface="Consolas" pitchFamily="34" charset="-120"/>
              </a:rPr>
              <a:t>      provider: </a:t>
            </a:r>
            <a:pPr algn="l" indent="0" marL="0">
              <a:buNone/>
            </a:pPr>
            <a:r>
              <a:rPr lang="en-US" sz="1100" dirty="0">
                <a:solidFill>
                  <a:srgbClr val="276749"/>
                </a:solidFill>
                <a:latin typeface="Consolas" pitchFamily="34" charset="0"/>
                <a:ea typeface="Consolas" pitchFamily="34" charset="-122"/>
                <a:cs typeface="Consolas" pitchFamily="34" charset="-120"/>
              </a:rPr>
              <a:t>azure-openai
</a:t>
            </a:r>
            <a:pPr algn="l" indent="0" marL="0">
              <a:buNone/>
            </a:pPr>
            <a:r>
              <a:rPr lang="en-US" sz="1100" dirty="0">
                <a:solidFill>
                  <a:srgbClr val="C53030"/>
                </a:solidFill>
                <a:latin typeface="Consolas" pitchFamily="34" charset="0"/>
                <a:ea typeface="Consolas" pitchFamily="34" charset="-122"/>
                <a:cs typeface="Consolas" pitchFamily="34" charset="-120"/>
              </a:rPr>
              <a:t>      deployment: </a:t>
            </a:r>
            <a:pPr algn="l" indent="0" marL="0">
              <a:buNone/>
            </a:pPr>
            <a:r>
              <a:rPr lang="en-US" sz="1100" dirty="0">
                <a:solidFill>
                  <a:srgbClr val="276749"/>
                </a:solidFill>
                <a:latin typeface="Consolas" pitchFamily="34" charset="0"/>
                <a:ea typeface="Consolas" pitchFamily="34" charset="-122"/>
                <a:cs typeface="Consolas" pitchFamily="34" charset="-120"/>
              </a:rPr>
              <a:t>gpt-4.1
</a:t>
            </a:r>
            <a:pPr algn="l" indent="0" marL="0">
              <a:buNone/>
            </a:pPr>
            <a:r>
              <a:rPr lang="en-US" sz="1100" dirty="0">
                <a:solidFill>
                  <a:srgbClr val="1A1A1A"/>
                </a:solidFill>
                <a:latin typeface="Consolas" pitchFamily="34" charset="0"/>
                <a:ea typeface="Consolas" pitchFamily="34" charset="-122"/>
                <a:cs typeface="Consolas" pitchFamily="34" charset="-120"/>
              </a:rPr>
              <a:t>    fallback:
</a:t>
            </a:r>
            <a:pPr algn="l" indent="0" marL="0">
              <a:buNone/>
            </a:pPr>
            <a:r>
              <a:rPr lang="en-US" sz="1100" dirty="0">
                <a:solidFill>
                  <a:srgbClr val="C53030"/>
                </a:solidFill>
                <a:latin typeface="Consolas" pitchFamily="34" charset="0"/>
                <a:ea typeface="Consolas" pitchFamily="34" charset="-122"/>
                <a:cs typeface="Consolas" pitchFamily="34" charset="-120"/>
              </a:rPr>
              <a:t>      - provider: </a:t>
            </a:r>
            <a:pPr algn="l" indent="0" marL="0">
              <a:buNone/>
            </a:pPr>
            <a:r>
              <a:rPr lang="en-US" sz="1100" dirty="0">
                <a:solidFill>
                  <a:srgbClr val="276749"/>
                </a:solidFill>
                <a:latin typeface="Consolas" pitchFamily="34" charset="0"/>
                <a:ea typeface="Consolas" pitchFamily="34" charset="-122"/>
                <a:cs typeface="Consolas" pitchFamily="34" charset="-120"/>
              </a:rPr>
              <a:t>anthropic
</a:t>
            </a:r>
            <a:pPr algn="l" indent="0" marL="0">
              <a:buNone/>
            </a:pPr>
            <a:r>
              <a:rPr lang="en-US" sz="1100" dirty="0">
                <a:solidFill>
                  <a:srgbClr val="C53030"/>
                </a:solidFill>
                <a:latin typeface="Consolas" pitchFamily="34" charset="0"/>
                <a:ea typeface="Consolas" pitchFamily="34" charset="-122"/>
                <a:cs typeface="Consolas" pitchFamily="34" charset="-120"/>
              </a:rPr>
              <a:t>        model: </a:t>
            </a:r>
            <a:pPr algn="l" indent="0" marL="0">
              <a:buNone/>
            </a:pPr>
            <a:r>
              <a:rPr lang="en-US" sz="1100" dirty="0">
                <a:solidFill>
                  <a:srgbClr val="276749"/>
                </a:solidFill>
                <a:latin typeface="Consolas" pitchFamily="34" charset="0"/>
                <a:ea typeface="Consolas" pitchFamily="34" charset="-122"/>
                <a:cs typeface="Consolas" pitchFamily="34" charset="-120"/>
              </a:rPr>
              <a:t>claude-opus-4.7
</a:t>
            </a:r>
            <a:pPr algn="l" indent="0" marL="0">
              <a:buNone/>
            </a:pPr>
            <a:r>
              <a:rPr lang="en-US" sz="1100" dirty="0">
                <a:solidFill>
                  <a:srgbClr val="1A1A1A"/>
                </a:solidFill>
                <a:latin typeface="Consolas" pitchFamily="34" charset="0"/>
                <a:ea typeface="Consolas" pitchFamily="34" charset="-122"/>
                <a:cs typeface="Consolas" pitchFamily="34" charset="-120"/>
              </a:rPr>
              <a:t>  contentSafety:
</a:t>
            </a:r>
            <a:pPr algn="l" indent="0" marL="0">
              <a:buNone/>
            </a:pPr>
            <a:r>
              <a:rPr lang="en-US" sz="1100" dirty="0">
                <a:solidFill>
                  <a:srgbClr val="C53030"/>
                </a:solidFill>
                <a:latin typeface="Consolas" pitchFamily="34" charset="0"/>
                <a:ea typeface="Consolas" pitchFamily="34" charset="-122"/>
                <a:cs typeface="Consolas" pitchFamily="34" charset="-120"/>
              </a:rPr>
              <a:t>    requirePromptShields: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1A1A1A"/>
                </a:solidFill>
                <a:latin typeface="Consolas" pitchFamily="34" charset="0"/>
                <a:ea typeface="Consolas" pitchFamily="34" charset="-122"/>
                <a:cs typeface="Consolas" pitchFamily="34" charset="-120"/>
              </a:rPr>
              <a:t>  tokenBudget:
</a:t>
            </a:r>
            <a:pPr algn="l" indent="0" marL="0">
              <a:buNone/>
            </a:pPr>
            <a:r>
              <a:rPr lang="en-US" sz="1100" dirty="0">
                <a:solidFill>
                  <a:srgbClr val="C53030"/>
                </a:solidFill>
                <a:latin typeface="Consolas" pitchFamily="34" charset="0"/>
                <a:ea typeface="Consolas" pitchFamily="34" charset="-122"/>
                <a:cs typeface="Consolas" pitchFamily="34" charset="-120"/>
              </a:rPr>
              <a:t>    perRequestTokens: </a:t>
            </a:r>
            <a:pPr algn="l" indent="0" marL="0">
              <a:buNone/>
            </a:pPr>
            <a:r>
              <a:rPr lang="en-US" sz="1100" dirty="0">
                <a:solidFill>
                  <a:srgbClr val="276749"/>
                </a:solidFill>
                <a:latin typeface="Consolas" pitchFamily="34" charset="0"/>
                <a:ea typeface="Consolas" pitchFamily="34" charset="-122"/>
                <a:cs typeface="Consolas" pitchFamily="34" charset="-120"/>
              </a:rPr>
              <a:t>32000
</a:t>
            </a:r>
            <a:pPr algn="l" indent="0" marL="0">
              <a:buNone/>
            </a:pPr>
            <a:r>
              <a:rPr lang="en-US" sz="1100" dirty="0">
                <a:solidFill>
                  <a:srgbClr val="C53030"/>
                </a:solidFill>
                <a:latin typeface="Consolas" pitchFamily="34" charset="0"/>
                <a:ea typeface="Consolas" pitchFamily="34" charset="-122"/>
                <a:cs typeface="Consolas" pitchFamily="34" charset="-120"/>
              </a:rPr>
              <a:t>    perWindow:        </a:t>
            </a:r>
            <a:pPr algn="l" indent="0" marL="0">
              <a:buNone/>
            </a:pPr>
            <a:r>
              <a:rPr lang="en-US" sz="1100" dirty="0">
                <a:solidFill>
                  <a:srgbClr val="276749"/>
                </a:solidFill>
                <a:latin typeface="Consolas" pitchFamily="34" charset="0"/>
                <a:ea typeface="Consolas" pitchFamily="34" charset="-122"/>
                <a:cs typeface="Consolas" pitchFamily="34" charset="-120"/>
              </a:rPr>
              <a:t>{ window: 1h, tokens: 200000 }
</a:t>
            </a:r>
            <a:endParaRPr lang="en-US" sz="1100" dirty="0"/>
          </a:p>
        </p:txBody>
      </p:sp>
      <p:sp>
        <p:nvSpPr>
          <p:cNvPr id="7" name="Text 5"/>
          <p:cNvSpPr/>
          <p:nvPr/>
        </p:nvSpPr>
        <p:spPr>
          <a:xfrm>
            <a:off x="7406640" y="219456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What the controller does</a:t>
            </a:r>
            <a:endParaRPr lang="en-US" sz="1800" dirty="0"/>
          </a:p>
        </p:txBody>
      </p:sp>
      <p:sp>
        <p:nvSpPr>
          <p:cNvPr id="8" name="Text 6"/>
          <p:cNvSpPr/>
          <p:nvPr/>
        </p:nvSpPr>
        <p:spPr>
          <a:xfrm>
            <a:off x="7406640" y="2606040"/>
            <a:ext cx="4114800" cy="3840480"/>
          </a:xfrm>
          <a:prstGeom prst="rect">
            <a:avLst/>
          </a:prstGeom>
          <a:noFill/>
          <a:ln/>
        </p:spPr>
        <p:txBody>
          <a:bodyPr wrap="square" lIns="0" tIns="0" rIns="0" bIns="0" rtlCol="0" anchor="ctr"/>
          <a:lstStyle/>
          <a:p>
            <a:pPr indent="0" marL="0">
              <a:spcAft>
                <a:spcPts val="800"/>
              </a:spcAft>
              <a:buNone/>
            </a:pPr>
            <a:r>
              <a:rPr lang="en-US" sz="1250" dirty="0">
                <a:solidFill>
                  <a:srgbClr val="1A1A1A"/>
                </a:solidFill>
                <a:latin typeface="Helvetica" pitchFamily="34" charset="0"/>
                <a:ea typeface="Helvetica" pitchFamily="34" charset="-122"/>
                <a:cs typeface="Helvetica" pitchFamily="34" charset="-120"/>
              </a:rPr>
              <a:t>Compiles the spec to a router-side policy envelope.  Writes it into the sandbox ConfigMap.  Stamps the digest on the sandbox status. Router refuses to start until digest matches.</a:t>
            </a:r>
            <a:endParaRPr lang="en-US" sz="1250" dirty="0"/>
          </a:p>
          <a:p>
            <a:pPr indent="0" marL="0">
              <a:spcAft>
                <a:spcPts val="800"/>
              </a:spcAft>
              <a:buNone/>
            </a:pPr>
            <a:r>
              <a:rPr lang="en-US" sz="1250" dirty="0">
                <a:solidFill>
                  <a:srgbClr val="1A1A1A"/>
                </a:solidFill>
                <a:latin typeface="Helvetica" pitchFamily="34" charset="0"/>
                <a:ea typeface="Helvetica" pitchFamily="34" charset="-122"/>
                <a:cs typeface="Helvetica" pitchFamily="34" charset="-120"/>
              </a:rPr>
              <a:t>On a model call, the router checks: provider available?  budget under limit?  Content Safety green? — then routes (with failover) and writes the audit row.</a:t>
            </a:r>
            <a:endParaRPr lang="en-US" sz="1250" dirty="0"/>
          </a:p>
          <a:p>
            <a:pPr indent="0" marL="0">
              <a:spcAft>
                <a:spcPts val="600"/>
              </a:spcAft>
              <a:buNone/>
            </a:pPr>
            <a:r>
              <a:rPr lang="en-US" sz="1250" dirty="0">
                <a:solidFill>
                  <a:srgbClr val="1A1A1A"/>
                </a:solidFill>
                <a:latin typeface="Helvetica" pitchFamily="34" charset="0"/>
                <a:ea typeface="Helvetica" pitchFamily="34" charset="-122"/>
                <a:cs typeface="Helvetica" pitchFamily="34" charset="-120"/>
              </a:rPr>
              <a:t>Edit the CR, re-apply.  Drift surfaces as a Warning Event.  Next call uses the new policy. No restart.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§4.1 · POLICY · TWO MORE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2800" b="1" dirty="0">
                <a:solidFill>
                  <a:srgbClr val="1A1A1A"/>
                </a:solidFill>
                <a:latin typeface="Helvetica" pitchFamily="34" charset="0"/>
                <a:ea typeface="Helvetica" pitchFamily="34" charset="-122"/>
                <a:cs typeface="Helvetica" pitchFamily="34" charset="-120"/>
              </a:rPr>
              <a:t>Approval channels.  Time-boxed exceptions.</a:t>
            </a:r>
            <a:endParaRPr lang="en-US" sz="2800" dirty="0"/>
          </a:p>
        </p:txBody>
      </p:sp>
      <p:sp>
        <p:nvSpPr>
          <p:cNvPr id="5" name="Text 3"/>
          <p:cNvSpPr/>
          <p:nvPr/>
        </p:nvSpPr>
        <p:spPr>
          <a:xfrm>
            <a:off x="640080" y="214884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ToolPolicy gates a single tool — approval mode + channel + rate limit. EgressApproval overlays a temporary outbound grant that auto-expires.  Both compile to the same router envelope as InferencePolicy.</a:t>
            </a:r>
            <a:endParaRPr lang="en-US" sz="1800" dirty="0"/>
          </a:p>
        </p:txBody>
      </p:sp>
      <p:sp>
        <p:nvSpPr>
          <p:cNvPr id="6" name="Text 4"/>
          <p:cNvSpPr/>
          <p:nvPr/>
        </p:nvSpPr>
        <p:spPr>
          <a:xfrm>
            <a:off x="640080" y="3337560"/>
            <a:ext cx="576072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ToolPolicy</a:t>
            </a:r>
            <a:endParaRPr lang="en-US" sz="1600" dirty="0"/>
          </a:p>
        </p:txBody>
      </p:sp>
      <p:sp>
        <p:nvSpPr>
          <p:cNvPr id="7" name="Shape 5"/>
          <p:cNvSpPr/>
          <p:nvPr/>
        </p:nvSpPr>
        <p:spPr>
          <a:xfrm>
            <a:off x="640080" y="3703320"/>
            <a:ext cx="5760720" cy="3108960"/>
          </a:xfrm>
          <a:prstGeom prst="rect">
            <a:avLst/>
          </a:prstGeom>
          <a:solidFill>
            <a:srgbClr val="F6F8FA"/>
          </a:solidFill>
          <a:ln w="9525">
            <a:solidFill>
              <a:srgbClr val="E1E4E8"/>
            </a:solidFill>
            <a:prstDash val="solid"/>
          </a:ln>
        </p:spPr>
      </p:sp>
      <p:sp>
        <p:nvSpPr>
          <p:cNvPr id="8" name="Text 6"/>
          <p:cNvSpPr/>
          <p:nvPr/>
        </p:nvSpPr>
        <p:spPr>
          <a:xfrm>
            <a:off x="868680" y="3931920"/>
            <a:ext cx="5303520" cy="2651760"/>
          </a:xfrm>
          <a:prstGeom prst="rect">
            <a:avLst/>
          </a:prstGeom>
          <a:noFill/>
          <a:ln/>
        </p:spPr>
        <p:txBody>
          <a:bodyPr wrap="square" lIns="0" tIns="0" rIns="0" bIns="0" rtlCol="0" anchor="t"/>
          <a:lstStyle/>
          <a:p>
            <a:pPr algn="l" indent="0" marL="0">
              <a:buNone/>
            </a:pPr>
            <a:r>
              <a:rPr lang="en-US" sz="1050" dirty="0">
                <a:solidFill>
                  <a:srgbClr val="C53030"/>
                </a:solidFill>
                <a:latin typeface="Consolas" pitchFamily="34" charset="0"/>
                <a:ea typeface="Consolas" pitchFamily="34" charset="-122"/>
                <a:cs typeface="Consolas" pitchFamily="34" charset="-120"/>
              </a:rPr>
              <a:t>kind: </a:t>
            </a:r>
            <a:pPr algn="l" indent="0" marL="0">
              <a:buNone/>
            </a:pPr>
            <a:r>
              <a:rPr lang="en-US" sz="1050" dirty="0">
                <a:solidFill>
                  <a:srgbClr val="276749"/>
                </a:solidFill>
                <a:latin typeface="Consolas" pitchFamily="34" charset="0"/>
                <a:ea typeface="Consolas" pitchFamily="34" charset="-122"/>
                <a:cs typeface="Consolas" pitchFamily="34" charset="-120"/>
              </a:rPr>
              <a:t>ToolPolicy
</a:t>
            </a:r>
            <a:pPr algn="l" indent="0" marL="0">
              <a:buNone/>
            </a:pPr>
            <a:r>
              <a:rPr lang="en-US" sz="1050" dirty="0">
                <a:solidFill>
                  <a:srgbClr val="1A1A1A"/>
                </a:solidFill>
                <a:latin typeface="Consolas" pitchFamily="34" charset="0"/>
                <a:ea typeface="Consolas" pitchFamily="34" charset="-122"/>
                <a:cs typeface="Consolas" pitchFamily="34" charset="-120"/>
              </a:rPr>
              <a:t>metadata:
  name: demo-web-fetch
</a:t>
            </a:r>
            <a:pPr algn="l" indent="0" marL="0">
              <a:buNone/>
            </a:pPr>
            <a:r>
              <a:rPr lang="en-US" sz="1050" dirty="0">
                <a:solidFill>
                  <a:srgbClr val="1A1A1A"/>
                </a:solidFill>
                <a:latin typeface="Consolas" pitchFamily="34" charset="0"/>
                <a:ea typeface="Consolas" pitchFamily="34" charset="-122"/>
                <a:cs typeface="Consolas" pitchFamily="34" charset="-120"/>
              </a:rPr>
              <a:t>spec:
</a:t>
            </a:r>
            <a:pPr algn="l" indent="0" marL="0">
              <a:buNone/>
            </a:pPr>
            <a:r>
              <a:rPr lang="en-US" sz="1050" dirty="0">
                <a:solidFill>
                  <a:srgbClr val="C53030"/>
                </a:solidFill>
                <a:latin typeface="Consolas" pitchFamily="34" charset="0"/>
                <a:ea typeface="Consolas" pitchFamily="34" charset="-122"/>
                <a:cs typeface="Consolas" pitchFamily="34" charset="-120"/>
              </a:rPr>
              <a:t>  appliesTo:</a:t>
            </a:r>
            <a:endParaRPr lang="en-US" sz="1050" dirty="0"/>
          </a:p>
          <a:p>
            <a:pPr algn="l" indent="0" marL="0">
              <a:buNone/>
            </a:pPr>
            <a:r>
              <a:rPr lang="en-US" sz="1050" dirty="0">
                <a:solidFill>
                  <a:srgbClr val="C53030"/>
                </a:solidFill>
                <a:latin typeface="Consolas" pitchFamily="34" charset="0"/>
                <a:ea typeface="Consolas" pitchFamily="34" charset="-122"/>
                <a:cs typeface="Consolas" pitchFamily="34" charset="-120"/>
              </a:rPr>
              <a:t>    tool: </a:t>
            </a:r>
            <a:endParaRPr lang="en-US" sz="1050" dirty="0"/>
          </a:p>
          <a:p>
            <a:pPr algn="l" indent="0" marL="0">
              <a:buNone/>
            </a:pPr>
            <a:r>
              <a:rPr lang="en-US" sz="1050" dirty="0">
                <a:solidFill>
                  <a:srgbClr val="276749"/>
                </a:solidFill>
                <a:latin typeface="Consolas" pitchFamily="34" charset="0"/>
                <a:ea typeface="Consolas" pitchFamily="34" charset="-122"/>
                <a:cs typeface="Consolas" pitchFamily="34" charset="-120"/>
              </a:rPr>
              <a:t>"web.fetch"
</a:t>
            </a:r>
            <a:pPr algn="l" indent="0" marL="0">
              <a:buNone/>
            </a:pPr>
            <a:r>
              <a:rPr lang="en-US" sz="1050" dirty="0">
                <a:solidFill>
                  <a:srgbClr val="1A1A1A"/>
                </a:solidFill>
                <a:latin typeface="Consolas" pitchFamily="34" charset="0"/>
                <a:ea typeface="Consolas" pitchFamily="34" charset="-122"/>
                <a:cs typeface="Consolas" pitchFamily="34" charset="-120"/>
              </a:rPr>
              <a:t>    sandboxMatchLabels:
</a:t>
            </a:r>
            <a:pPr algn="l" indent="0" marL="0">
              <a:buNone/>
            </a:pPr>
            <a:r>
              <a:rPr lang="en-US" sz="1050" dirty="0">
                <a:solidFill>
                  <a:srgbClr val="C53030"/>
                </a:solidFill>
                <a:latin typeface="Consolas" pitchFamily="34" charset="0"/>
                <a:ea typeface="Consolas" pitchFamily="34" charset="-122"/>
                <a:cs typeface="Consolas" pitchFamily="34" charset="-120"/>
              </a:rPr>
              <a:t>      kars.azure.com/sandbox: </a:t>
            </a:r>
            <a:pPr algn="l" indent="0" marL="0">
              <a:buNone/>
            </a:pPr>
            <a:r>
              <a:rPr lang="en-US" sz="1050" dirty="0">
                <a:solidFill>
                  <a:srgbClr val="276749"/>
                </a:solidFill>
                <a:latin typeface="Consolas" pitchFamily="34" charset="0"/>
                <a:ea typeface="Consolas" pitchFamily="34" charset="-122"/>
                <a:cs typeface="Consolas" pitchFamily="34" charset="-120"/>
              </a:rPr>
              <a:t>demo-agent
</a:t>
            </a:r>
            <a:pPr algn="l" indent="0" marL="0">
              <a:buNone/>
            </a:pPr>
            <a:r>
              <a:rPr lang="en-US" sz="1050" dirty="0">
                <a:solidFill>
                  <a:srgbClr val="1A1A1A"/>
                </a:solidFill>
                <a:latin typeface="Consolas" pitchFamily="34" charset="0"/>
                <a:ea typeface="Consolas" pitchFamily="34" charset="-122"/>
                <a:cs typeface="Consolas" pitchFamily="34" charset="-120"/>
              </a:rPr>
              <a:t>  approval:
</a:t>
            </a:r>
            <a:pPr algn="l" indent="0" marL="0">
              <a:buNone/>
            </a:pPr>
            <a:r>
              <a:rPr lang="en-US" sz="1050" dirty="0">
                <a:solidFill>
                  <a:srgbClr val="C53030"/>
                </a:solidFill>
                <a:latin typeface="Consolas" pitchFamily="34" charset="0"/>
                <a:ea typeface="Consolas" pitchFamily="34" charset="-122"/>
                <a:cs typeface="Consolas" pitchFamily="34" charset="-120"/>
              </a:rPr>
              <a:t>    mode: </a:t>
            </a:r>
            <a:pPr algn="l" indent="0" marL="0">
              <a:buNone/>
            </a:pPr>
            <a:r>
              <a:rPr lang="en-US" sz="1050" dirty="0">
                <a:solidFill>
                  <a:srgbClr val="276749"/>
                </a:solidFill>
                <a:latin typeface="Consolas" pitchFamily="34" charset="0"/>
                <a:ea typeface="Consolas" pitchFamily="34" charset="-122"/>
                <a:cs typeface="Consolas" pitchFamily="34" charset="-120"/>
              </a:rPr>
              <a:t>always
</a:t>
            </a:r>
            <a:pPr algn="l" indent="0" marL="0">
              <a:buNone/>
            </a:pPr>
            <a:r>
              <a:rPr lang="en-US" sz="1050" dirty="0">
                <a:solidFill>
                  <a:srgbClr val="C53030"/>
                </a:solidFill>
                <a:latin typeface="Consolas" pitchFamily="34" charset="0"/>
                <a:ea typeface="Consolas" pitchFamily="34" charset="-122"/>
                <a:cs typeface="Consolas" pitchFamily="34" charset="-120"/>
              </a:rPr>
              <a:t>    channel: </a:t>
            </a:r>
            <a:pPr algn="l" indent="0" marL="0">
              <a:buNone/>
            </a:pPr>
            <a:r>
              <a:rPr lang="en-US" sz="1050" dirty="0">
                <a:solidFill>
                  <a:srgbClr val="276749"/>
                </a:solidFill>
                <a:latin typeface="Consolas" pitchFamily="34" charset="0"/>
                <a:ea typeface="Consolas" pitchFamily="34" charset="-122"/>
                <a:cs typeface="Consolas" pitchFamily="34" charset="-120"/>
              </a:rPr>
              <a:t>telegram
</a:t>
            </a:r>
            <a:pPr algn="l" indent="0" marL="0">
              <a:buNone/>
            </a:pPr>
            <a:r>
              <a:rPr lang="en-US" sz="1050" dirty="0">
                <a:solidFill>
                  <a:srgbClr val="1A1A1A"/>
                </a:solidFill>
                <a:latin typeface="Consolas" pitchFamily="34" charset="0"/>
                <a:ea typeface="Consolas" pitchFamily="34" charset="-122"/>
                <a:cs typeface="Consolas" pitchFamily="34" charset="-120"/>
              </a:rPr>
              <a:t>  rateLimit:
</a:t>
            </a:r>
            <a:pPr algn="l" indent="0" marL="0">
              <a:buNone/>
            </a:pPr>
            <a:r>
              <a:rPr lang="en-US" sz="1050" dirty="0">
                <a:solidFill>
                  <a:srgbClr val="C53030"/>
                </a:solidFill>
                <a:latin typeface="Consolas" pitchFamily="34" charset="0"/>
                <a:ea typeface="Consolas" pitchFamily="34" charset="-122"/>
                <a:cs typeface="Consolas" pitchFamily="34" charset="-120"/>
              </a:rPr>
              <a:t>    rps: </a:t>
            </a:r>
            <a:pPr algn="l" indent="0" marL="0">
              <a:buNone/>
            </a:pPr>
            <a:r>
              <a:rPr lang="en-US" sz="1050" dirty="0">
                <a:solidFill>
                  <a:srgbClr val="276749"/>
                </a:solidFill>
                <a:latin typeface="Consolas" pitchFamily="34" charset="0"/>
                <a:ea typeface="Consolas" pitchFamily="34" charset="-122"/>
                <a:cs typeface="Consolas" pitchFamily="34" charset="-120"/>
              </a:rPr>
              <a:t>1
</a:t>
            </a:r>
            <a:pPr algn="l" indent="0" marL="0">
              <a:buNone/>
            </a:pPr>
            <a:r>
              <a:rPr lang="en-US" sz="1050" dirty="0">
                <a:solidFill>
                  <a:srgbClr val="C53030"/>
                </a:solidFill>
                <a:latin typeface="Consolas" pitchFamily="34" charset="0"/>
                <a:ea typeface="Consolas" pitchFamily="34" charset="-122"/>
                <a:cs typeface="Consolas" pitchFamily="34" charset="-120"/>
              </a:rPr>
              <a:t>    burst: </a:t>
            </a:r>
            <a:pPr algn="l" indent="0" marL="0">
              <a:buNone/>
            </a:pPr>
            <a:r>
              <a:rPr lang="en-US" sz="1050" dirty="0">
                <a:solidFill>
                  <a:srgbClr val="276749"/>
                </a:solidFill>
                <a:latin typeface="Consolas" pitchFamily="34" charset="0"/>
                <a:ea typeface="Consolas" pitchFamily="34" charset="-122"/>
                <a:cs typeface="Consolas" pitchFamily="34" charset="-120"/>
              </a:rPr>
              <a:t>3
</a:t>
            </a:r>
            <a:pPr algn="l" indent="0" marL="0">
              <a:buNone/>
            </a:pPr>
            <a:r>
              <a:rPr lang="en-US" sz="1050" dirty="0">
                <a:solidFill>
                  <a:srgbClr val="C53030"/>
                </a:solidFill>
                <a:latin typeface="Consolas" pitchFamily="34" charset="0"/>
                <a:ea typeface="Consolas" pitchFamily="34" charset="-122"/>
                <a:cs typeface="Consolas" pitchFamily="34" charset="-120"/>
              </a:rPr>
              <a:t>    window: </a:t>
            </a:r>
            <a:pPr algn="l" indent="0" marL="0">
              <a:buNone/>
            </a:pPr>
            <a:r>
              <a:rPr lang="en-US" sz="1050" dirty="0">
                <a:solidFill>
                  <a:srgbClr val="276749"/>
                </a:solidFill>
                <a:latin typeface="Consolas" pitchFamily="34" charset="0"/>
                <a:ea typeface="Consolas" pitchFamily="34" charset="-122"/>
                <a:cs typeface="Consolas" pitchFamily="34" charset="-120"/>
              </a:rPr>
              <a:t>"1m"
</a:t>
            </a:r>
            <a:endParaRPr lang="en-US" sz="1050" dirty="0"/>
          </a:p>
        </p:txBody>
      </p:sp>
      <p:sp>
        <p:nvSpPr>
          <p:cNvPr id="9" name="Text 7"/>
          <p:cNvSpPr/>
          <p:nvPr/>
        </p:nvSpPr>
        <p:spPr>
          <a:xfrm>
            <a:off x="6400800" y="3337560"/>
            <a:ext cx="51206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EgressApproval</a:t>
            </a:r>
            <a:endParaRPr lang="en-US" sz="1600" dirty="0"/>
          </a:p>
        </p:txBody>
      </p:sp>
      <p:sp>
        <p:nvSpPr>
          <p:cNvPr id="10" name="Shape 8"/>
          <p:cNvSpPr/>
          <p:nvPr/>
        </p:nvSpPr>
        <p:spPr>
          <a:xfrm>
            <a:off x="6400800" y="3703320"/>
            <a:ext cx="5120640" cy="3108960"/>
          </a:xfrm>
          <a:prstGeom prst="rect">
            <a:avLst/>
          </a:prstGeom>
          <a:solidFill>
            <a:srgbClr val="F6F8FA"/>
          </a:solidFill>
          <a:ln w="9525">
            <a:solidFill>
              <a:srgbClr val="E1E4E8"/>
            </a:solidFill>
            <a:prstDash val="solid"/>
          </a:ln>
        </p:spPr>
      </p:sp>
      <p:sp>
        <p:nvSpPr>
          <p:cNvPr id="11" name="Text 9"/>
          <p:cNvSpPr/>
          <p:nvPr/>
        </p:nvSpPr>
        <p:spPr>
          <a:xfrm>
            <a:off x="6629400" y="3931920"/>
            <a:ext cx="4663440" cy="2651760"/>
          </a:xfrm>
          <a:prstGeom prst="rect">
            <a:avLst/>
          </a:prstGeom>
          <a:noFill/>
          <a:ln/>
        </p:spPr>
        <p:txBody>
          <a:bodyPr wrap="square" lIns="0" tIns="0" rIns="0" bIns="0" rtlCol="0" anchor="t"/>
          <a:lstStyle/>
          <a:p>
            <a:pPr algn="l" indent="0" marL="0">
              <a:buNone/>
            </a:pPr>
            <a:r>
              <a:rPr lang="en-US" sz="1050" dirty="0">
                <a:solidFill>
                  <a:srgbClr val="C53030"/>
                </a:solidFill>
                <a:latin typeface="Consolas" pitchFamily="34" charset="0"/>
                <a:ea typeface="Consolas" pitchFamily="34" charset="-122"/>
                <a:cs typeface="Consolas" pitchFamily="34" charset="-120"/>
              </a:rPr>
              <a:t>kind: </a:t>
            </a:r>
            <a:pPr algn="l" indent="0" marL="0">
              <a:buNone/>
            </a:pPr>
            <a:r>
              <a:rPr lang="en-US" sz="1050" dirty="0">
                <a:solidFill>
                  <a:srgbClr val="276749"/>
                </a:solidFill>
                <a:latin typeface="Consolas" pitchFamily="34" charset="0"/>
                <a:ea typeface="Consolas" pitchFamily="34" charset="-122"/>
                <a:cs typeface="Consolas" pitchFamily="34" charset="-120"/>
              </a:rPr>
              <a:t>EgressApproval
</a:t>
            </a:r>
            <a:pPr algn="l" indent="0" marL="0">
              <a:buNone/>
            </a:pPr>
            <a:r>
              <a:rPr lang="en-US" sz="1050" dirty="0">
                <a:solidFill>
                  <a:srgbClr val="1A1A1A"/>
                </a:solidFill>
                <a:latin typeface="Consolas" pitchFamily="34" charset="0"/>
                <a:ea typeface="Consolas" pitchFamily="34" charset="-122"/>
                <a:cs typeface="Consolas" pitchFamily="34" charset="-120"/>
              </a:rPr>
              <a:t>metadata:
  name: demo-stripe-grant
</a:t>
            </a:r>
            <a:pPr algn="l" indent="0" marL="0">
              <a:buNone/>
            </a:pPr>
            <a:r>
              <a:rPr lang="en-US" sz="1050" dirty="0">
                <a:solidFill>
                  <a:srgbClr val="1A1A1A"/>
                </a:solidFill>
                <a:latin typeface="Consolas" pitchFamily="34" charset="0"/>
                <a:ea typeface="Consolas" pitchFamily="34" charset="-122"/>
                <a:cs typeface="Consolas" pitchFamily="34" charset="-120"/>
              </a:rPr>
              <a:t>spec:
</a:t>
            </a:r>
            <a:pPr algn="l" indent="0" marL="0">
              <a:buNone/>
            </a:pPr>
            <a:r>
              <a:rPr lang="en-US" sz="1050" dirty="0">
                <a:solidFill>
                  <a:srgbClr val="C53030"/>
                </a:solidFill>
                <a:latin typeface="Consolas" pitchFamily="34" charset="0"/>
                <a:ea typeface="Consolas" pitchFamily="34" charset="-122"/>
                <a:cs typeface="Consolas" pitchFamily="34" charset="-120"/>
              </a:rPr>
              <a:t>  sandbox: </a:t>
            </a:r>
            <a:pPr algn="l" indent="0" marL="0">
              <a:buNone/>
            </a:pPr>
            <a:r>
              <a:rPr lang="en-US" sz="1050" dirty="0">
                <a:solidFill>
                  <a:srgbClr val="276749"/>
                </a:solidFill>
                <a:latin typeface="Consolas" pitchFamily="34" charset="0"/>
                <a:ea typeface="Consolas" pitchFamily="34" charset="-122"/>
                <a:cs typeface="Consolas" pitchFamily="34" charset="-120"/>
              </a:rPr>
              <a:t>demo-agent
</a:t>
            </a:r>
            <a:pPr algn="l" indent="0" marL="0">
              <a:buNone/>
            </a:pPr>
            <a:r>
              <a:rPr lang="en-US" sz="1050" dirty="0">
                <a:solidFill>
                  <a:srgbClr val="1A1A1A"/>
                </a:solidFill>
                <a:latin typeface="Consolas" pitchFamily="34" charset="0"/>
                <a:ea typeface="Consolas" pitchFamily="34" charset="-122"/>
                <a:cs typeface="Consolas" pitchFamily="34" charset="-120"/>
              </a:rPr>
              <a:t>  hosts:
</a:t>
            </a:r>
            <a:pPr algn="l" indent="0" marL="0">
              <a:buNone/>
            </a:pPr>
            <a:r>
              <a:rPr lang="en-US" sz="1050" dirty="0">
                <a:solidFill>
                  <a:srgbClr val="C53030"/>
                </a:solidFill>
                <a:latin typeface="Consolas" pitchFamily="34" charset="0"/>
                <a:ea typeface="Consolas" pitchFamily="34" charset="-122"/>
                <a:cs typeface="Consolas" pitchFamily="34" charset="-120"/>
              </a:rPr>
              <a:t>    - host: </a:t>
            </a:r>
            <a:pPr algn="l" indent="0" marL="0">
              <a:buNone/>
            </a:pPr>
            <a:r>
              <a:rPr lang="en-US" sz="1050" dirty="0">
                <a:solidFill>
                  <a:srgbClr val="276749"/>
                </a:solidFill>
                <a:latin typeface="Consolas" pitchFamily="34" charset="0"/>
                <a:ea typeface="Consolas" pitchFamily="34" charset="-122"/>
                <a:cs typeface="Consolas" pitchFamily="34" charset="-120"/>
              </a:rPr>
              <a:t>api.stripe.com
</a:t>
            </a:r>
            <a:pPr algn="l" indent="0" marL="0">
              <a:buNone/>
            </a:pPr>
            <a:r>
              <a:rPr lang="en-US" sz="1050" dirty="0">
                <a:solidFill>
                  <a:srgbClr val="C53030"/>
                </a:solidFill>
                <a:latin typeface="Consolas" pitchFamily="34" charset="0"/>
                <a:ea typeface="Consolas" pitchFamily="34" charset="-122"/>
                <a:cs typeface="Consolas" pitchFamily="34" charset="-120"/>
              </a:rPr>
              <a:t>      port: </a:t>
            </a:r>
            <a:pPr algn="l" indent="0" marL="0">
              <a:buNone/>
            </a:pPr>
            <a:r>
              <a:rPr lang="en-US" sz="1050" dirty="0">
                <a:solidFill>
                  <a:srgbClr val="276749"/>
                </a:solidFill>
                <a:latin typeface="Consolas" pitchFamily="34" charset="0"/>
                <a:ea typeface="Consolas" pitchFamily="34" charset="-122"/>
                <a:cs typeface="Consolas" pitchFamily="34" charset="-120"/>
              </a:rPr>
              <a:t>443
</a:t>
            </a:r>
            <a:pPr algn="l" indent="0" marL="0">
              <a:buNone/>
            </a:pPr>
            <a:r>
              <a:rPr lang="en-US" sz="1050" dirty="0">
                <a:solidFill>
                  <a:srgbClr val="C53030"/>
                </a:solidFill>
                <a:latin typeface="Consolas" pitchFamily="34" charset="0"/>
                <a:ea typeface="Consolas" pitchFamily="34" charset="-122"/>
                <a:cs typeface="Consolas" pitchFamily="34" charset="-120"/>
              </a:rPr>
              <a:t>  ttl: </a:t>
            </a:r>
            <a:pPr algn="l" indent="0" marL="0">
              <a:buNone/>
            </a:pPr>
            <a:r>
              <a:rPr lang="en-US" sz="1050" dirty="0">
                <a:solidFill>
                  <a:srgbClr val="276749"/>
                </a:solidFill>
                <a:latin typeface="Consolas" pitchFamily="34" charset="0"/>
                <a:ea typeface="Consolas" pitchFamily="34" charset="-122"/>
                <a:cs typeface="Consolas" pitchFamily="34" charset="-120"/>
              </a:rPr>
              <a:t>PT10M  </a:t>
            </a:r>
            <a:pPr algn="l" indent="0" marL="0">
              <a:buNone/>
            </a:pPr>
            <a:r>
              <a:rPr lang="en-US" sz="1050" dirty="0">
                <a:solidFill>
                  <a:srgbClr val="6E7681"/>
                </a:solidFill>
                <a:latin typeface="Consolas" pitchFamily="34" charset="0"/>
                <a:ea typeface="Consolas" pitchFamily="34" charset="-122"/>
                <a:cs typeface="Consolas" pitchFamily="34" charset="-120"/>
              </a:rPr>
              <a:t># 10-minute grant
</a:t>
            </a:r>
            <a:pPr algn="l" indent="0" marL="0">
              <a:buNone/>
            </a:pPr>
            <a:r>
              <a:rPr lang="en-US" sz="1050" dirty="0">
                <a:solidFill>
                  <a:srgbClr val="C53030"/>
                </a:solidFill>
                <a:latin typeface="Consolas" pitchFamily="34" charset="0"/>
                <a:ea typeface="Consolas" pitchFamily="34" charset="-122"/>
                <a:cs typeface="Consolas" pitchFamily="34" charset="-120"/>
              </a:rPr>
              <a:t>  reason: </a:t>
            </a:r>
            <a:pPr algn="l" indent="0" marL="0">
              <a:buNone/>
            </a:pPr>
            <a:r>
              <a:rPr lang="en-US" sz="1050" dirty="0">
                <a:solidFill>
                  <a:srgbClr val="276749"/>
                </a:solidFill>
                <a:latin typeface="Consolas" pitchFamily="34" charset="0"/>
                <a:ea typeface="Consolas" pitchFamily="34" charset="-122"/>
                <a:cs typeface="Consolas" pitchFamily="34" charset="-120"/>
              </a:rPr>
              <a:t>|
</a:t>
            </a:r>
            <a:pPr algn="l" indent="0" marL="0">
              <a:buNone/>
            </a:pPr>
            <a:r>
              <a:rPr lang="en-US" sz="1050" dirty="0">
                <a:solidFill>
                  <a:srgbClr val="276749"/>
                </a:solidFill>
                <a:latin typeface="Consolas" pitchFamily="34" charset="0"/>
                <a:ea typeface="Consolas" pitchFamily="34" charset="-122"/>
                <a:cs typeface="Consolas" pitchFamily="34" charset="-120"/>
              </a:rPr>
              <a:t>    payment-flow walkthrough for the
</a:t>
            </a:r>
            <a:pPr algn="l" indent="0" marL="0">
              <a:buNone/>
            </a:pPr>
            <a:r>
              <a:rPr lang="en-US" sz="1050" dirty="0">
                <a:solidFill>
                  <a:srgbClr val="276749"/>
                </a:solidFill>
                <a:latin typeface="Consolas" pitchFamily="34" charset="0"/>
                <a:ea typeface="Consolas" pitchFamily="34" charset="-122"/>
                <a:cs typeface="Consolas" pitchFamily="34" charset="-120"/>
              </a:rPr>
              <a:t>    weekly demo recording
</a:t>
            </a:r>
            <a:pPr algn="l" indent="0" marL="0">
              <a:buNone/>
            </a:pPr>
            <a:r>
              <a:rPr lang="en-US" sz="1050" dirty="0">
                <a:solidFill>
                  <a:srgbClr val="C53030"/>
                </a:solidFill>
                <a:latin typeface="Consolas" pitchFamily="34" charset="0"/>
                <a:ea typeface="Consolas" pitchFamily="34" charset="-122"/>
                <a:cs typeface="Consolas" pitchFamily="34" charset="-120"/>
              </a:rPr>
              <a:t>  ticket: </a:t>
            </a:r>
            <a:pPr algn="l" indent="0" marL="0">
              <a:buNone/>
            </a:pPr>
            <a:r>
              <a:rPr lang="en-US" sz="1050" dirty="0">
                <a:solidFill>
                  <a:srgbClr val="276749"/>
                </a:solidFill>
                <a:latin typeface="Consolas" pitchFamily="34" charset="0"/>
                <a:ea typeface="Consolas" pitchFamily="34" charset="-122"/>
                <a:cs typeface="Consolas" pitchFamily="34" charset="-120"/>
              </a:rPr>
              <a:t>DEMO-001
</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13</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 · SANDBOX · THE POD</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600" b="1" dirty="0">
                <a:solidFill>
                  <a:srgbClr val="1A1A1A"/>
                </a:solidFill>
                <a:latin typeface="Helvetica" pitchFamily="34" charset="0"/>
                <a:ea typeface="Helvetica" pitchFamily="34" charset="-122"/>
                <a:cs typeface="Helvetica" pitchFamily="34" charset="-120"/>
              </a:rPr>
              <a:t>The pod is the unit of trust.</a:t>
            </a:r>
            <a:endParaRPr lang="en-US" sz="3600" dirty="0"/>
          </a:p>
        </p:txBody>
      </p:sp>
      <p:sp>
        <p:nvSpPr>
          <p:cNvPr id="5" name="Text 3"/>
          <p:cNvSpPr/>
          <p:nvPr/>
        </p:nvSpPr>
        <p:spPr>
          <a:xfrm>
            <a:off x="640080" y="224028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containers + one init container, three users, one network namespace. Every byte from UID 1000 (agent) is rewritten to loopback. UID 1001 (router) is the only path out.  Init container UID 0 dies after 300 ms; the agent never has root.</a:t>
            </a:r>
            <a:endParaRPr lang="en-US" sz="1800" dirty="0"/>
          </a:p>
        </p:txBody>
      </p:sp>
      <p:sp>
        <p:nvSpPr>
          <p:cNvPr id="6" name="Shape 4"/>
          <p:cNvSpPr/>
          <p:nvPr/>
        </p:nvSpPr>
        <p:spPr>
          <a:xfrm>
            <a:off x="1097280" y="3840480"/>
            <a:ext cx="9966960" cy="2651760"/>
          </a:xfrm>
          <a:prstGeom prst="rect">
            <a:avLst/>
          </a:prstGeom>
          <a:solidFill>
            <a:srgbClr val="FFFFFF"/>
          </a:solidFill>
          <a:ln w="15240">
            <a:solidFill>
              <a:srgbClr val="028090"/>
            </a:solidFill>
            <a:prstDash val="solid"/>
          </a:ln>
        </p:spPr>
      </p:sp>
      <p:sp>
        <p:nvSpPr>
          <p:cNvPr id="7" name="Text 5"/>
          <p:cNvSpPr/>
          <p:nvPr/>
        </p:nvSpPr>
        <p:spPr>
          <a:xfrm>
            <a:off x="1280160" y="3931920"/>
            <a:ext cx="9601200" cy="274320"/>
          </a:xfrm>
          <a:prstGeom prst="rect">
            <a:avLst/>
          </a:prstGeom>
          <a:noFill/>
          <a:ln/>
        </p:spPr>
        <p:txBody>
          <a:bodyPr wrap="square" lIns="0" tIns="0" rIns="0" bIns="0" rtlCol="0" anchor="ctr"/>
          <a:lstStyle/>
          <a:p>
            <a:pPr indent="0" marL="0">
              <a:buNone/>
            </a:pPr>
            <a:r>
              <a:rPr lang="en-US" sz="1100" dirty="0">
                <a:solidFill>
                  <a:srgbClr val="6E7681"/>
                </a:solidFill>
                <a:latin typeface="Consolas" pitchFamily="34" charset="0"/>
                <a:ea typeface="Consolas" pitchFamily="34" charset="-122"/>
                <a:cs typeface="Consolas" pitchFamily="34" charset="-120"/>
              </a:rPr>
              <a:t>Pod  ·  kars-research-agent / research-agent-7d4cb…</a:t>
            </a:r>
            <a:endParaRPr lang="en-US" sz="1100" dirty="0"/>
          </a:p>
        </p:txBody>
      </p:sp>
      <p:sp>
        <p:nvSpPr>
          <p:cNvPr id="8" name="Text 6"/>
          <p:cNvSpPr/>
          <p:nvPr/>
        </p:nvSpPr>
        <p:spPr>
          <a:xfrm>
            <a:off x="1280160" y="443484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init:egress-guard</a:t>
            </a:r>
            <a:endParaRPr lang="en-US" sz="1300" dirty="0"/>
          </a:p>
        </p:txBody>
      </p:sp>
      <p:sp>
        <p:nvSpPr>
          <p:cNvPr id="9" name="Text 7"/>
          <p:cNvSpPr/>
          <p:nvPr/>
        </p:nvSpPr>
        <p:spPr>
          <a:xfrm>
            <a:off x="3566160" y="443484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0  ·  6 iptables rules  ·  exits after 300ms</a:t>
            </a:r>
            <a:endParaRPr lang="en-US" sz="1150" dirty="0"/>
          </a:p>
        </p:txBody>
      </p:sp>
      <p:sp>
        <p:nvSpPr>
          <p:cNvPr id="10" name="Text 8"/>
          <p:cNvSpPr/>
          <p:nvPr/>
        </p:nvSpPr>
        <p:spPr>
          <a:xfrm>
            <a:off x="3566160" y="470916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readOnlyRootFilesystem: false (just init)</a:t>
            </a:r>
            <a:endParaRPr lang="en-US" sz="1000" dirty="0"/>
          </a:p>
        </p:txBody>
      </p:sp>
      <p:sp>
        <p:nvSpPr>
          <p:cNvPr id="11" name="Shape 9"/>
          <p:cNvSpPr/>
          <p:nvPr/>
        </p:nvSpPr>
        <p:spPr>
          <a:xfrm>
            <a:off x="1280160" y="5013960"/>
            <a:ext cx="9601200" cy="0"/>
          </a:xfrm>
          <a:prstGeom prst="line">
            <a:avLst/>
          </a:prstGeom>
          <a:noFill/>
          <a:ln w="6350">
            <a:solidFill>
              <a:srgbClr val="E1E4E8"/>
            </a:solidFill>
            <a:prstDash val="solid"/>
          </a:ln>
        </p:spPr>
      </p:sp>
      <p:sp>
        <p:nvSpPr>
          <p:cNvPr id="12" name="Text 10"/>
          <p:cNvSpPr/>
          <p:nvPr/>
        </p:nvSpPr>
        <p:spPr>
          <a:xfrm>
            <a:off x="1280160" y="51054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openclaw</a:t>
            </a:r>
            <a:endParaRPr lang="en-US" sz="1300" dirty="0"/>
          </a:p>
        </p:txBody>
      </p:sp>
      <p:sp>
        <p:nvSpPr>
          <p:cNvPr id="13" name="Text 11"/>
          <p:cNvSpPr/>
          <p:nvPr/>
        </p:nvSpPr>
        <p:spPr>
          <a:xfrm>
            <a:off x="3566160" y="510540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1000  ·  the agent process  ·  loopback-only outbound</a:t>
            </a:r>
            <a:endParaRPr lang="en-US" sz="1150" dirty="0"/>
          </a:p>
        </p:txBody>
      </p:sp>
      <p:sp>
        <p:nvSpPr>
          <p:cNvPr id="14" name="Text 12"/>
          <p:cNvSpPr/>
          <p:nvPr/>
        </p:nvSpPr>
        <p:spPr>
          <a:xfrm>
            <a:off x="3566160" y="537972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seccomp: kars-strict  ·  drop ALL caps</a:t>
            </a:r>
            <a:endParaRPr lang="en-US" sz="1000" dirty="0"/>
          </a:p>
        </p:txBody>
      </p:sp>
      <p:sp>
        <p:nvSpPr>
          <p:cNvPr id="15" name="Shape 13"/>
          <p:cNvSpPr/>
          <p:nvPr/>
        </p:nvSpPr>
        <p:spPr>
          <a:xfrm>
            <a:off x="1280160" y="5684520"/>
            <a:ext cx="9601200" cy="0"/>
          </a:xfrm>
          <a:prstGeom prst="line">
            <a:avLst/>
          </a:prstGeom>
          <a:noFill/>
          <a:ln w="6350">
            <a:solidFill>
              <a:srgbClr val="E1E4E8"/>
            </a:solidFill>
            <a:prstDash val="solid"/>
          </a:ln>
        </p:spPr>
      </p:sp>
      <p:sp>
        <p:nvSpPr>
          <p:cNvPr id="16" name="Text 14"/>
          <p:cNvSpPr/>
          <p:nvPr/>
        </p:nvSpPr>
        <p:spPr>
          <a:xfrm>
            <a:off x="1280160" y="577596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inference-router</a:t>
            </a:r>
            <a:endParaRPr lang="en-US" sz="1300" dirty="0"/>
          </a:p>
        </p:txBody>
      </p:sp>
      <p:sp>
        <p:nvSpPr>
          <p:cNvPr id="17" name="Text 15"/>
          <p:cNvSpPr/>
          <p:nvPr/>
        </p:nvSpPr>
        <p:spPr>
          <a:xfrm>
            <a:off x="3566160" y="577596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1001  ·  axum  ·  :8443 admin · :8444 transparent proxy</a:t>
            </a:r>
            <a:endParaRPr lang="en-US" sz="1150" dirty="0"/>
          </a:p>
        </p:txBody>
      </p:sp>
      <p:sp>
        <p:nvSpPr>
          <p:cNvPr id="18" name="Text 16"/>
          <p:cNvSpPr/>
          <p:nvPr/>
        </p:nvSpPr>
        <p:spPr>
          <a:xfrm>
            <a:off x="3566160" y="605028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the only path to the outside world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§5.1 · SANDBOX · THE GATE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400" b="1" dirty="0">
                <a:solidFill>
                  <a:srgbClr val="1A1A1A"/>
                </a:solidFill>
                <a:latin typeface="Helvetica" pitchFamily="34" charset="0"/>
                <a:ea typeface="Helvetica" pitchFamily="34" charset="-122"/>
                <a:cs typeface="Helvetica" pitchFamily="34" charset="-120"/>
              </a:rPr>
              <a:t>Six iptables rules.</a:t>
            </a:r>
            <a:endParaRPr lang="en-US" sz="4400" dirty="0"/>
          </a:p>
        </p:txBody>
      </p:sp>
      <p:sp>
        <p:nvSpPr>
          <p:cNvPr id="5" name="Shape 3"/>
          <p:cNvSpPr/>
          <p:nvPr/>
        </p:nvSpPr>
        <p:spPr>
          <a:xfrm>
            <a:off x="640080" y="2743200"/>
            <a:ext cx="7680960" cy="3108960"/>
          </a:xfrm>
          <a:prstGeom prst="rect">
            <a:avLst/>
          </a:prstGeom>
          <a:solidFill>
            <a:srgbClr val="F6F8FA"/>
          </a:solidFill>
          <a:ln w="9525">
            <a:solidFill>
              <a:srgbClr val="E1E4E8"/>
            </a:solidFill>
            <a:prstDash val="solid"/>
          </a:ln>
        </p:spPr>
      </p:sp>
      <p:sp>
        <p:nvSpPr>
          <p:cNvPr id="6" name="Text 4"/>
          <p:cNvSpPr/>
          <p:nvPr/>
        </p:nvSpPr>
        <p:spPr>
          <a:xfrm>
            <a:off x="868680" y="2971800"/>
            <a:ext cx="7223760" cy="2651760"/>
          </a:xfrm>
          <a:prstGeom prst="rect">
            <a:avLst/>
          </a:prstGeom>
          <a:noFill/>
          <a:ln/>
        </p:spPr>
        <p:txBody>
          <a:bodyPr wrap="square" lIns="0" tIns="0" rIns="0" bIns="0" rtlCol="0" anchor="t"/>
          <a:lstStyle/>
          <a:p>
            <a:pPr algn="l" indent="0" marL="0">
              <a:buNone/>
            </a:pPr>
            <a:r>
              <a:rPr lang="en-US" sz="950" dirty="0">
                <a:solidFill>
                  <a:srgbClr val="1A1A1A"/>
                </a:solidFill>
                <a:latin typeface="Consolas" pitchFamily="34" charset="0"/>
                <a:ea typeface="Consolas" pitchFamily="34" charset="-122"/>
                <a:cs typeface="Consolas" pitchFamily="34" charset="-120"/>
              </a:rPr>
              <a:t>iptables -t nat   -A OUTPUT -m owner --uid-owner 1000 -d 127.0.0.1 -j RETURN
iptables -t nat   -A OUTPUT -m owner --uid-owner 1000 -p udp --dport 53 -j RETURN
iptables          -A OUTPUT -m owner --uid-owner 1000 -d 127.0.0.0/8 -j ACCEPT
iptables          -A OUTPUT -m owner --uid-owner 1000 -p udp --dport 53 -j ACCEPT
iptables          -A OUTPUT -m owner --uid-owner 1000 -j REJECT
iptables -t nat   -A OUTPUT -m owner --uid-owner 1000 -p tcp --dport 80  -j REDIRECT --to-port 8444
iptables -t nat   -A OUTPUT -m owner --uid-owner 1000 -p tcp --dport 443 -j REDIRECT --to-port 8444
</a:t>
            </a:r>
            <a:endParaRPr lang="en-US" sz="950" dirty="0"/>
          </a:p>
        </p:txBody>
      </p:sp>
      <p:sp>
        <p:nvSpPr>
          <p:cNvPr id="7" name="Text 5"/>
          <p:cNvSpPr/>
          <p:nvPr/>
        </p:nvSpPr>
        <p:spPr>
          <a:xfrm>
            <a:off x="8229600" y="2743200"/>
            <a:ext cx="32918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Reading the rules</a:t>
            </a:r>
            <a:endParaRPr lang="en-US" sz="1600" dirty="0"/>
          </a:p>
        </p:txBody>
      </p:sp>
      <p:sp>
        <p:nvSpPr>
          <p:cNvPr id="8" name="Text 6"/>
          <p:cNvSpPr/>
          <p:nvPr/>
        </p:nvSpPr>
        <p:spPr>
          <a:xfrm>
            <a:off x="8229600" y="3154680"/>
            <a:ext cx="3291840" cy="3200400"/>
          </a:xfrm>
          <a:prstGeom prst="rect">
            <a:avLst/>
          </a:prstGeom>
          <a:noFill/>
          <a:ln/>
        </p:spPr>
        <p:txBody>
          <a:bodyPr wrap="square" lIns="0" tIns="0" rIns="0" bIns="0" rtlCol="0" anchor="ctr"/>
          <a:lstStyle/>
          <a:p>
            <a:pPr indent="0" marL="0">
              <a:spcAft>
                <a:spcPts val="800"/>
              </a:spcAft>
              <a:buNone/>
            </a:pPr>
            <a:r>
              <a:rPr lang="en-US" sz="1200" dirty="0">
                <a:solidFill>
                  <a:srgbClr val="1A1A1A"/>
                </a:solidFill>
                <a:latin typeface="Helvetica" pitchFamily="34" charset="0"/>
                <a:ea typeface="Helvetica" pitchFamily="34" charset="-122"/>
                <a:cs typeface="Helvetica" pitchFamily="34" charset="-120"/>
              </a:rPr>
              <a:t>UID 1000 is the agent.  UID 1001 is the inference-router sidecar — distinct user, so the rules apply only to agent traffic.</a:t>
            </a:r>
            <a:endParaRPr lang="en-US" sz="1200" dirty="0"/>
          </a:p>
          <a:p>
            <a:pPr indent="0" marL="0">
              <a:spcAft>
                <a:spcPts val="800"/>
              </a:spcAft>
              <a:buNone/>
            </a:pPr>
            <a:r>
              <a:rPr lang="en-US" sz="1200" dirty="0">
                <a:solidFill>
                  <a:srgbClr val="1A1A1A"/>
                </a:solidFill>
                <a:latin typeface="Helvetica" pitchFamily="34" charset="0"/>
                <a:ea typeface="Helvetica" pitchFamily="34" charset="-122"/>
                <a:cs typeface="Helvetica" pitchFamily="34" charset="-120"/>
              </a:rPr>
              <a:t>Line 5 fails closed:  any outbound the agent didn't get through loopback or DNS gets rejected.</a:t>
            </a:r>
            <a:endParaRPr lang="en-US" sz="1200" dirty="0"/>
          </a:p>
          <a:p>
            <a:pPr indent="0" marL="0">
              <a:spcAft>
                <a:spcPts val="600"/>
              </a:spcAft>
              <a:buNone/>
            </a:pPr>
            <a:r>
              <a:rPr lang="en-US" sz="1200" dirty="0">
                <a:solidFill>
                  <a:srgbClr val="1A1A1A"/>
                </a:solidFill>
                <a:latin typeface="Helvetica" pitchFamily="34" charset="0"/>
                <a:ea typeface="Helvetica" pitchFamily="34" charset="-122"/>
                <a:cs typeface="Helvetica" pitchFamily="34" charset="-120"/>
              </a:rPr>
              <a:t>Lines 6 + 7 are why the agent can still talk to the world:  :80/:443 are NAT-redirected to the router's transparent proxy on :8444, where every call is policy-checked and audited.</a:t>
            </a:r>
            <a:endParaRPr lang="en-US" sz="1200" dirty="0"/>
          </a:p>
        </p:txBody>
      </p:sp>
      <p:sp>
        <p:nvSpPr>
          <p:cNvPr id="9" name="Text 7"/>
          <p:cNvSpPr/>
          <p:nvPr/>
        </p:nvSpPr>
        <p:spPr>
          <a:xfrm>
            <a:off x="640080" y="612648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controller/src/reconciler/mod.rs:1916-1958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§5.2 · SANDBOX · THE ALLOWLIST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Egress:  learn it, sign it, enforce it.</a:t>
            </a:r>
            <a:endParaRPr lang="en-US" sz="3200" dirty="0"/>
          </a:p>
        </p:txBody>
      </p:sp>
      <p:sp>
        <p:nvSpPr>
          <p:cNvPr id="5" name="Text 3"/>
          <p:cNvSpPr/>
          <p:nvPr/>
        </p:nvSpPr>
        <p:spPr>
          <a:xfrm>
            <a:off x="640080" y="224028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modes shipped, one more on deck.  Learn mode records every host the agent reaches — the operator turns that into a signed OCI bundle that the cluster pulls, cosign-verifies, and the router atomically hot-reloads as the L7 allowlist.</a:t>
            </a:r>
            <a:endParaRPr lang="en-US" sz="1800" dirty="0"/>
          </a:p>
        </p:txBody>
      </p:sp>
      <p:sp>
        <p:nvSpPr>
          <p:cNvPr id="6" name="Shape 4"/>
          <p:cNvSpPr/>
          <p:nvPr/>
        </p:nvSpPr>
        <p:spPr>
          <a:xfrm>
            <a:off x="640080" y="3657600"/>
            <a:ext cx="5257800" cy="1463040"/>
          </a:xfrm>
          <a:prstGeom prst="rect">
            <a:avLst/>
          </a:prstGeom>
          <a:solidFill>
            <a:srgbClr val="FFFFFF"/>
          </a:solidFill>
          <a:ln w="12700">
            <a:solidFill>
              <a:srgbClr val="028090"/>
            </a:solidFill>
            <a:prstDash val="solid"/>
          </a:ln>
        </p:spPr>
      </p:sp>
      <p:sp>
        <p:nvSpPr>
          <p:cNvPr id="7" name="Text 5"/>
          <p:cNvSpPr/>
          <p:nvPr/>
        </p:nvSpPr>
        <p:spPr>
          <a:xfrm>
            <a:off x="822960" y="3767328"/>
            <a:ext cx="1828800" cy="32004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Learn</a:t>
            </a:r>
            <a:endParaRPr lang="en-US" sz="1600" dirty="0"/>
          </a:p>
        </p:txBody>
      </p:sp>
      <p:sp>
        <p:nvSpPr>
          <p:cNvPr id="8" name="Text 6"/>
          <p:cNvSpPr/>
          <p:nvPr/>
        </p:nvSpPr>
        <p:spPr>
          <a:xfrm>
            <a:off x="1920240" y="3822192"/>
            <a:ext cx="91440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default</a:t>
            </a:r>
            <a:endParaRPr lang="en-US" sz="1000" dirty="0"/>
          </a:p>
        </p:txBody>
      </p:sp>
      <p:sp>
        <p:nvSpPr>
          <p:cNvPr id="9" name="Text 7"/>
          <p:cNvSpPr/>
          <p:nvPr/>
        </p:nvSpPr>
        <p:spPr>
          <a:xfrm>
            <a:off x="822960" y="4114800"/>
            <a:ext cx="4892040" cy="96012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Every host the agent reaches is logged and folded into the next allowlist proposal. Blocklist still applied first. Discovery without a deploy step.</a:t>
            </a:r>
            <a:endParaRPr lang="en-US" sz="1100" dirty="0"/>
          </a:p>
        </p:txBody>
      </p:sp>
      <p:sp>
        <p:nvSpPr>
          <p:cNvPr id="10" name="Shape 8"/>
          <p:cNvSpPr/>
          <p:nvPr/>
        </p:nvSpPr>
        <p:spPr>
          <a:xfrm>
            <a:off x="6263640" y="3657600"/>
            <a:ext cx="5257800" cy="1463040"/>
          </a:xfrm>
          <a:prstGeom prst="rect">
            <a:avLst/>
          </a:prstGeom>
          <a:solidFill>
            <a:srgbClr val="FFFFFF"/>
          </a:solidFill>
          <a:ln w="12700">
            <a:solidFill>
              <a:srgbClr val="028090"/>
            </a:solidFill>
            <a:prstDash val="solid"/>
          </a:ln>
        </p:spPr>
      </p:sp>
      <p:sp>
        <p:nvSpPr>
          <p:cNvPr id="11" name="Text 9"/>
          <p:cNvSpPr/>
          <p:nvPr/>
        </p:nvSpPr>
        <p:spPr>
          <a:xfrm>
            <a:off x="6446520" y="3767328"/>
            <a:ext cx="1828800" cy="32004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Strict</a:t>
            </a:r>
            <a:endParaRPr lang="en-US" sz="1600" dirty="0"/>
          </a:p>
        </p:txBody>
      </p:sp>
      <p:sp>
        <p:nvSpPr>
          <p:cNvPr id="12" name="Text 10"/>
          <p:cNvSpPr/>
          <p:nvPr/>
        </p:nvSpPr>
        <p:spPr>
          <a:xfrm>
            <a:off x="7543800" y="3822192"/>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production</a:t>
            </a:r>
            <a:endParaRPr lang="en-US" sz="1000" dirty="0"/>
          </a:p>
        </p:txBody>
      </p:sp>
      <p:sp>
        <p:nvSpPr>
          <p:cNvPr id="13" name="Text 11"/>
          <p:cNvSpPr/>
          <p:nvPr/>
        </p:nvSpPr>
        <p:spPr>
          <a:xfrm>
            <a:off x="6446520" y="4114800"/>
            <a:ext cx="4892040" cy="96012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Anything outside the signed allowlist gets a 4xx with a precise error. Operator can layer time-boxed EgressApproval grants on top. Fails closed on verify failure.</a:t>
            </a:r>
            <a:endParaRPr lang="en-US" sz="1100" dirty="0"/>
          </a:p>
        </p:txBody>
      </p:sp>
      <p:sp>
        <p:nvSpPr>
          <p:cNvPr id="14" name="Text 12"/>
          <p:cNvSpPr/>
          <p:nvPr/>
        </p:nvSpPr>
        <p:spPr>
          <a:xfrm>
            <a:off x="640080" y="5486400"/>
            <a:ext cx="10881360" cy="274320"/>
          </a:xfrm>
          <a:prstGeom prst="rect">
            <a:avLst/>
          </a:prstGeom>
          <a:noFill/>
          <a:ln/>
        </p:spPr>
        <p:txBody>
          <a:bodyPr wrap="square" lIns="0" tIns="0" rIns="0" bIns="0" rtlCol="0" anchor="ctr"/>
          <a:lstStyle/>
          <a:p>
            <a:pPr indent="0" marL="0">
              <a:buNone/>
            </a:pPr>
            <a:r>
              <a:rPr lang="en-US" sz="1300" b="1" spc="200" kern="0" dirty="0">
                <a:solidFill>
                  <a:srgbClr val="1A1A1A"/>
                </a:solidFill>
                <a:latin typeface="Helvetica" pitchFamily="34" charset="0"/>
                <a:ea typeface="Helvetica" pitchFamily="34" charset="-122"/>
                <a:cs typeface="Helvetica" pitchFamily="34" charset="-120"/>
              </a:rPr>
              <a:t>Signed OCI allowlist  ·  the pipeline</a:t>
            </a:r>
            <a:endParaRPr lang="en-US" sz="1300" dirty="0"/>
          </a:p>
        </p:txBody>
      </p:sp>
      <p:sp>
        <p:nvSpPr>
          <p:cNvPr id="15" name="Shape 13"/>
          <p:cNvSpPr/>
          <p:nvPr/>
        </p:nvSpPr>
        <p:spPr>
          <a:xfrm>
            <a:off x="640080" y="5897880"/>
            <a:ext cx="2088490" cy="502920"/>
          </a:xfrm>
          <a:prstGeom prst="roundRect">
            <a:avLst>
              <a:gd name="adj" fmla="val 10909"/>
            </a:avLst>
          </a:prstGeom>
          <a:solidFill>
            <a:srgbClr val="E6F1F2"/>
          </a:solidFill>
          <a:ln w="9525">
            <a:solidFill>
              <a:srgbClr val="028090"/>
            </a:solidFill>
            <a:prstDash val="solid"/>
          </a:ln>
        </p:spPr>
      </p:sp>
      <p:sp>
        <p:nvSpPr>
          <p:cNvPr id="16" name="Text 14"/>
          <p:cNvSpPr/>
          <p:nvPr/>
        </p:nvSpPr>
        <p:spPr>
          <a:xfrm>
            <a:off x="640080"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kars egress  --sign</a:t>
            </a:r>
            <a:endParaRPr lang="en-US" sz="1000" dirty="0"/>
          </a:p>
        </p:txBody>
      </p:sp>
      <p:sp>
        <p:nvSpPr>
          <p:cNvPr id="17" name="Shape 15"/>
          <p:cNvSpPr/>
          <p:nvPr/>
        </p:nvSpPr>
        <p:spPr>
          <a:xfrm>
            <a:off x="2733142" y="6149340"/>
            <a:ext cx="100584" cy="0"/>
          </a:xfrm>
          <a:prstGeom prst="line">
            <a:avLst/>
          </a:prstGeom>
          <a:noFill/>
          <a:ln w="12700">
            <a:solidFill>
              <a:srgbClr val="028090"/>
            </a:solidFill>
            <a:prstDash val="solid"/>
            <a:tailEnd type="triangle"/>
          </a:ln>
        </p:spPr>
      </p:sp>
      <p:sp>
        <p:nvSpPr>
          <p:cNvPr id="18" name="Shape 16"/>
          <p:cNvSpPr/>
          <p:nvPr/>
        </p:nvSpPr>
        <p:spPr>
          <a:xfrm>
            <a:off x="2838298" y="5897880"/>
            <a:ext cx="2088490" cy="502920"/>
          </a:xfrm>
          <a:prstGeom prst="roundRect">
            <a:avLst>
              <a:gd name="adj" fmla="val 10909"/>
            </a:avLst>
          </a:prstGeom>
          <a:solidFill>
            <a:srgbClr val="E6F1F2"/>
          </a:solidFill>
          <a:ln w="9525">
            <a:solidFill>
              <a:srgbClr val="028090"/>
            </a:solidFill>
            <a:prstDash val="solid"/>
          </a:ln>
        </p:spPr>
      </p:sp>
      <p:sp>
        <p:nvSpPr>
          <p:cNvPr id="19" name="Text 17"/>
          <p:cNvSpPr/>
          <p:nvPr/>
        </p:nvSpPr>
        <p:spPr>
          <a:xfrm>
            <a:off x="2838298"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OCI artifact  (ACR / ghcr)</a:t>
            </a:r>
            <a:endParaRPr lang="en-US" sz="1000" dirty="0"/>
          </a:p>
        </p:txBody>
      </p:sp>
      <p:sp>
        <p:nvSpPr>
          <p:cNvPr id="20" name="Shape 18"/>
          <p:cNvSpPr/>
          <p:nvPr/>
        </p:nvSpPr>
        <p:spPr>
          <a:xfrm>
            <a:off x="4931359" y="6149340"/>
            <a:ext cx="100584" cy="0"/>
          </a:xfrm>
          <a:prstGeom prst="line">
            <a:avLst/>
          </a:prstGeom>
          <a:noFill/>
          <a:ln w="12700">
            <a:solidFill>
              <a:srgbClr val="028090"/>
            </a:solidFill>
            <a:prstDash val="solid"/>
            <a:tailEnd type="triangle"/>
          </a:ln>
        </p:spPr>
      </p:sp>
      <p:sp>
        <p:nvSpPr>
          <p:cNvPr id="21" name="Shape 19"/>
          <p:cNvSpPr/>
          <p:nvPr/>
        </p:nvSpPr>
        <p:spPr>
          <a:xfrm>
            <a:off x="5036515" y="5897880"/>
            <a:ext cx="2088490" cy="502920"/>
          </a:xfrm>
          <a:prstGeom prst="roundRect">
            <a:avLst>
              <a:gd name="adj" fmla="val 10909"/>
            </a:avLst>
          </a:prstGeom>
          <a:solidFill>
            <a:srgbClr val="E6F1F2"/>
          </a:solidFill>
          <a:ln w="9525">
            <a:solidFill>
              <a:srgbClr val="028090"/>
            </a:solidFill>
            <a:prstDash val="solid"/>
          </a:ln>
        </p:spPr>
      </p:sp>
      <p:sp>
        <p:nvSpPr>
          <p:cNvPr id="22" name="Text 20"/>
          <p:cNvSpPr/>
          <p:nvPr/>
        </p:nvSpPr>
        <p:spPr>
          <a:xfrm>
            <a:off x="5036515"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cosign verify  (Fulcio + SAN)</a:t>
            </a:r>
            <a:endParaRPr lang="en-US" sz="1000" dirty="0"/>
          </a:p>
        </p:txBody>
      </p:sp>
      <p:sp>
        <p:nvSpPr>
          <p:cNvPr id="23" name="Shape 21"/>
          <p:cNvSpPr/>
          <p:nvPr/>
        </p:nvSpPr>
        <p:spPr>
          <a:xfrm>
            <a:off x="7129577" y="6149340"/>
            <a:ext cx="100584" cy="0"/>
          </a:xfrm>
          <a:prstGeom prst="line">
            <a:avLst/>
          </a:prstGeom>
          <a:noFill/>
          <a:ln w="12700">
            <a:solidFill>
              <a:srgbClr val="028090"/>
            </a:solidFill>
            <a:prstDash val="solid"/>
            <a:tailEnd type="triangle"/>
          </a:ln>
        </p:spPr>
      </p:sp>
      <p:sp>
        <p:nvSpPr>
          <p:cNvPr id="24" name="Shape 22"/>
          <p:cNvSpPr/>
          <p:nvPr/>
        </p:nvSpPr>
        <p:spPr>
          <a:xfrm>
            <a:off x="7234733" y="5897880"/>
            <a:ext cx="2088490" cy="502920"/>
          </a:xfrm>
          <a:prstGeom prst="roundRect">
            <a:avLst>
              <a:gd name="adj" fmla="val 10909"/>
            </a:avLst>
          </a:prstGeom>
          <a:solidFill>
            <a:srgbClr val="E6F1F2"/>
          </a:solidFill>
          <a:ln w="9525">
            <a:solidFill>
              <a:srgbClr val="028090"/>
            </a:solidFill>
            <a:prstDash val="solid"/>
          </a:ln>
        </p:spPr>
      </p:sp>
      <p:sp>
        <p:nvSpPr>
          <p:cNvPr id="25" name="Text 23"/>
          <p:cNvSpPr/>
          <p:nvPr/>
        </p:nvSpPr>
        <p:spPr>
          <a:xfrm>
            <a:off x="7234733"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ConfigMap  +  digest</a:t>
            </a:r>
            <a:endParaRPr lang="en-US" sz="1000" dirty="0"/>
          </a:p>
        </p:txBody>
      </p:sp>
      <p:sp>
        <p:nvSpPr>
          <p:cNvPr id="26" name="Shape 24"/>
          <p:cNvSpPr/>
          <p:nvPr/>
        </p:nvSpPr>
        <p:spPr>
          <a:xfrm>
            <a:off x="9327794" y="6149340"/>
            <a:ext cx="100584" cy="0"/>
          </a:xfrm>
          <a:prstGeom prst="line">
            <a:avLst/>
          </a:prstGeom>
          <a:noFill/>
          <a:ln w="12700">
            <a:solidFill>
              <a:srgbClr val="028090"/>
            </a:solidFill>
            <a:prstDash val="solid"/>
            <a:tailEnd type="triangle"/>
          </a:ln>
        </p:spPr>
      </p:sp>
      <p:sp>
        <p:nvSpPr>
          <p:cNvPr id="27" name="Shape 25"/>
          <p:cNvSpPr/>
          <p:nvPr/>
        </p:nvSpPr>
        <p:spPr>
          <a:xfrm>
            <a:off x="9432950" y="5897880"/>
            <a:ext cx="2088490" cy="502920"/>
          </a:xfrm>
          <a:prstGeom prst="roundRect">
            <a:avLst>
              <a:gd name="adj" fmla="val 10909"/>
            </a:avLst>
          </a:prstGeom>
          <a:solidFill>
            <a:srgbClr val="E6F1F2"/>
          </a:solidFill>
          <a:ln w="9525">
            <a:solidFill>
              <a:srgbClr val="028090"/>
            </a:solidFill>
            <a:prstDash val="solid"/>
          </a:ln>
        </p:spPr>
      </p:sp>
      <p:sp>
        <p:nvSpPr>
          <p:cNvPr id="28" name="Text 26"/>
          <p:cNvSpPr/>
          <p:nvPr/>
        </p:nvSpPr>
        <p:spPr>
          <a:xfrm>
            <a:off x="9432950"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router  ·  L7 hot-reload</a:t>
            </a:r>
            <a:endParaRPr lang="en-US" sz="1000" dirty="0"/>
          </a:p>
        </p:txBody>
      </p:sp>
      <p:sp>
        <p:nvSpPr>
          <p:cNvPr id="29" name="Text 27"/>
          <p:cNvSpPr/>
          <p:nvPr/>
        </p:nvSpPr>
        <p:spPr>
          <a:xfrm>
            <a:off x="640080" y="6537960"/>
            <a:ext cx="10881360" cy="228600"/>
          </a:xfrm>
          <a:prstGeom prst="rect">
            <a:avLst/>
          </a:prstGeom>
          <a:noFill/>
          <a:ln/>
        </p:spPr>
        <p:txBody>
          <a:bodyPr wrap="square" lIns="0" tIns="0" rIns="0" bIns="0" rtlCol="0" anchor="ctr"/>
          <a:lstStyle/>
          <a:p>
            <a:pPr algn="l" indent="0" marL="0">
              <a:buNone/>
            </a:pPr>
            <a:r>
              <a:rPr lang="en-US" sz="850" dirty="0">
                <a:solidFill>
                  <a:srgbClr val="AFB3BD"/>
                </a:solidFill>
                <a:latin typeface="Consolas" pitchFamily="34" charset="0"/>
                <a:ea typeface="Consolas" pitchFamily="34" charset="-122"/>
                <a:cs typeface="Consolas" pitchFamily="34" charset="-120"/>
              </a:rPr>
              <a:t>controller/src/policy_fetcher.rs  ·  egress_allowlist_compile.rs  ·  inference-router/src/egress_allowlist_loader.rs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§6 · MESH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Agents authenticate each other.</a:t>
            </a:r>
            <a:endParaRPr lang="en-US" sz="4200" dirty="0"/>
          </a:p>
        </p:txBody>
      </p:sp>
      <p:sp>
        <p:nvSpPr>
          <p:cNvPr id="5" name="Text 3"/>
          <p:cNvSpPr/>
          <p:nvPr/>
        </p:nvSpPr>
        <p:spPr>
          <a:xfrm>
            <a:off x="640080" y="228600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inter-agent message rides Signal Protocol:  Ed25519 + X25519 identities, X3DH for session establishment, Double Ratchet for forward-secret message keys. The relay routes opaque bytes and never sees plaintext.</a:t>
            </a:r>
            <a:endParaRPr lang="en-US" sz="1800" dirty="0"/>
          </a:p>
        </p:txBody>
      </p:sp>
      <p:sp>
        <p:nvSpPr>
          <p:cNvPr id="6" name="Shape 4"/>
          <p:cNvSpPr/>
          <p:nvPr/>
        </p:nvSpPr>
        <p:spPr>
          <a:xfrm>
            <a:off x="640080" y="3520440"/>
            <a:ext cx="6035040" cy="3246120"/>
          </a:xfrm>
          <a:prstGeom prst="rect">
            <a:avLst/>
          </a:prstGeom>
          <a:solidFill>
            <a:srgbClr val="F6F8FA"/>
          </a:solidFill>
          <a:ln w="9525">
            <a:solidFill>
              <a:srgbClr val="E1E4E8"/>
            </a:solidFill>
            <a:prstDash val="solid"/>
          </a:ln>
        </p:spPr>
      </p:sp>
      <p:sp>
        <p:nvSpPr>
          <p:cNvPr id="7" name="Text 5"/>
          <p:cNvSpPr/>
          <p:nvPr/>
        </p:nvSpPr>
        <p:spPr>
          <a:xfrm>
            <a:off x="868680" y="3749040"/>
            <a:ext cx="5577840" cy="2788920"/>
          </a:xfrm>
          <a:prstGeom prst="rect">
            <a:avLst/>
          </a:prstGeom>
          <a:noFill/>
          <a:ln/>
        </p:spPr>
        <p:txBody>
          <a:bodyPr wrap="square" lIns="0" tIns="0" rIns="0" bIns="0" rtlCol="0" anchor="t"/>
          <a:lstStyle/>
          <a:p>
            <a:pPr algn="l" indent="0" marL="0">
              <a:buNone/>
            </a:pPr>
            <a:r>
              <a:rPr lang="en-US" sz="1100" dirty="0">
                <a:solidFill>
                  <a:srgbClr val="1A1A1A"/>
                </a:solidFill>
                <a:latin typeface="Consolas" pitchFamily="34" charset="0"/>
                <a:ea typeface="Consolas" pitchFamily="34" charset="-122"/>
                <a:cs typeface="Consolas" pitchFamily="34" charset="-120"/>
              </a:rPr>
              <a:t>{
</a:t>
            </a:r>
            <a:pPr algn="l" indent="0" marL="0">
              <a:buNone/>
            </a:pPr>
            <a:r>
              <a:rPr lang="en-US" sz="1100" dirty="0">
                <a:solidFill>
                  <a:srgbClr val="C53030"/>
                </a:solidFill>
                <a:latin typeface="Consolas" pitchFamily="34" charset="0"/>
                <a:ea typeface="Consolas" pitchFamily="34" charset="-122"/>
                <a:cs typeface="Consolas" pitchFamily="34" charset="-120"/>
              </a:rPr>
              <a:t>  "v": </a:t>
            </a:r>
            <a:pPr algn="l" indent="0" marL="0">
              <a:buNone/>
            </a:pPr>
            <a:r>
              <a:rPr lang="en-US" sz="1100" dirty="0">
                <a:solidFill>
                  <a:srgbClr val="276749"/>
                </a:solidFill>
                <a:latin typeface="Consolas" pitchFamily="34" charset="0"/>
                <a:ea typeface="Consolas" pitchFamily="34" charset="-122"/>
                <a:cs typeface="Consolas" pitchFamily="34" charset="-120"/>
              </a:rPr>
              <a:t>1,
</a:t>
            </a:r>
            <a:pPr algn="l" indent="0" marL="0">
              <a:buNone/>
            </a:pPr>
            <a:r>
              <a:rPr lang="en-US" sz="1100" dirty="0">
                <a:solidFill>
                  <a:srgbClr val="C53030"/>
                </a:solidFill>
                <a:latin typeface="Consolas" pitchFamily="34" charset="0"/>
                <a:ea typeface="Consolas" pitchFamily="34" charset="-122"/>
                <a:cs typeface="Consolas" pitchFamily="34" charset="-120"/>
              </a:rPr>
              <a:t>  "type": </a:t>
            </a:r>
            <a:pPr algn="l" indent="0" marL="0">
              <a:buNone/>
            </a:pPr>
            <a:r>
              <a:rPr lang="en-US" sz="1100" dirty="0">
                <a:solidFill>
                  <a:srgbClr val="276749"/>
                </a:solidFill>
                <a:latin typeface="Consolas" pitchFamily="34" charset="0"/>
                <a:ea typeface="Consolas" pitchFamily="34" charset="-122"/>
                <a:cs typeface="Consolas" pitchFamily="34" charset="-120"/>
              </a:rPr>
              <a:t>"knock",
</a:t>
            </a:r>
            <a:pPr algn="l" indent="0" marL="0">
              <a:buNone/>
            </a:pPr>
            <a:r>
              <a:rPr lang="en-US" sz="1100" dirty="0">
                <a:solidFill>
                  <a:srgbClr val="C53030"/>
                </a:solidFill>
                <a:latin typeface="Consolas" pitchFamily="34" charset="0"/>
                <a:ea typeface="Consolas" pitchFamily="34" charset="-122"/>
                <a:cs typeface="Consolas" pitchFamily="34" charset="-120"/>
              </a:rPr>
              <a:t>  "from": </a:t>
            </a:r>
            <a:pPr algn="l" indent="0" marL="0">
              <a:buNone/>
            </a:pPr>
            <a:r>
              <a:rPr lang="en-US" sz="1100" dirty="0">
                <a:solidFill>
                  <a:srgbClr val="276749"/>
                </a:solidFill>
                <a:latin typeface="Consolas" pitchFamily="34" charset="0"/>
                <a:ea typeface="Consolas" pitchFamily="34" charset="-122"/>
                <a:cs typeface="Consolas" pitchFamily="34" charset="-120"/>
              </a:rPr>
              <a:t>"did:mesh:7f3a…",
</a:t>
            </a:r>
            <a:pPr algn="l" indent="0" marL="0">
              <a:buNone/>
            </a:pPr>
            <a:r>
              <a:rPr lang="en-US" sz="1100" dirty="0">
                <a:solidFill>
                  <a:srgbClr val="C53030"/>
                </a:solidFill>
                <a:latin typeface="Consolas" pitchFamily="34" charset="0"/>
                <a:ea typeface="Consolas" pitchFamily="34" charset="-122"/>
                <a:cs typeface="Consolas" pitchFamily="34" charset="-120"/>
              </a:rPr>
              <a:t>  "to":   </a:t>
            </a:r>
            <a:pPr algn="l" indent="0" marL="0">
              <a:buNone/>
            </a:pPr>
            <a:r>
              <a:rPr lang="en-US" sz="1100" dirty="0">
                <a:solidFill>
                  <a:srgbClr val="276749"/>
                </a:solidFill>
                <a:latin typeface="Consolas" pitchFamily="34" charset="0"/>
                <a:ea typeface="Consolas" pitchFamily="34" charset="-122"/>
                <a:cs typeface="Consolas" pitchFamily="34" charset="-120"/>
              </a:rPr>
              <a:t>"did:mesh:b210…",
</a:t>
            </a:r>
            <a:pPr algn="l" indent="0" marL="0">
              <a:buNone/>
            </a:pPr>
            <a:r>
              <a:rPr lang="en-US" sz="1100" dirty="0">
                <a:solidFill>
                  <a:srgbClr val="C53030"/>
                </a:solidFill>
                <a:latin typeface="Consolas" pitchFamily="34" charset="0"/>
                <a:ea typeface="Consolas" pitchFamily="34" charset="-122"/>
                <a:cs typeface="Consolas" pitchFamily="34" charset="-120"/>
              </a:rPr>
              <a:t>  "id":   </a:t>
            </a:r>
            <a:pPr algn="l" indent="0" marL="0">
              <a:buNone/>
            </a:pPr>
            <a:r>
              <a:rPr lang="en-US" sz="1100" dirty="0">
                <a:solidFill>
                  <a:srgbClr val="276749"/>
                </a:solidFill>
                <a:latin typeface="Consolas" pitchFamily="34" charset="0"/>
                <a:ea typeface="Consolas" pitchFamily="34" charset="-122"/>
                <a:cs typeface="Consolas" pitchFamily="34" charset="-120"/>
              </a:rPr>
              <a:t>"k-9c0d7e",
</a:t>
            </a:r>
            <a:pPr algn="l" indent="0" marL="0">
              <a:buNone/>
            </a:pPr>
            <a:r>
              <a:rPr lang="en-US" sz="1100" dirty="0">
                <a:solidFill>
                  <a:srgbClr val="C53030"/>
                </a:solidFill>
                <a:latin typeface="Consolas" pitchFamily="34" charset="0"/>
                <a:ea typeface="Consolas" pitchFamily="34" charset="-122"/>
                <a:cs typeface="Consolas" pitchFamily="34" charset="-120"/>
              </a:rPr>
              <a:t>  "ts":   </a:t>
            </a:r>
            <a:pPr algn="l" indent="0" marL="0">
              <a:buNone/>
            </a:pPr>
            <a:r>
              <a:rPr lang="en-US" sz="1100" dirty="0">
                <a:solidFill>
                  <a:srgbClr val="276749"/>
                </a:solidFill>
                <a:latin typeface="Consolas" pitchFamily="34" charset="0"/>
                <a:ea typeface="Consolas" pitchFamily="34" charset="-122"/>
                <a:cs typeface="Consolas" pitchFamily="34" charset="-120"/>
              </a:rPr>
              <a:t>"2026-06-08T14:23:11Z",
</a:t>
            </a:r>
            <a:pPr algn="l" indent="0" marL="0">
              <a:buNone/>
            </a:pPr>
            <a:r>
              <a:rPr lang="en-US" sz="1100" dirty="0">
                <a:solidFill>
                  <a:srgbClr val="C53030"/>
                </a:solidFill>
                <a:latin typeface="Consolas" pitchFamily="34" charset="0"/>
                <a:ea typeface="Consolas" pitchFamily="34" charset="-122"/>
                <a:cs typeface="Consolas" pitchFamily="34" charset="-120"/>
              </a:rPr>
              <a:t>  "intent": </a:t>
            </a:r>
            <a:pPr algn="l" indent="0" marL="0">
              <a:buNone/>
            </a:pPr>
            <a:r>
              <a:rPr lang="en-US" sz="1100" dirty="0">
                <a:solidFill>
                  <a:srgbClr val="276749"/>
                </a:solidFill>
                <a:latin typeface="Consolas" pitchFamily="34" charset="0"/>
                <a:ea typeface="Consolas" pitchFamily="34" charset="-122"/>
                <a:cs typeface="Consolas" pitchFamily="34" charset="-120"/>
              </a:rPr>
              <a:t>"tool.invoke",
</a:t>
            </a:r>
            <a:pPr algn="l" indent="0" marL="0">
              <a:buNone/>
            </a:pPr>
            <a:r>
              <a:rPr lang="en-US" sz="1100" dirty="0">
                <a:solidFill>
                  <a:srgbClr val="1A1A1A"/>
                </a:solidFill>
                <a:latin typeface="Consolas" pitchFamily="34" charset="0"/>
                <a:ea typeface="Consolas" pitchFamily="34" charset="-122"/>
                <a:cs typeface="Consolas" pitchFamily="34" charset="-120"/>
              </a:rPr>
              <a:t>  "establishment": {
</a:t>
            </a:r>
            <a:pPr algn="l" indent="0" marL="0">
              <a:buNone/>
            </a:pPr>
            <a:r>
              <a:rPr lang="en-US" sz="1100" dirty="0">
                <a:solidFill>
                  <a:srgbClr val="C53030"/>
                </a:solidFill>
                <a:latin typeface="Consolas" pitchFamily="34" charset="0"/>
                <a:ea typeface="Consolas" pitchFamily="34" charset="-122"/>
                <a:cs typeface="Consolas" pitchFamily="34" charset="-120"/>
              </a:rPr>
              <a:t>    "ik":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X25519 identity key
</a:t>
            </a:r>
            <a:pPr algn="l" indent="0" marL="0">
              <a:buNone/>
            </a:pPr>
            <a:r>
              <a:rPr lang="en-US" sz="1100" dirty="0">
                <a:solidFill>
                  <a:srgbClr val="C53030"/>
                </a:solidFill>
                <a:latin typeface="Consolas" pitchFamily="34" charset="0"/>
                <a:ea typeface="Consolas" pitchFamily="34" charset="-122"/>
                <a:cs typeface="Consolas" pitchFamily="34" charset="-120"/>
              </a:rPr>
              <a:t>    "ek":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ephemeral key
</a:t>
            </a:r>
            <a:pPr algn="l" indent="0" marL="0">
              <a:buNone/>
            </a:pPr>
            <a:r>
              <a:rPr lang="en-US" sz="1100" dirty="0">
                <a:solidFill>
                  <a:srgbClr val="C53030"/>
                </a:solidFill>
                <a:latin typeface="Consolas" pitchFamily="34" charset="0"/>
                <a:ea typeface="Consolas" pitchFamily="34" charset="-122"/>
                <a:cs typeface="Consolas" pitchFamily="34" charset="-120"/>
              </a:rPr>
              <a:t>    "spk_id": </a:t>
            </a:r>
            <a:pPr algn="l" indent="0" marL="0">
              <a:buNone/>
            </a:pPr>
            <a:r>
              <a:rPr lang="en-US" sz="1100" dirty="0">
                <a:solidFill>
                  <a:srgbClr val="276749"/>
                </a:solidFill>
                <a:latin typeface="Consolas" pitchFamily="34" charset="0"/>
                <a:ea typeface="Consolas" pitchFamily="34" charset="-122"/>
                <a:cs typeface="Consolas" pitchFamily="34" charset="-120"/>
              </a:rPr>
              <a:t>42,   </a:t>
            </a:r>
            <a:pPr algn="l" indent="0" marL="0">
              <a:buNone/>
            </a:pPr>
            <a:r>
              <a:rPr lang="en-US" sz="1100" dirty="0">
                <a:solidFill>
                  <a:srgbClr val="6E7681"/>
                </a:solidFill>
                <a:latin typeface="Consolas" pitchFamily="34" charset="0"/>
                <a:ea typeface="Consolas" pitchFamily="34" charset="-122"/>
                <a:cs typeface="Consolas" pitchFamily="34" charset="-120"/>
              </a:rPr>
              <a:t>// signed prekey id
</a:t>
            </a:r>
            <a:pPr algn="l" indent="0" marL="0">
              <a:buNone/>
            </a:pPr>
            <a:r>
              <a:rPr lang="en-US" sz="1100" dirty="0">
                <a:solidFill>
                  <a:srgbClr val="C53030"/>
                </a:solidFill>
                <a:latin typeface="Consolas" pitchFamily="34" charset="0"/>
                <a:ea typeface="Consolas" pitchFamily="34" charset="-122"/>
                <a:cs typeface="Consolas" pitchFamily="34" charset="-120"/>
              </a:rPr>
              <a:t>    "otk_id": </a:t>
            </a:r>
            <a:pPr algn="l" indent="0" marL="0">
              <a:buNone/>
            </a:pPr>
            <a:r>
              <a:rPr lang="en-US" sz="1100" dirty="0">
                <a:solidFill>
                  <a:srgbClr val="276749"/>
                </a:solidFill>
                <a:latin typeface="Consolas" pitchFamily="34" charset="0"/>
                <a:ea typeface="Consolas" pitchFamily="34" charset="-122"/>
                <a:cs typeface="Consolas" pitchFamily="34" charset="-120"/>
              </a:rPr>
              <a:t>117   </a:t>
            </a:r>
            <a:pPr algn="l" indent="0" marL="0">
              <a:buNone/>
            </a:pPr>
            <a:r>
              <a:rPr lang="en-US" sz="1100" dirty="0">
                <a:solidFill>
                  <a:srgbClr val="6E7681"/>
                </a:solidFill>
                <a:latin typeface="Consolas" pitchFamily="34" charset="0"/>
                <a:ea typeface="Consolas" pitchFamily="34" charset="-122"/>
                <a:cs typeface="Consolas" pitchFamily="34" charset="-120"/>
              </a:rPr>
              <a:t>// one-time prekey id
</a:t>
            </a:r>
            <a:pPr algn="l" indent="0" marL="0">
              <a:buNone/>
            </a:pPr>
            <a:r>
              <a:rPr lang="en-US" sz="1100" dirty="0">
                <a:solidFill>
                  <a:srgbClr val="1A1A1A"/>
                </a:solidFill>
                <a:latin typeface="Consolas" pitchFamily="34" charset="0"/>
                <a:ea typeface="Consolas" pitchFamily="34" charset="-122"/>
                <a:cs typeface="Consolas" pitchFamily="34" charset="-120"/>
              </a:rPr>
              <a:t>  }
}
</a:t>
            </a:r>
            <a:endParaRPr lang="en-US" sz="1100" dirty="0"/>
          </a:p>
        </p:txBody>
      </p:sp>
      <p:sp>
        <p:nvSpPr>
          <p:cNvPr id="8" name="Text 6"/>
          <p:cNvSpPr/>
          <p:nvPr/>
        </p:nvSpPr>
        <p:spPr>
          <a:xfrm>
            <a:off x="7406640" y="352044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The KNOCK frame</a:t>
            </a:r>
            <a:endParaRPr lang="en-US" sz="1800" dirty="0"/>
          </a:p>
        </p:txBody>
      </p:sp>
      <p:sp>
        <p:nvSpPr>
          <p:cNvPr id="9" name="Text 7"/>
          <p:cNvSpPr/>
          <p:nvPr/>
        </p:nvSpPr>
        <p:spPr>
          <a:xfrm>
            <a:off x="7406640" y="3977640"/>
            <a:ext cx="4114800" cy="2743200"/>
          </a:xfrm>
          <a:prstGeom prst="rect">
            <a:avLst/>
          </a:prstGeom>
          <a:noFill/>
          <a:ln/>
        </p:spPr>
        <p:txBody>
          <a:bodyPr wrap="square" lIns="0" tIns="0" rIns="0" bIns="0" rtlCol="0" anchor="ctr"/>
          <a:lstStyle/>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Carries the initiator's X3DH establishment.  Receiver's policy hook gates accept BEFORE the session opens.</a:t>
            </a:r>
            <a:endParaRPr lang="en-US" sz="1300" dirty="0"/>
          </a:p>
          <a:p>
            <a:pPr indent="0" marL="0">
              <a:spcAft>
                <a:spcPts val="600"/>
              </a:spcAft>
              <a:buNone/>
            </a:pPr>
            <a:r>
              <a:rPr lang="en-US" sz="600" dirty="0">
                <a:solidFill>
                  <a:srgbClr val="1A1A1A"/>
                </a:solidFill>
                <a:latin typeface="Helvetica" pitchFamily="34" charset="0"/>
                <a:ea typeface="Helvetica" pitchFamily="34" charset="-122"/>
                <a:cs typeface="Helvetica" pitchFamily="34" charset="-120"/>
              </a:rPr>
              <a:t> </a:t>
            </a:r>
            <a:endParaRPr lang="en-US" sz="1300" dirty="0"/>
          </a:p>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Once accepted, all subsequent frames use Double Ratchet keys.  Compromising one frame's key does not compromise past frames.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§7 · GOVERNANCE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2600" b="1" dirty="0">
                <a:solidFill>
                  <a:srgbClr val="1A1A1A"/>
                </a:solidFill>
                <a:latin typeface="Helvetica" pitchFamily="34" charset="0"/>
                <a:ea typeface="Helvetica" pitchFamily="34" charset="-122"/>
                <a:cs typeface="Helvetica" pitchFamily="34" charset="-120"/>
              </a:rPr>
              <a:t>Four layers.  Each enforced once, by one component.</a:t>
            </a:r>
            <a:endParaRPr lang="en-US" sz="2600" dirty="0"/>
          </a:p>
        </p:txBody>
      </p:sp>
      <p:sp>
        <p:nvSpPr>
          <p:cNvPr id="5" name="Text 3"/>
          <p:cNvSpPr/>
          <p:nvPr/>
        </p:nvSpPr>
        <p:spPr>
          <a:xfrm>
            <a:off x="640080" y="219456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Defence-in-depth — but each layer is owned by exactly one component, so failures have a single name.  No double-checking, no contradictory decisions.</a:t>
            </a:r>
            <a:endParaRPr lang="en-US" sz="1800" dirty="0"/>
          </a:p>
        </p:txBody>
      </p:sp>
      <p:sp>
        <p:nvSpPr>
          <p:cNvPr id="6" name="Text 4"/>
          <p:cNvSpPr/>
          <p:nvPr/>
        </p:nvSpPr>
        <p:spPr>
          <a:xfrm>
            <a:off x="640080" y="338328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143000" y="338328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Provider</a:t>
            </a:r>
            <a:endParaRPr lang="en-US" sz="1600" dirty="0"/>
          </a:p>
        </p:txBody>
      </p:sp>
      <p:sp>
        <p:nvSpPr>
          <p:cNvPr id="8" name="Text 6"/>
          <p:cNvSpPr/>
          <p:nvPr/>
        </p:nvSpPr>
        <p:spPr>
          <a:xfrm>
            <a:off x="2743200" y="338328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Azure OpenAI · Anthropic · OpenAI · Bedrock — RBAC + region + tenant</a:t>
            </a:r>
            <a:endParaRPr lang="en-US" sz="1300" dirty="0"/>
          </a:p>
        </p:txBody>
      </p:sp>
      <p:sp>
        <p:nvSpPr>
          <p:cNvPr id="9" name="Text 7"/>
          <p:cNvSpPr/>
          <p:nvPr/>
        </p:nvSpPr>
        <p:spPr>
          <a:xfrm>
            <a:off x="2743200" y="370332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external</a:t>
            </a:r>
            <a:endParaRPr lang="en-US" sz="1000" dirty="0"/>
          </a:p>
        </p:txBody>
      </p:sp>
      <p:sp>
        <p:nvSpPr>
          <p:cNvPr id="10" name="Shape 8"/>
          <p:cNvSpPr/>
          <p:nvPr/>
        </p:nvSpPr>
        <p:spPr>
          <a:xfrm>
            <a:off x="640080" y="4114800"/>
            <a:ext cx="10881360" cy="0"/>
          </a:xfrm>
          <a:prstGeom prst="line">
            <a:avLst/>
          </a:prstGeom>
          <a:noFill/>
          <a:ln w="6350">
            <a:solidFill>
              <a:srgbClr val="E1E4E8"/>
            </a:solidFill>
            <a:prstDash val="solid"/>
          </a:ln>
        </p:spPr>
      </p:sp>
      <p:sp>
        <p:nvSpPr>
          <p:cNvPr id="11" name="Text 9"/>
          <p:cNvSpPr/>
          <p:nvPr/>
        </p:nvSpPr>
        <p:spPr>
          <a:xfrm>
            <a:off x="640080" y="416052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2</a:t>
            </a:r>
            <a:endParaRPr lang="en-US" sz="1800" dirty="0"/>
          </a:p>
        </p:txBody>
      </p:sp>
      <p:sp>
        <p:nvSpPr>
          <p:cNvPr id="12" name="Text 10"/>
          <p:cNvSpPr/>
          <p:nvPr/>
        </p:nvSpPr>
        <p:spPr>
          <a:xfrm>
            <a:off x="1143000" y="416052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Router</a:t>
            </a:r>
            <a:endParaRPr lang="en-US" sz="1600" dirty="0"/>
          </a:p>
        </p:txBody>
      </p:sp>
      <p:sp>
        <p:nvSpPr>
          <p:cNvPr id="13" name="Text 11"/>
          <p:cNvSpPr/>
          <p:nvPr/>
        </p:nvSpPr>
        <p:spPr>
          <a:xfrm>
            <a:off x="2743200" y="416052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InferencePolicy · ToolPolicy · EgressApproval · Content Safety</a:t>
            </a:r>
            <a:endParaRPr lang="en-US" sz="1300" dirty="0"/>
          </a:p>
        </p:txBody>
      </p:sp>
      <p:sp>
        <p:nvSpPr>
          <p:cNvPr id="14" name="Text 12"/>
          <p:cNvSpPr/>
          <p:nvPr/>
        </p:nvSpPr>
        <p:spPr>
          <a:xfrm>
            <a:off x="2743200" y="448056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inference-router/src/failover.rs:51-95</a:t>
            </a:r>
            <a:endParaRPr lang="en-US" sz="1000" dirty="0"/>
          </a:p>
        </p:txBody>
      </p:sp>
      <p:sp>
        <p:nvSpPr>
          <p:cNvPr id="15" name="Shape 13"/>
          <p:cNvSpPr/>
          <p:nvPr/>
        </p:nvSpPr>
        <p:spPr>
          <a:xfrm>
            <a:off x="640080" y="4892040"/>
            <a:ext cx="10881360" cy="0"/>
          </a:xfrm>
          <a:prstGeom prst="line">
            <a:avLst/>
          </a:prstGeom>
          <a:noFill/>
          <a:ln w="6350">
            <a:solidFill>
              <a:srgbClr val="E1E4E8"/>
            </a:solidFill>
            <a:prstDash val="solid"/>
          </a:ln>
        </p:spPr>
      </p:sp>
      <p:sp>
        <p:nvSpPr>
          <p:cNvPr id="16" name="Text 14"/>
          <p:cNvSpPr/>
          <p:nvPr/>
        </p:nvSpPr>
        <p:spPr>
          <a:xfrm>
            <a:off x="640080" y="493776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3</a:t>
            </a:r>
            <a:endParaRPr lang="en-US" sz="1800" dirty="0"/>
          </a:p>
        </p:txBody>
      </p:sp>
      <p:sp>
        <p:nvSpPr>
          <p:cNvPr id="17" name="Text 15"/>
          <p:cNvSpPr/>
          <p:nvPr/>
        </p:nvSpPr>
        <p:spPr>
          <a:xfrm>
            <a:off x="1143000" y="493776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Pod</a:t>
            </a:r>
            <a:endParaRPr lang="en-US" sz="1600" dirty="0"/>
          </a:p>
        </p:txBody>
      </p:sp>
      <p:sp>
        <p:nvSpPr>
          <p:cNvPr id="18" name="Text 16"/>
          <p:cNvSpPr/>
          <p:nvPr/>
        </p:nvSpPr>
        <p:spPr>
          <a:xfrm>
            <a:off x="2743200" y="493776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kars-strict seccomp · drop ALL caps · readOnlyRootFilesystem</a:t>
            </a:r>
            <a:endParaRPr lang="en-US" sz="1300" dirty="0"/>
          </a:p>
        </p:txBody>
      </p:sp>
      <p:sp>
        <p:nvSpPr>
          <p:cNvPr id="19" name="Text 17"/>
          <p:cNvSpPr/>
          <p:nvPr/>
        </p:nvSpPr>
        <p:spPr>
          <a:xfrm>
            <a:off x="2743200" y="525780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deploy/helm/kars/files/kars-strict.json</a:t>
            </a:r>
            <a:endParaRPr lang="en-US" sz="1000" dirty="0"/>
          </a:p>
        </p:txBody>
      </p:sp>
      <p:sp>
        <p:nvSpPr>
          <p:cNvPr id="20" name="Shape 18"/>
          <p:cNvSpPr/>
          <p:nvPr/>
        </p:nvSpPr>
        <p:spPr>
          <a:xfrm>
            <a:off x="640080" y="5669280"/>
            <a:ext cx="10881360" cy="0"/>
          </a:xfrm>
          <a:prstGeom prst="line">
            <a:avLst/>
          </a:prstGeom>
          <a:noFill/>
          <a:ln w="6350">
            <a:solidFill>
              <a:srgbClr val="E1E4E8"/>
            </a:solidFill>
            <a:prstDash val="solid"/>
          </a:ln>
        </p:spPr>
      </p:sp>
      <p:sp>
        <p:nvSpPr>
          <p:cNvPr id="21" name="Text 19"/>
          <p:cNvSpPr/>
          <p:nvPr/>
        </p:nvSpPr>
        <p:spPr>
          <a:xfrm>
            <a:off x="640080" y="571500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4</a:t>
            </a:r>
            <a:endParaRPr lang="en-US" sz="1800" dirty="0"/>
          </a:p>
        </p:txBody>
      </p:sp>
      <p:sp>
        <p:nvSpPr>
          <p:cNvPr id="22" name="Text 20"/>
          <p:cNvSpPr/>
          <p:nvPr/>
        </p:nvSpPr>
        <p:spPr>
          <a:xfrm>
            <a:off x="1143000" y="571500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Cluster</a:t>
            </a:r>
            <a:endParaRPr lang="en-US" sz="1600" dirty="0"/>
          </a:p>
        </p:txBody>
      </p:sp>
      <p:sp>
        <p:nvSpPr>
          <p:cNvPr id="23" name="Text 21"/>
          <p:cNvSpPr/>
          <p:nvPr/>
        </p:nvSpPr>
        <p:spPr>
          <a:xfrm>
            <a:off x="2743200" y="571500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default-deny NetworkPolicy · admission policies · pairing tokens</a:t>
            </a:r>
            <a:endParaRPr lang="en-US" sz="1300" dirty="0"/>
          </a:p>
        </p:txBody>
      </p:sp>
      <p:sp>
        <p:nvSpPr>
          <p:cNvPr id="24" name="Text 22"/>
          <p:cNvSpPr/>
          <p:nvPr/>
        </p:nvSpPr>
        <p:spPr>
          <a:xfrm>
            <a:off x="2743200" y="603504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controller/src/reconciler/mod.rs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 · PATTERNS · BLUEPRINTS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Six shapes you can stamp.</a:t>
            </a:r>
            <a:endParaRPr lang="en-US" sz="3800" dirty="0"/>
          </a:p>
        </p:txBody>
      </p:sp>
      <p:sp>
        <p:nvSpPr>
          <p:cNvPr id="5" name="Text 3"/>
          <p:cNvSpPr/>
          <p:nvPr/>
        </p:nvSpPr>
        <p:spPr>
          <a:xfrm>
            <a:off x="640080" y="2286000"/>
            <a:ext cx="10881360" cy="9144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Each blueprint is a documented composition — CRD set + helm overlay + runbook — for a concrete operational pattern.  Pick one, adapt, ship.</a:t>
            </a:r>
            <a:endParaRPr lang="en-US" sz="1800" dirty="0"/>
          </a:p>
        </p:txBody>
      </p:sp>
      <p:sp>
        <p:nvSpPr>
          <p:cNvPr id="6" name="Shape 4"/>
          <p:cNvSpPr/>
          <p:nvPr/>
        </p:nvSpPr>
        <p:spPr>
          <a:xfrm>
            <a:off x="411480" y="3657600"/>
            <a:ext cx="3657600" cy="1280160"/>
          </a:xfrm>
          <a:prstGeom prst="rect">
            <a:avLst/>
          </a:prstGeom>
          <a:solidFill>
            <a:srgbClr val="FFFFFF"/>
          </a:solidFill>
          <a:ln w="12700">
            <a:solidFill>
              <a:srgbClr val="028090"/>
            </a:solidFill>
            <a:prstDash val="solid"/>
          </a:ln>
        </p:spPr>
      </p:sp>
      <p:sp>
        <p:nvSpPr>
          <p:cNvPr id="7" name="Text 5"/>
          <p:cNvSpPr/>
          <p:nvPr/>
        </p:nvSpPr>
        <p:spPr>
          <a:xfrm>
            <a:off x="59436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01</a:t>
            </a:r>
            <a:endParaRPr lang="en-US" sz="1600" dirty="0"/>
          </a:p>
        </p:txBody>
      </p:sp>
      <p:sp>
        <p:nvSpPr>
          <p:cNvPr id="8" name="Text 6"/>
          <p:cNvSpPr/>
          <p:nvPr/>
        </p:nvSpPr>
        <p:spPr>
          <a:xfrm>
            <a:off x="118872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Governed Sandbox</a:t>
            </a:r>
            <a:endParaRPr lang="en-US" sz="1400" dirty="0"/>
          </a:p>
        </p:txBody>
      </p:sp>
      <p:sp>
        <p:nvSpPr>
          <p:cNvPr id="9" name="Text 7"/>
          <p:cNvSpPr/>
          <p:nvPr/>
        </p:nvSpPr>
        <p:spPr>
          <a:xfrm>
            <a:off x="59436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single agent · default-deny egress · audit</a:t>
            </a:r>
            <a:endParaRPr lang="en-US" sz="1100" dirty="0"/>
          </a:p>
        </p:txBody>
      </p:sp>
      <p:sp>
        <p:nvSpPr>
          <p:cNvPr id="10" name="Text 8"/>
          <p:cNvSpPr/>
          <p:nvPr/>
        </p:nvSpPr>
        <p:spPr>
          <a:xfrm>
            <a:off x="59436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docs/blueprints/01</a:t>
            </a:r>
            <a:endParaRPr lang="en-US" sz="900" dirty="0"/>
          </a:p>
        </p:txBody>
      </p:sp>
      <p:sp>
        <p:nvSpPr>
          <p:cNvPr id="11" name="Shape 9"/>
          <p:cNvSpPr/>
          <p:nvPr/>
        </p:nvSpPr>
        <p:spPr>
          <a:xfrm>
            <a:off x="4251960" y="3657600"/>
            <a:ext cx="3657600" cy="1280160"/>
          </a:xfrm>
          <a:prstGeom prst="rect">
            <a:avLst/>
          </a:prstGeom>
          <a:solidFill>
            <a:srgbClr val="FFFFFF"/>
          </a:solidFill>
          <a:ln w="12700">
            <a:solidFill>
              <a:srgbClr val="028090"/>
            </a:solidFill>
            <a:prstDash val="solid"/>
          </a:ln>
        </p:spPr>
      </p:sp>
      <p:sp>
        <p:nvSpPr>
          <p:cNvPr id="12" name="Text 10"/>
          <p:cNvSpPr/>
          <p:nvPr/>
        </p:nvSpPr>
        <p:spPr>
          <a:xfrm>
            <a:off x="443484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02</a:t>
            </a:r>
            <a:endParaRPr lang="en-US" sz="1600" dirty="0"/>
          </a:p>
        </p:txBody>
      </p:sp>
      <p:sp>
        <p:nvSpPr>
          <p:cNvPr id="13" name="Text 11"/>
          <p:cNvSpPr/>
          <p:nvPr/>
        </p:nvSpPr>
        <p:spPr>
          <a:xfrm>
            <a:off x="502920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Multi-Runtime Mesh</a:t>
            </a:r>
            <a:endParaRPr lang="en-US" sz="1400" dirty="0"/>
          </a:p>
        </p:txBody>
      </p:sp>
      <p:sp>
        <p:nvSpPr>
          <p:cNvPr id="14" name="Text 12"/>
          <p:cNvSpPr/>
          <p:nvPr/>
        </p:nvSpPr>
        <p:spPr>
          <a:xfrm>
            <a:off x="443484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OpenClaw + Hermes + Anthropic sharing one mesh</a:t>
            </a:r>
            <a:endParaRPr lang="en-US" sz="1100" dirty="0"/>
          </a:p>
        </p:txBody>
      </p:sp>
      <p:sp>
        <p:nvSpPr>
          <p:cNvPr id="15" name="Text 13"/>
          <p:cNvSpPr/>
          <p:nvPr/>
        </p:nvSpPr>
        <p:spPr>
          <a:xfrm>
            <a:off x="443484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docs/blueprints/02</a:t>
            </a:r>
            <a:endParaRPr lang="en-US" sz="900" dirty="0"/>
          </a:p>
        </p:txBody>
      </p:sp>
      <p:sp>
        <p:nvSpPr>
          <p:cNvPr id="16" name="Shape 14"/>
          <p:cNvSpPr/>
          <p:nvPr/>
        </p:nvSpPr>
        <p:spPr>
          <a:xfrm>
            <a:off x="8092440" y="3657600"/>
            <a:ext cx="3657600" cy="1280160"/>
          </a:xfrm>
          <a:prstGeom prst="rect">
            <a:avLst/>
          </a:prstGeom>
          <a:solidFill>
            <a:srgbClr val="FFFFFF"/>
          </a:solidFill>
          <a:ln w="12700">
            <a:solidFill>
              <a:srgbClr val="028090"/>
            </a:solidFill>
            <a:prstDash val="solid"/>
          </a:ln>
        </p:spPr>
      </p:sp>
      <p:sp>
        <p:nvSpPr>
          <p:cNvPr id="17" name="Text 15"/>
          <p:cNvSpPr/>
          <p:nvPr/>
        </p:nvSpPr>
        <p:spPr>
          <a:xfrm>
            <a:off x="827532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03</a:t>
            </a:r>
            <a:endParaRPr lang="en-US" sz="1600" dirty="0"/>
          </a:p>
        </p:txBody>
      </p:sp>
      <p:sp>
        <p:nvSpPr>
          <p:cNvPr id="18" name="Text 16"/>
          <p:cNvSpPr/>
          <p:nvPr/>
        </p:nvSpPr>
        <p:spPr>
          <a:xfrm>
            <a:off x="886968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A2A Bridge</a:t>
            </a:r>
            <a:endParaRPr lang="en-US" sz="1400" dirty="0"/>
          </a:p>
        </p:txBody>
      </p:sp>
      <p:sp>
        <p:nvSpPr>
          <p:cNvPr id="19" name="Text 17"/>
          <p:cNvSpPr/>
          <p:nvPr/>
        </p:nvSpPr>
        <p:spPr>
          <a:xfrm>
            <a:off x="827532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cross-cluster federation · mTLS + signed Agent Card</a:t>
            </a:r>
            <a:endParaRPr lang="en-US" sz="1100" dirty="0"/>
          </a:p>
        </p:txBody>
      </p:sp>
      <p:sp>
        <p:nvSpPr>
          <p:cNvPr id="20" name="Text 18"/>
          <p:cNvSpPr/>
          <p:nvPr/>
        </p:nvSpPr>
        <p:spPr>
          <a:xfrm>
            <a:off x="827532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docs/blueprints/03</a:t>
            </a:r>
            <a:endParaRPr lang="en-US" sz="900" dirty="0"/>
          </a:p>
        </p:txBody>
      </p:sp>
      <p:sp>
        <p:nvSpPr>
          <p:cNvPr id="21" name="Shape 19"/>
          <p:cNvSpPr/>
          <p:nvPr/>
        </p:nvSpPr>
        <p:spPr>
          <a:xfrm>
            <a:off x="411480" y="5120640"/>
            <a:ext cx="3657600" cy="1280160"/>
          </a:xfrm>
          <a:prstGeom prst="rect">
            <a:avLst/>
          </a:prstGeom>
          <a:solidFill>
            <a:srgbClr val="FFFFFF"/>
          </a:solidFill>
          <a:ln w="12700">
            <a:solidFill>
              <a:srgbClr val="028090"/>
            </a:solidFill>
            <a:prstDash val="solid"/>
          </a:ln>
        </p:spPr>
      </p:sp>
      <p:sp>
        <p:nvSpPr>
          <p:cNvPr id="22" name="Text 20"/>
          <p:cNvSpPr/>
          <p:nvPr/>
        </p:nvSpPr>
        <p:spPr>
          <a:xfrm>
            <a:off x="59436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04</a:t>
            </a:r>
            <a:endParaRPr lang="en-US" sz="1600" dirty="0"/>
          </a:p>
        </p:txBody>
      </p:sp>
      <p:sp>
        <p:nvSpPr>
          <p:cNvPr id="23" name="Text 21"/>
          <p:cNvSpPr/>
          <p:nvPr/>
        </p:nvSpPr>
        <p:spPr>
          <a:xfrm>
            <a:off x="118872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Private Model + ACL</a:t>
            </a:r>
            <a:endParaRPr lang="en-US" sz="1400" dirty="0"/>
          </a:p>
        </p:txBody>
      </p:sp>
      <p:sp>
        <p:nvSpPr>
          <p:cNvPr id="24" name="Text 22"/>
          <p:cNvSpPr/>
          <p:nvPr/>
        </p:nvSpPr>
        <p:spPr>
          <a:xfrm>
            <a:off x="59436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BYO inference endpoint · signed allowlist</a:t>
            </a:r>
            <a:endParaRPr lang="en-US" sz="1100" dirty="0"/>
          </a:p>
        </p:txBody>
      </p:sp>
      <p:sp>
        <p:nvSpPr>
          <p:cNvPr id="25" name="Text 23"/>
          <p:cNvSpPr/>
          <p:nvPr/>
        </p:nvSpPr>
        <p:spPr>
          <a:xfrm>
            <a:off x="59436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docs/blueprints/04</a:t>
            </a:r>
            <a:endParaRPr lang="en-US" sz="900" dirty="0"/>
          </a:p>
        </p:txBody>
      </p:sp>
      <p:sp>
        <p:nvSpPr>
          <p:cNvPr id="26" name="Shape 24"/>
          <p:cNvSpPr/>
          <p:nvPr/>
        </p:nvSpPr>
        <p:spPr>
          <a:xfrm>
            <a:off x="4251960" y="5120640"/>
            <a:ext cx="3657600" cy="1280160"/>
          </a:xfrm>
          <a:prstGeom prst="rect">
            <a:avLst/>
          </a:prstGeom>
          <a:solidFill>
            <a:srgbClr val="FFFFFF"/>
          </a:solidFill>
          <a:ln w="12700">
            <a:solidFill>
              <a:srgbClr val="028090"/>
            </a:solidFill>
            <a:prstDash val="solid"/>
          </a:ln>
        </p:spPr>
      </p:sp>
      <p:sp>
        <p:nvSpPr>
          <p:cNvPr id="27" name="Text 25"/>
          <p:cNvSpPr/>
          <p:nvPr/>
        </p:nvSpPr>
        <p:spPr>
          <a:xfrm>
            <a:off x="443484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05</a:t>
            </a:r>
            <a:endParaRPr lang="en-US" sz="1600" dirty="0"/>
          </a:p>
        </p:txBody>
      </p:sp>
      <p:sp>
        <p:nvSpPr>
          <p:cNvPr id="28" name="Text 26"/>
          <p:cNvSpPr/>
          <p:nvPr/>
        </p:nvSpPr>
        <p:spPr>
          <a:xfrm>
            <a:off x="502920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Approval Channels</a:t>
            </a:r>
            <a:endParaRPr lang="en-US" sz="1400" dirty="0"/>
          </a:p>
        </p:txBody>
      </p:sp>
      <p:sp>
        <p:nvSpPr>
          <p:cNvPr id="29" name="Text 27"/>
          <p:cNvSpPr/>
          <p:nvPr/>
        </p:nvSpPr>
        <p:spPr>
          <a:xfrm>
            <a:off x="443484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Telegram / Slack / Discord per-tool gates</a:t>
            </a:r>
            <a:endParaRPr lang="en-US" sz="1100" dirty="0"/>
          </a:p>
        </p:txBody>
      </p:sp>
      <p:sp>
        <p:nvSpPr>
          <p:cNvPr id="30" name="Text 28"/>
          <p:cNvSpPr/>
          <p:nvPr/>
        </p:nvSpPr>
        <p:spPr>
          <a:xfrm>
            <a:off x="443484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docs/blueprints/05</a:t>
            </a:r>
            <a:endParaRPr lang="en-US" sz="900" dirty="0"/>
          </a:p>
        </p:txBody>
      </p:sp>
      <p:sp>
        <p:nvSpPr>
          <p:cNvPr id="31" name="Shape 29"/>
          <p:cNvSpPr/>
          <p:nvPr/>
        </p:nvSpPr>
        <p:spPr>
          <a:xfrm>
            <a:off x="8092440" y="5120640"/>
            <a:ext cx="3657600" cy="1280160"/>
          </a:xfrm>
          <a:prstGeom prst="rect">
            <a:avLst/>
          </a:prstGeom>
          <a:solidFill>
            <a:srgbClr val="FFFFFF"/>
          </a:solidFill>
          <a:ln w="12700">
            <a:solidFill>
              <a:srgbClr val="028090"/>
            </a:solidFill>
            <a:prstDash val="solid"/>
          </a:ln>
        </p:spPr>
      </p:sp>
      <p:sp>
        <p:nvSpPr>
          <p:cNvPr id="32" name="Text 30"/>
          <p:cNvSpPr/>
          <p:nvPr/>
        </p:nvSpPr>
        <p:spPr>
          <a:xfrm>
            <a:off x="827532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06</a:t>
            </a:r>
            <a:endParaRPr lang="en-US" sz="1600" dirty="0"/>
          </a:p>
        </p:txBody>
      </p:sp>
      <p:sp>
        <p:nvSpPr>
          <p:cNvPr id="33" name="Text 31"/>
          <p:cNvSpPr/>
          <p:nvPr/>
        </p:nvSpPr>
        <p:spPr>
          <a:xfrm>
            <a:off x="886968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Sovereign / Air-gap</a:t>
            </a:r>
            <a:endParaRPr lang="en-US" sz="1400" dirty="0"/>
          </a:p>
        </p:txBody>
      </p:sp>
      <p:sp>
        <p:nvSpPr>
          <p:cNvPr id="34" name="Text 32"/>
          <p:cNvSpPr/>
          <p:nvPr/>
        </p:nvSpPr>
        <p:spPr>
          <a:xfrm>
            <a:off x="827532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Kata + SEV-SNP · attestation-gated · zero-egress</a:t>
            </a:r>
            <a:endParaRPr lang="en-US" sz="1100" dirty="0"/>
          </a:p>
        </p:txBody>
      </p:sp>
      <p:sp>
        <p:nvSpPr>
          <p:cNvPr id="35" name="Text 33"/>
          <p:cNvSpPr/>
          <p:nvPr/>
        </p:nvSpPr>
        <p:spPr>
          <a:xfrm>
            <a:off x="827532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§8.1 · PATTERNS · RUNTIMES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Eight wired.  Bring your own for the ninth.</a:t>
            </a:r>
            <a:endParaRPr lang="en-US" sz="3200" dirty="0"/>
          </a:p>
        </p:txBody>
      </p:sp>
      <p:sp>
        <p:nvSpPr>
          <p:cNvPr id="5" name="Text 3"/>
          <p:cNvSpPr/>
          <p:nvPr/>
        </p:nvSpPr>
        <p:spPr>
          <a:xfrm>
            <a:off x="640080" y="224028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WIRED_KINDS in cli/src/runtime.ts is the single source of truth.  Adding a new runtime: new image, new entrypoint, new controller branch, new CRD variant — call it a few days, not a few weeks.</a:t>
            </a:r>
            <a:endParaRPr lang="en-US" sz="1800" dirty="0"/>
          </a:p>
        </p:txBody>
      </p:sp>
      <p:sp>
        <p:nvSpPr>
          <p:cNvPr id="6" name="Shape 4"/>
          <p:cNvSpPr/>
          <p:nvPr/>
        </p:nvSpPr>
        <p:spPr>
          <a:xfrm>
            <a:off x="571500" y="3657600"/>
            <a:ext cx="2651760" cy="914400"/>
          </a:xfrm>
          <a:prstGeom prst="rect">
            <a:avLst/>
          </a:prstGeom>
          <a:solidFill>
            <a:srgbClr val="FFFFFF"/>
          </a:solidFill>
          <a:ln w="12700">
            <a:solidFill>
              <a:srgbClr val="028090"/>
            </a:solidFill>
            <a:prstDash val="solid"/>
          </a:ln>
        </p:spPr>
      </p:sp>
      <p:sp>
        <p:nvSpPr>
          <p:cNvPr id="7" name="Text 5"/>
          <p:cNvSpPr/>
          <p:nvPr/>
        </p:nvSpPr>
        <p:spPr>
          <a:xfrm>
            <a:off x="75438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OpenClaw</a:t>
            </a:r>
            <a:endParaRPr lang="en-US" sz="1500" dirty="0"/>
          </a:p>
        </p:txBody>
      </p:sp>
      <p:sp>
        <p:nvSpPr>
          <p:cNvPr id="8" name="Text 6"/>
          <p:cNvSpPr/>
          <p:nvPr/>
        </p:nvSpPr>
        <p:spPr>
          <a:xfrm>
            <a:off x="75438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24 plugin tools · channels</a:t>
            </a:r>
            <a:endParaRPr lang="en-US" sz="1100" dirty="0"/>
          </a:p>
        </p:txBody>
      </p:sp>
      <p:sp>
        <p:nvSpPr>
          <p:cNvPr id="9" name="Shape 7"/>
          <p:cNvSpPr/>
          <p:nvPr/>
        </p:nvSpPr>
        <p:spPr>
          <a:xfrm>
            <a:off x="3360420" y="3657600"/>
            <a:ext cx="2651760" cy="914400"/>
          </a:xfrm>
          <a:prstGeom prst="rect">
            <a:avLst/>
          </a:prstGeom>
          <a:solidFill>
            <a:srgbClr val="FFFFFF"/>
          </a:solidFill>
          <a:ln w="12700">
            <a:solidFill>
              <a:srgbClr val="028090"/>
            </a:solidFill>
            <a:prstDash val="solid"/>
          </a:ln>
        </p:spPr>
      </p:sp>
      <p:sp>
        <p:nvSpPr>
          <p:cNvPr id="10" name="Text 8"/>
          <p:cNvSpPr/>
          <p:nvPr/>
        </p:nvSpPr>
        <p:spPr>
          <a:xfrm>
            <a:off x="354330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Hermes</a:t>
            </a:r>
            <a:endParaRPr lang="en-US" sz="1500" dirty="0"/>
          </a:p>
        </p:txBody>
      </p:sp>
      <p:sp>
        <p:nvSpPr>
          <p:cNvPr id="11" name="Text 9"/>
          <p:cNvSpPr/>
          <p:nvPr/>
        </p:nvSpPr>
        <p:spPr>
          <a:xfrm>
            <a:off x="354330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3.11+ · 15 plugin tools · 20+ Hermes channels</a:t>
            </a:r>
            <a:endParaRPr lang="en-US" sz="1100" dirty="0"/>
          </a:p>
        </p:txBody>
      </p:sp>
      <p:sp>
        <p:nvSpPr>
          <p:cNvPr id="12" name="Shape 10"/>
          <p:cNvSpPr/>
          <p:nvPr/>
        </p:nvSpPr>
        <p:spPr>
          <a:xfrm>
            <a:off x="6149340" y="3657600"/>
            <a:ext cx="2651760" cy="914400"/>
          </a:xfrm>
          <a:prstGeom prst="rect">
            <a:avLst/>
          </a:prstGeom>
          <a:solidFill>
            <a:srgbClr val="FFFFFF"/>
          </a:solidFill>
          <a:ln w="12700">
            <a:solidFill>
              <a:srgbClr val="028090"/>
            </a:solidFill>
            <a:prstDash val="solid"/>
          </a:ln>
        </p:spPr>
      </p:sp>
      <p:sp>
        <p:nvSpPr>
          <p:cNvPr id="13" name="Text 11"/>
          <p:cNvSpPr/>
          <p:nvPr/>
        </p:nvSpPr>
        <p:spPr>
          <a:xfrm>
            <a:off x="633222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Anthropic</a:t>
            </a:r>
            <a:endParaRPr lang="en-US" sz="1500" dirty="0"/>
          </a:p>
        </p:txBody>
      </p:sp>
      <p:sp>
        <p:nvSpPr>
          <p:cNvPr id="14" name="Text 12"/>
          <p:cNvSpPr/>
          <p:nvPr/>
        </p:nvSpPr>
        <p:spPr>
          <a:xfrm>
            <a:off x="633222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Claude SDK · Python · base_url loopback</a:t>
            </a:r>
            <a:endParaRPr lang="en-US" sz="1100" dirty="0"/>
          </a:p>
        </p:txBody>
      </p:sp>
      <p:sp>
        <p:nvSpPr>
          <p:cNvPr id="15" name="Shape 13"/>
          <p:cNvSpPr/>
          <p:nvPr/>
        </p:nvSpPr>
        <p:spPr>
          <a:xfrm>
            <a:off x="8938260" y="3657600"/>
            <a:ext cx="2651760" cy="914400"/>
          </a:xfrm>
          <a:prstGeom prst="rect">
            <a:avLst/>
          </a:prstGeom>
          <a:solidFill>
            <a:srgbClr val="FFFFFF"/>
          </a:solidFill>
          <a:ln w="12700">
            <a:solidFill>
              <a:srgbClr val="028090"/>
            </a:solidFill>
            <a:prstDash val="solid"/>
          </a:ln>
        </p:spPr>
      </p:sp>
      <p:sp>
        <p:nvSpPr>
          <p:cNvPr id="16" name="Text 14"/>
          <p:cNvSpPr/>
          <p:nvPr/>
        </p:nvSpPr>
        <p:spPr>
          <a:xfrm>
            <a:off x="912114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MAF</a:t>
            </a:r>
            <a:endParaRPr lang="en-US" sz="1500" dirty="0"/>
          </a:p>
        </p:txBody>
      </p:sp>
      <p:sp>
        <p:nvSpPr>
          <p:cNvPr id="17" name="Text 15"/>
          <p:cNvSpPr/>
          <p:nvPr/>
        </p:nvSpPr>
        <p:spPr>
          <a:xfrm>
            <a:off x="912114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Microsoft Agent Framework · Python wired today</a:t>
            </a:r>
            <a:endParaRPr lang="en-US" sz="1100" dirty="0"/>
          </a:p>
        </p:txBody>
      </p:sp>
      <p:sp>
        <p:nvSpPr>
          <p:cNvPr id="18" name="Shape 16"/>
          <p:cNvSpPr/>
          <p:nvPr/>
        </p:nvSpPr>
        <p:spPr>
          <a:xfrm>
            <a:off x="571500" y="4709160"/>
            <a:ext cx="2651760" cy="914400"/>
          </a:xfrm>
          <a:prstGeom prst="rect">
            <a:avLst/>
          </a:prstGeom>
          <a:solidFill>
            <a:srgbClr val="FFFFFF"/>
          </a:solidFill>
          <a:ln w="12700">
            <a:solidFill>
              <a:srgbClr val="028090"/>
            </a:solidFill>
            <a:prstDash val="solid"/>
          </a:ln>
        </p:spPr>
      </p:sp>
      <p:sp>
        <p:nvSpPr>
          <p:cNvPr id="19" name="Text 17"/>
          <p:cNvSpPr/>
          <p:nvPr/>
        </p:nvSpPr>
        <p:spPr>
          <a:xfrm>
            <a:off x="75438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py</a:t>
            </a:r>
            <a:endParaRPr lang="en-US" sz="1500" dirty="0"/>
          </a:p>
        </p:txBody>
      </p:sp>
      <p:sp>
        <p:nvSpPr>
          <p:cNvPr id="20" name="Text 18"/>
          <p:cNvSpPr/>
          <p:nvPr/>
        </p:nvSpPr>
        <p:spPr>
          <a:xfrm>
            <a:off x="75438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graph-orchestrated</a:t>
            </a:r>
            <a:endParaRPr lang="en-US" sz="1100" dirty="0"/>
          </a:p>
        </p:txBody>
      </p:sp>
      <p:sp>
        <p:nvSpPr>
          <p:cNvPr id="21" name="Shape 19"/>
          <p:cNvSpPr/>
          <p:nvPr/>
        </p:nvSpPr>
        <p:spPr>
          <a:xfrm>
            <a:off x="3360420" y="4709160"/>
            <a:ext cx="2651760" cy="914400"/>
          </a:xfrm>
          <a:prstGeom prst="rect">
            <a:avLst/>
          </a:prstGeom>
          <a:solidFill>
            <a:srgbClr val="FFFFFF"/>
          </a:solidFill>
          <a:ln w="12700">
            <a:solidFill>
              <a:srgbClr val="028090"/>
            </a:solidFill>
            <a:prstDash val="solid"/>
          </a:ln>
        </p:spPr>
      </p:sp>
      <p:sp>
        <p:nvSpPr>
          <p:cNvPr id="22" name="Text 20"/>
          <p:cNvSpPr/>
          <p:nvPr/>
        </p:nvSpPr>
        <p:spPr>
          <a:xfrm>
            <a:off x="354330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ts</a:t>
            </a:r>
            <a:endParaRPr lang="en-US" sz="1500" dirty="0"/>
          </a:p>
        </p:txBody>
      </p:sp>
      <p:sp>
        <p:nvSpPr>
          <p:cNvPr id="23" name="Text 21"/>
          <p:cNvSpPr/>
          <p:nvPr/>
        </p:nvSpPr>
        <p:spPr>
          <a:xfrm>
            <a:off x="354330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graph-orchestrated</a:t>
            </a:r>
            <a:endParaRPr lang="en-US" sz="1100" dirty="0"/>
          </a:p>
        </p:txBody>
      </p:sp>
      <p:sp>
        <p:nvSpPr>
          <p:cNvPr id="24" name="Shape 22"/>
          <p:cNvSpPr/>
          <p:nvPr/>
        </p:nvSpPr>
        <p:spPr>
          <a:xfrm>
            <a:off x="6149340" y="4709160"/>
            <a:ext cx="2651760" cy="914400"/>
          </a:xfrm>
          <a:prstGeom prst="rect">
            <a:avLst/>
          </a:prstGeom>
          <a:solidFill>
            <a:srgbClr val="FFFFFF"/>
          </a:solidFill>
          <a:ln w="12700">
            <a:solidFill>
              <a:srgbClr val="028090"/>
            </a:solidFill>
            <a:prstDash val="solid"/>
          </a:ln>
        </p:spPr>
      </p:sp>
      <p:sp>
        <p:nvSpPr>
          <p:cNvPr id="25" name="Text 23"/>
          <p:cNvSpPr/>
          <p:nvPr/>
        </p:nvSpPr>
        <p:spPr>
          <a:xfrm>
            <a:off x="633222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Pydantic AI</a:t>
            </a:r>
            <a:endParaRPr lang="en-US" sz="1500" dirty="0"/>
          </a:p>
        </p:txBody>
      </p:sp>
      <p:sp>
        <p:nvSpPr>
          <p:cNvPr id="26" name="Text 24"/>
          <p:cNvSpPr/>
          <p:nvPr/>
        </p:nvSpPr>
        <p:spPr>
          <a:xfrm>
            <a:off x="633222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typed-tool-call DSL</a:t>
            </a:r>
            <a:endParaRPr lang="en-US" sz="1100" dirty="0"/>
          </a:p>
        </p:txBody>
      </p:sp>
      <p:sp>
        <p:nvSpPr>
          <p:cNvPr id="27" name="Shape 25"/>
          <p:cNvSpPr/>
          <p:nvPr/>
        </p:nvSpPr>
        <p:spPr>
          <a:xfrm>
            <a:off x="8938260" y="4709160"/>
            <a:ext cx="2651760" cy="914400"/>
          </a:xfrm>
          <a:prstGeom prst="rect">
            <a:avLst/>
          </a:prstGeom>
          <a:solidFill>
            <a:srgbClr val="FFFFFF"/>
          </a:solidFill>
          <a:ln w="12700">
            <a:solidFill>
              <a:srgbClr val="028090"/>
            </a:solidFill>
            <a:prstDash val="solid"/>
          </a:ln>
        </p:spPr>
      </p:sp>
      <p:sp>
        <p:nvSpPr>
          <p:cNvPr id="28" name="Text 26"/>
          <p:cNvSpPr/>
          <p:nvPr/>
        </p:nvSpPr>
        <p:spPr>
          <a:xfrm>
            <a:off x="912114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OpenAI Agents</a:t>
            </a:r>
            <a:endParaRPr lang="en-US" sz="1500" dirty="0"/>
          </a:p>
        </p:txBody>
      </p:sp>
      <p:sp>
        <p:nvSpPr>
          <p:cNvPr id="29" name="Text 27"/>
          <p:cNvSpPr/>
          <p:nvPr/>
        </p:nvSpPr>
        <p:spPr>
          <a:xfrm>
            <a:off x="912114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Official OpenAI Agents SDK</a:t>
            </a:r>
            <a:endParaRPr lang="en-US" sz="1100" dirty="0"/>
          </a:p>
        </p:txBody>
      </p:sp>
      <p:sp>
        <p:nvSpPr>
          <p:cNvPr id="30" name="Text 28"/>
          <p:cNvSpPr/>
          <p:nvPr/>
        </p:nvSpPr>
        <p:spPr>
          <a:xfrm>
            <a:off x="640080" y="640080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cli/src/runtime.ts · controller/src/reconciler/runtime.rs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§9 · UPSTREAM</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000" b="1" dirty="0">
                <a:solidFill>
                  <a:srgbClr val="1A1A1A"/>
                </a:solidFill>
                <a:latin typeface="Helvetica" pitchFamily="34" charset="0"/>
                <a:ea typeface="Helvetica" pitchFamily="34" charset="-122"/>
                <a:cs typeface="Helvetica" pitchFamily="34" charset="-120"/>
              </a:rPr>
              <a:t>Built on the Microsoft Agent Governance Toolkit.</a:t>
            </a:r>
            <a:endParaRPr lang="en-US" sz="3000" dirty="0"/>
          </a:p>
        </p:txBody>
      </p:sp>
      <p:sp>
        <p:nvSpPr>
          <p:cNvPr id="5" name="Text 3"/>
          <p:cNvSpPr/>
          <p:nvPr/>
        </p:nvSpPr>
        <p:spPr>
          <a:xfrm>
            <a:off x="640080" y="228600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AGT ships the protocol and the libraries.  kars adds the Kubernetes-native runtime, the per-sandbox governance data plane, and the operator-facing UX.  Patches flow back upstream — we ship from a pinned branch (vendor/agt/pin.json) so the wire format stays consistent edge-to-edge.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PR #2772</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Proof-of-possession on /ws connect frames</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pending PR</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X3DH KDF spec compliance</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landed</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Multiple Python MeshClient compat fixes</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test corpus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Cross-runtime wire-format byte equivalence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§10 · NEXT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What becomes possible.</a:t>
            </a:r>
            <a:endParaRPr lang="en-US" sz="4200" dirty="0"/>
          </a:p>
        </p:txBody>
      </p:sp>
      <p:sp>
        <p:nvSpPr>
          <p:cNvPr id="5" name="Text 3"/>
          <p:cNvSpPr/>
          <p:nvPr/>
        </p:nvSpPr>
        <p:spPr>
          <a:xfrm>
            <a:off x="640080" y="224028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Four shipping targets.  Each one tightens the loop between what the operator declares and what the cluster delivers.</a:t>
            </a:r>
            <a:endParaRPr lang="en-US" sz="1800" dirty="0"/>
          </a:p>
        </p:txBody>
      </p:sp>
      <p:sp>
        <p:nvSpPr>
          <p:cNvPr id="6" name="Text 4"/>
          <p:cNvSpPr/>
          <p:nvPr/>
        </p:nvSpPr>
        <p:spPr>
          <a:xfrm>
            <a:off x="640080" y="3383280"/>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Hermes Act 2</a:t>
            </a:r>
            <a:endParaRPr lang="en-US" sz="1300" dirty="0"/>
          </a:p>
        </p:txBody>
      </p:sp>
      <p:sp>
        <p:nvSpPr>
          <p:cNvPr id="7" name="Text 5"/>
          <p:cNvSpPr/>
          <p:nvPr/>
        </p:nvSpPr>
        <p:spPr>
          <a:xfrm>
            <a:off x="2834640" y="3383280"/>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Every runtime ships with mesh on day one</a:t>
            </a:r>
            <a:endParaRPr lang="en-US" sz="1500" dirty="0"/>
          </a:p>
        </p:txBody>
      </p:sp>
      <p:sp>
        <p:nvSpPr>
          <p:cNvPr id="8" name="Text 6"/>
          <p:cNvSpPr/>
          <p:nvPr/>
        </p:nvSpPr>
        <p:spPr>
          <a:xfrm>
            <a:off x="2834640" y="3703320"/>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Python MeshClient at TS SDK parity · same KNOCK · same Double Ratchet</a:t>
            </a:r>
            <a:endParaRPr lang="en-US" sz="1150" dirty="0"/>
          </a:p>
        </p:txBody>
      </p:sp>
      <p:sp>
        <p:nvSpPr>
          <p:cNvPr id="9" name="Shape 7"/>
          <p:cNvSpPr/>
          <p:nvPr/>
        </p:nvSpPr>
        <p:spPr>
          <a:xfrm>
            <a:off x="640080" y="4050792"/>
            <a:ext cx="10881360" cy="0"/>
          </a:xfrm>
          <a:prstGeom prst="line">
            <a:avLst/>
          </a:prstGeom>
          <a:noFill/>
          <a:ln w="6350">
            <a:solidFill>
              <a:srgbClr val="E1E4E8"/>
            </a:solidFill>
            <a:prstDash val="solid"/>
          </a:ln>
        </p:spPr>
      </p:sp>
      <p:sp>
        <p:nvSpPr>
          <p:cNvPr id="10" name="Text 8"/>
          <p:cNvSpPr/>
          <p:nvPr/>
        </p:nvSpPr>
        <p:spPr>
          <a:xfrm>
            <a:off x="640080" y="4096512"/>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kars-sre</a:t>
            </a:r>
            <a:endParaRPr lang="en-US" sz="1300" dirty="0"/>
          </a:p>
        </p:txBody>
      </p:sp>
      <p:sp>
        <p:nvSpPr>
          <p:cNvPr id="11" name="Text 9"/>
          <p:cNvSpPr/>
          <p:nvPr/>
        </p:nvSpPr>
        <p:spPr>
          <a:xfrm>
            <a:off x="2834640" y="4096512"/>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The cluster diagnoses itself before you do</a:t>
            </a:r>
            <a:endParaRPr lang="en-US" sz="1500" dirty="0"/>
          </a:p>
        </p:txBody>
      </p:sp>
      <p:sp>
        <p:nvSpPr>
          <p:cNvPr id="12" name="Text 10"/>
          <p:cNvSpPr/>
          <p:nvPr/>
        </p:nvSpPr>
        <p:spPr>
          <a:xfrm>
            <a:off x="2834640" y="4416552"/>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In-cluster SRE agent · 5 read-only tools · 2 approval-gated fixes</a:t>
            </a:r>
            <a:endParaRPr lang="en-US" sz="1150" dirty="0"/>
          </a:p>
        </p:txBody>
      </p:sp>
      <p:sp>
        <p:nvSpPr>
          <p:cNvPr id="13" name="Shape 11"/>
          <p:cNvSpPr/>
          <p:nvPr/>
        </p:nvSpPr>
        <p:spPr>
          <a:xfrm>
            <a:off x="640080" y="4764024"/>
            <a:ext cx="10881360" cy="0"/>
          </a:xfrm>
          <a:prstGeom prst="line">
            <a:avLst/>
          </a:prstGeom>
          <a:noFill/>
          <a:ln w="6350">
            <a:solidFill>
              <a:srgbClr val="E1E4E8"/>
            </a:solidFill>
            <a:prstDash val="solid"/>
          </a:ln>
        </p:spPr>
      </p:sp>
      <p:sp>
        <p:nvSpPr>
          <p:cNvPr id="14" name="Text 12"/>
          <p:cNvSpPr/>
          <p:nvPr/>
        </p:nvSpPr>
        <p:spPr>
          <a:xfrm>
            <a:off x="640080" y="4809744"/>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Sovereign GA</a:t>
            </a:r>
            <a:endParaRPr lang="en-US" sz="1300" dirty="0"/>
          </a:p>
        </p:txBody>
      </p:sp>
      <p:sp>
        <p:nvSpPr>
          <p:cNvPr id="15" name="Text 13"/>
          <p:cNvSpPr/>
          <p:nvPr/>
        </p:nvSpPr>
        <p:spPr>
          <a:xfrm>
            <a:off x="2834640" y="4809744"/>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Regulated environments deploy with one apply</a:t>
            </a:r>
            <a:endParaRPr lang="en-US" sz="1500" dirty="0"/>
          </a:p>
        </p:txBody>
      </p:sp>
      <p:sp>
        <p:nvSpPr>
          <p:cNvPr id="16" name="Text 14"/>
          <p:cNvSpPr/>
          <p:nvPr/>
        </p:nvSpPr>
        <p:spPr>
          <a:xfrm>
            <a:off x="2834640" y="5129784"/>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Blueprint 06 from compose-by-hand to one-command bundle</a:t>
            </a:r>
            <a:endParaRPr lang="en-US" sz="1150" dirty="0"/>
          </a:p>
        </p:txBody>
      </p:sp>
      <p:sp>
        <p:nvSpPr>
          <p:cNvPr id="17" name="Shape 15"/>
          <p:cNvSpPr/>
          <p:nvPr/>
        </p:nvSpPr>
        <p:spPr>
          <a:xfrm>
            <a:off x="640080" y="5477256"/>
            <a:ext cx="10881360" cy="0"/>
          </a:xfrm>
          <a:prstGeom prst="line">
            <a:avLst/>
          </a:prstGeom>
          <a:noFill/>
          <a:ln w="6350">
            <a:solidFill>
              <a:srgbClr val="E1E4E8"/>
            </a:solidFill>
            <a:prstDash val="solid"/>
          </a:ln>
        </p:spPr>
      </p:sp>
      <p:sp>
        <p:nvSpPr>
          <p:cNvPr id="18" name="Text 16"/>
          <p:cNvSpPr/>
          <p:nvPr/>
        </p:nvSpPr>
        <p:spPr>
          <a:xfrm>
            <a:off x="640080" y="5522976"/>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Attestation</a:t>
            </a:r>
            <a:endParaRPr lang="en-US" sz="1300" dirty="0"/>
          </a:p>
        </p:txBody>
      </p:sp>
      <p:sp>
        <p:nvSpPr>
          <p:cNvPr id="19" name="Text 17"/>
          <p:cNvSpPr/>
          <p:nvPr/>
        </p:nvSpPr>
        <p:spPr>
          <a:xfrm>
            <a:off x="2834640" y="5522976"/>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Workloads run only on hardware they trust</a:t>
            </a:r>
            <a:endParaRPr lang="en-US" sz="1500" dirty="0"/>
          </a:p>
        </p:txBody>
      </p:sp>
      <p:sp>
        <p:nvSpPr>
          <p:cNvPr id="20" name="Text 18"/>
          <p:cNvSpPr/>
          <p:nvPr/>
        </p:nvSpPr>
        <p:spPr>
          <a:xfrm>
            <a:off x="2834640" y="5843016"/>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Kata + SEV-SNP attestation-gated KarsSandbox · evidence in .status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§11 · TRY IT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8000" b="1" dirty="0">
                <a:solidFill>
                  <a:srgbClr val="1A1A1A"/>
                </a:solidFill>
                <a:latin typeface="Helvetica" pitchFamily="34" charset="0"/>
                <a:ea typeface="Helvetica" pitchFamily="34" charset="-122"/>
                <a:cs typeface="Helvetica" pitchFamily="34" charset="-120"/>
              </a:rPr>
              <a:t>kars dev</a:t>
            </a:r>
            <a:endParaRPr lang="en-US" sz="8000" dirty="0"/>
          </a:p>
        </p:txBody>
      </p:sp>
      <p:sp>
        <p:nvSpPr>
          <p:cNvPr id="5" name="Shape 3"/>
          <p:cNvSpPr/>
          <p:nvPr/>
        </p:nvSpPr>
        <p:spPr>
          <a:xfrm>
            <a:off x="640080" y="3566160"/>
            <a:ext cx="10881360" cy="2743200"/>
          </a:xfrm>
          <a:prstGeom prst="rect">
            <a:avLst/>
          </a:prstGeom>
          <a:solidFill>
            <a:srgbClr val="F6F8FA"/>
          </a:solidFill>
          <a:ln w="9525">
            <a:solidFill>
              <a:srgbClr val="E1E4E8"/>
            </a:solidFill>
            <a:prstDash val="solid"/>
          </a:ln>
        </p:spPr>
      </p:sp>
      <p:sp>
        <p:nvSpPr>
          <p:cNvPr id="6" name="Text 4"/>
          <p:cNvSpPr/>
          <p:nvPr/>
        </p:nvSpPr>
        <p:spPr>
          <a:xfrm>
            <a:off x="868680" y="3794760"/>
            <a:ext cx="10424160" cy="2286000"/>
          </a:xfrm>
          <a:prstGeom prst="rect">
            <a:avLst/>
          </a:prstGeom>
          <a:noFill/>
          <a:ln/>
        </p:spPr>
        <p:txBody>
          <a:bodyPr wrap="square" lIns="0" tIns="0" rIns="0" bIns="0" rtlCol="0" anchor="t"/>
          <a:lstStyle/>
          <a:p>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1A1A1A"/>
                </a:solidFill>
                <a:latin typeface="Consolas" pitchFamily="34" charset="0"/>
                <a:ea typeface="Consolas" pitchFamily="34" charset="-122"/>
                <a:cs typeface="Consolas" pitchFamily="34" charset="-120"/>
              </a:rPr>
              <a:t>git clone https://github.com/Azure/kars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1A1A1A"/>
                </a:solidFill>
                <a:latin typeface="Consolas" pitchFamily="34" charset="0"/>
                <a:ea typeface="Consolas" pitchFamily="34" charset="-122"/>
                <a:cs typeface="Consolas" pitchFamily="34" charset="-120"/>
              </a:rPr>
              <a:t>cd kars/cli &amp;&amp; npm ci &amp;&amp; npm run build &amp;&amp; npm link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C53030"/>
                </a:solidFill>
                <a:latin typeface="Consolas" pitchFamily="34" charset="0"/>
                <a:ea typeface="Consolas" pitchFamily="34" charset="-122"/>
                <a:cs typeface="Consolas" pitchFamily="34" charset="-120"/>
              </a:rPr>
              <a:t>kars dev
</a:t>
            </a:r>
            <a:pPr algn="l" indent="0" marL="0">
              <a:buNone/>
            </a:pPr>
            <a:r>
              <a:rPr lang="en-US" sz="1300" dirty="0">
                <a:solidFill>
                  <a:srgbClr val="1A1A1A"/>
                </a:solidFill>
                <a:latin typeface="Consolas" pitchFamily="34" charset="0"/>
                <a:ea typeface="Consolas" pitchFamily="34" charset="-122"/>
                <a:cs typeface="Consolas" pitchFamily="34" charset="-120"/>
              </a:rPr>
              <a:t>
</a:t>
            </a:r>
            <a:pPr algn="l" indent="0" marL="0">
              <a:buNone/>
            </a:pPr>
            <a:r>
              <a:rPr lang="en-US" sz="1300" dirty="0">
                <a:solidFill>
                  <a:srgbClr val="276749"/>
                </a:solidFill>
                <a:latin typeface="Consolas" pitchFamily="34" charset="0"/>
                <a:ea typeface="Consolas" pitchFamily="34" charset="-122"/>
                <a:cs typeface="Consolas" pitchFamily="34" charset="-120"/>
              </a:rPr>
              <a:t>  ✓ kind cluster ready
</a:t>
            </a:r>
            <a:pPr algn="l" indent="0" marL="0">
              <a:buNone/>
            </a:pPr>
            <a:r>
              <a:rPr lang="en-US" sz="1300" dirty="0">
                <a:solidFill>
                  <a:srgbClr val="276749"/>
                </a:solidFill>
                <a:latin typeface="Consolas" pitchFamily="34" charset="0"/>
                <a:ea typeface="Consolas" pitchFamily="34" charset="-122"/>
                <a:cs typeface="Consolas" pitchFamily="34" charset="-120"/>
              </a:rPr>
              <a:t>  ✓ AGT toolkit cloned + wheels built
</a:t>
            </a:r>
            <a:pPr algn="l" indent="0" marL="0">
              <a:buNone/>
            </a:pPr>
            <a:r>
              <a:rPr lang="en-US" sz="1300" dirty="0">
                <a:solidFill>
                  <a:srgbClr val="276749"/>
                </a:solidFill>
                <a:latin typeface="Consolas" pitchFamily="34" charset="0"/>
                <a:ea typeface="Consolas" pitchFamily="34" charset="-122"/>
                <a:cs typeface="Consolas" pitchFamily="34" charset="-120"/>
              </a:rPr>
              <a:t>  ✓ helm chart applied  (controller + relay + registry)
</a:t>
            </a:r>
            <a:pPr algn="l" indent="0" marL="0">
              <a:buNone/>
            </a:pPr>
            <a:r>
              <a:rPr lang="en-US" sz="1300" dirty="0">
                <a:solidFill>
                  <a:srgbClr val="276749"/>
                </a:solidFill>
                <a:latin typeface="Consolas" pitchFamily="34" charset="0"/>
                <a:ea typeface="Consolas" pitchFamily="34" charset="-122"/>
                <a:cs typeface="Consolas" pitchFamily="34" charset="-120"/>
              </a:rPr>
              <a:t>  ✓ runtime image loaded into kind
</a:t>
            </a:r>
            <a:pPr algn="l" indent="0" marL="0">
              <a:buNone/>
            </a:pPr>
            <a:r>
              <a:rPr lang="en-US" sz="1300" dirty="0">
                <a:solidFill>
                  <a:srgbClr val="276749"/>
                </a:solidFill>
                <a:latin typeface="Consolas" pitchFamily="34" charset="0"/>
                <a:ea typeface="Consolas" pitchFamily="34" charset="-122"/>
                <a:cs typeface="Consolas" pitchFamily="34" charset="-120"/>
              </a:rPr>
              <a:t>  ✓ sandbox 'agent-1' Running 2/2
</a:t>
            </a:r>
            <a:pPr algn="l" indent="0" marL="0">
              <a:buNone/>
            </a:pPr>
            <a:r>
              <a:rPr lang="en-US" sz="1300" dirty="0">
                <a:solidFill>
                  <a:srgbClr val="1A1A1A"/>
                </a:solidFill>
                <a:latin typeface="Consolas" pitchFamily="34" charset="0"/>
                <a:ea typeface="Consolas" pitchFamily="34" charset="-122"/>
                <a:cs typeface="Consolas" pitchFamily="34" charset="-120"/>
              </a:rPr>
              <a:t>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C53030"/>
                </a:solidFill>
                <a:latin typeface="Consolas" pitchFamily="34" charset="0"/>
                <a:ea typeface="Consolas" pitchFamily="34" charset="-122"/>
                <a:cs typeface="Consolas" pitchFamily="34" charset="-120"/>
              </a:rPr>
              <a:t>kars connect agent-1     </a:t>
            </a:r>
            <a:pPr algn="l" indent="0" marL="0">
              <a:buNone/>
            </a:pPr>
            <a:r>
              <a:rPr lang="en-US" sz="1300" dirty="0">
                <a:solidFill>
                  <a:srgbClr val="6E7681"/>
                </a:solidFill>
                <a:latin typeface="Consolas" pitchFamily="34" charset="0"/>
                <a:ea typeface="Consolas" pitchFamily="34" charset="-122"/>
                <a:cs typeface="Consolas" pitchFamily="34" charset="-120"/>
              </a:rPr>
              <a:t># WebUI on http://localhost:18789</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23</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§12 · LIVE DEMO · ACT I</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Secure runtime, in motion.</a:t>
            </a:r>
            <a:endParaRPr lang="en-US" sz="3800" dirty="0"/>
          </a:p>
        </p:txBody>
      </p:sp>
      <p:sp>
        <p:nvSpPr>
          <p:cNvPr id="5" name="Text 3"/>
          <p:cNvSpPr/>
          <p:nvPr/>
        </p:nvSpPr>
        <p:spPr>
          <a:xfrm>
            <a:off x="640080" y="2286000"/>
            <a:ext cx="10881360" cy="118872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 normal agent on the cluster.  Watch a governed research-agent come up, answer a question, get its tool call approval-gated via Telegram, and land every step in the audit log.</a:t>
            </a:r>
            <a:endParaRPr lang="en-US" sz="1800" dirty="0"/>
          </a:p>
        </p:txBody>
      </p:sp>
      <p:sp>
        <p:nvSpPr>
          <p:cNvPr id="6" name="Text 4"/>
          <p:cNvSpPr/>
          <p:nvPr/>
        </p:nvSpPr>
        <p:spPr>
          <a:xfrm>
            <a:off x="640080" y="361188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143000" y="361188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dev</a:t>
            </a:r>
            <a:endParaRPr lang="en-US" sz="1200" dirty="0"/>
          </a:p>
        </p:txBody>
      </p:sp>
      <p:sp>
        <p:nvSpPr>
          <p:cNvPr id="8" name="Text 6"/>
          <p:cNvSpPr/>
          <p:nvPr/>
        </p:nvSpPr>
        <p:spPr>
          <a:xfrm>
            <a:off x="1143000" y="388620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kind cluster up · controller / relay / registry installed · ready in ~60 s</a:t>
            </a:r>
            <a:endParaRPr lang="en-US" sz="1100" dirty="0"/>
          </a:p>
        </p:txBody>
      </p:sp>
      <p:sp>
        <p:nvSpPr>
          <p:cNvPr id="9" name="Shape 7"/>
          <p:cNvSpPr/>
          <p:nvPr/>
        </p:nvSpPr>
        <p:spPr>
          <a:xfrm>
            <a:off x="640080" y="4123944"/>
            <a:ext cx="10881360" cy="0"/>
          </a:xfrm>
          <a:prstGeom prst="line">
            <a:avLst/>
          </a:prstGeom>
          <a:noFill/>
          <a:ln w="6350">
            <a:solidFill>
              <a:srgbClr val="E1E4E8"/>
            </a:solidFill>
            <a:prstDash val="solid"/>
          </a:ln>
        </p:spPr>
      </p:sp>
      <p:sp>
        <p:nvSpPr>
          <p:cNvPr id="10" name="Text 8"/>
          <p:cNvSpPr/>
          <p:nvPr/>
        </p:nvSpPr>
        <p:spPr>
          <a:xfrm>
            <a:off x="640080" y="416052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2</a:t>
            </a:r>
            <a:endParaRPr lang="en-US" sz="1800" dirty="0"/>
          </a:p>
        </p:txBody>
      </p:sp>
      <p:sp>
        <p:nvSpPr>
          <p:cNvPr id="11" name="Text 9"/>
          <p:cNvSpPr/>
          <p:nvPr/>
        </p:nvSpPr>
        <p:spPr>
          <a:xfrm>
            <a:off x="1143000" y="416052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kubectl get karssandbox</a:t>
            </a:r>
            <a:endParaRPr lang="en-US" sz="1200" dirty="0"/>
          </a:p>
        </p:txBody>
      </p:sp>
      <p:sp>
        <p:nvSpPr>
          <p:cNvPr id="12" name="Text 10"/>
          <p:cNvSpPr/>
          <p:nvPr/>
        </p:nvSpPr>
        <p:spPr>
          <a:xfrm>
            <a:off x="1143000" y="443484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nothing yet — the cluster is healthy but unused</a:t>
            </a:r>
            <a:endParaRPr lang="en-US" sz="1100" dirty="0"/>
          </a:p>
        </p:txBody>
      </p:sp>
      <p:sp>
        <p:nvSpPr>
          <p:cNvPr id="13" name="Shape 11"/>
          <p:cNvSpPr/>
          <p:nvPr/>
        </p:nvSpPr>
        <p:spPr>
          <a:xfrm>
            <a:off x="640080" y="4672584"/>
            <a:ext cx="10881360" cy="0"/>
          </a:xfrm>
          <a:prstGeom prst="line">
            <a:avLst/>
          </a:prstGeom>
          <a:noFill/>
          <a:ln w="6350">
            <a:solidFill>
              <a:srgbClr val="E1E4E8"/>
            </a:solidFill>
            <a:prstDash val="solid"/>
          </a:ln>
        </p:spPr>
      </p:sp>
      <p:sp>
        <p:nvSpPr>
          <p:cNvPr id="14" name="Text 12"/>
          <p:cNvSpPr/>
          <p:nvPr/>
        </p:nvSpPr>
        <p:spPr>
          <a:xfrm>
            <a:off x="640080" y="470916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3</a:t>
            </a:r>
            <a:endParaRPr lang="en-US" sz="1800" dirty="0"/>
          </a:p>
        </p:txBody>
      </p:sp>
      <p:sp>
        <p:nvSpPr>
          <p:cNvPr id="15" name="Text 13"/>
          <p:cNvSpPr/>
          <p:nvPr/>
        </p:nvSpPr>
        <p:spPr>
          <a:xfrm>
            <a:off x="1143000" y="470916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add research-agent --blueprint governed</a:t>
            </a:r>
            <a:endParaRPr lang="en-US" sz="1200" dirty="0"/>
          </a:p>
        </p:txBody>
      </p:sp>
      <p:sp>
        <p:nvSpPr>
          <p:cNvPr id="16" name="Text 14"/>
          <p:cNvSpPr/>
          <p:nvPr/>
        </p:nvSpPr>
        <p:spPr>
          <a:xfrm>
            <a:off x="1143000" y="498348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KarsSandbox CR applied · Namespace + NetworkPolicy + Deployment created · pod Running 2/2</a:t>
            </a:r>
            <a:endParaRPr lang="en-US" sz="1100" dirty="0"/>
          </a:p>
        </p:txBody>
      </p:sp>
      <p:sp>
        <p:nvSpPr>
          <p:cNvPr id="17" name="Shape 15"/>
          <p:cNvSpPr/>
          <p:nvPr/>
        </p:nvSpPr>
        <p:spPr>
          <a:xfrm>
            <a:off x="640080" y="5221224"/>
            <a:ext cx="10881360" cy="0"/>
          </a:xfrm>
          <a:prstGeom prst="line">
            <a:avLst/>
          </a:prstGeom>
          <a:noFill/>
          <a:ln w="6350">
            <a:solidFill>
              <a:srgbClr val="E1E4E8"/>
            </a:solidFill>
            <a:prstDash val="solid"/>
          </a:ln>
        </p:spPr>
      </p:sp>
      <p:sp>
        <p:nvSpPr>
          <p:cNvPr id="18" name="Text 16"/>
          <p:cNvSpPr/>
          <p:nvPr/>
        </p:nvSpPr>
        <p:spPr>
          <a:xfrm>
            <a:off x="640080" y="525780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4</a:t>
            </a:r>
            <a:endParaRPr lang="en-US" sz="1800" dirty="0"/>
          </a:p>
        </p:txBody>
      </p:sp>
      <p:sp>
        <p:nvSpPr>
          <p:cNvPr id="19" name="Text 17"/>
          <p:cNvSpPr/>
          <p:nvPr/>
        </p:nvSpPr>
        <p:spPr>
          <a:xfrm>
            <a:off x="1143000" y="525780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connect research-agent</a:t>
            </a:r>
            <a:endParaRPr lang="en-US" sz="1200" dirty="0"/>
          </a:p>
        </p:txBody>
      </p:sp>
      <p:sp>
        <p:nvSpPr>
          <p:cNvPr id="20" name="Text 18"/>
          <p:cNvSpPr/>
          <p:nvPr/>
        </p:nvSpPr>
        <p:spPr>
          <a:xfrm>
            <a:off x="1143000" y="553212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WebUI on :18789 · ask:  "summarise github.com/Azure/kars"</a:t>
            </a:r>
            <a:endParaRPr lang="en-US" sz="1100" dirty="0"/>
          </a:p>
        </p:txBody>
      </p:sp>
      <p:sp>
        <p:nvSpPr>
          <p:cNvPr id="21" name="Shape 19"/>
          <p:cNvSpPr/>
          <p:nvPr/>
        </p:nvSpPr>
        <p:spPr>
          <a:xfrm>
            <a:off x="640080" y="5769864"/>
            <a:ext cx="10881360" cy="0"/>
          </a:xfrm>
          <a:prstGeom prst="line">
            <a:avLst/>
          </a:prstGeom>
          <a:noFill/>
          <a:ln w="6350">
            <a:solidFill>
              <a:srgbClr val="E1E4E8"/>
            </a:solidFill>
            <a:prstDash val="solid"/>
          </a:ln>
        </p:spPr>
      </p:sp>
      <p:sp>
        <p:nvSpPr>
          <p:cNvPr id="22" name="Text 20"/>
          <p:cNvSpPr/>
          <p:nvPr/>
        </p:nvSpPr>
        <p:spPr>
          <a:xfrm>
            <a:off x="640080" y="580644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5</a:t>
            </a:r>
            <a:endParaRPr lang="en-US" sz="1800" dirty="0"/>
          </a:p>
        </p:txBody>
      </p:sp>
      <p:sp>
        <p:nvSpPr>
          <p:cNvPr id="23" name="Text 21"/>
          <p:cNvSpPr/>
          <p:nvPr/>
        </p:nvSpPr>
        <p:spPr>
          <a:xfrm>
            <a:off x="1143000" y="580644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tool web.fetch is gated</a:t>
            </a:r>
            <a:endParaRPr lang="en-US" sz="1200" dirty="0"/>
          </a:p>
        </p:txBody>
      </p:sp>
      <p:sp>
        <p:nvSpPr>
          <p:cNvPr id="24" name="Text 22"/>
          <p:cNvSpPr/>
          <p:nvPr/>
        </p:nvSpPr>
        <p:spPr>
          <a:xfrm>
            <a:off x="1143000" y="608076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ToolPolicy → Telegram approval prompt → approve → fetch → answer + audit row in /audit/events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AFB3BD"/>
                </a:solidFill>
                <a:latin typeface="Helvetica" pitchFamily="34" charset="0"/>
                <a:ea typeface="Helvetica" pitchFamily="34" charset="-122"/>
                <a:cs typeface="Helvetica" pitchFamily="34" charset="-120"/>
              </a:rPr>
              <a:t>§12.1 · BETWEEN ACTS</a:t>
            </a:r>
            <a:endParaRPr lang="en-US" sz="1100" dirty="0"/>
          </a:p>
        </p:txBody>
      </p:sp>
      <p:sp>
        <p:nvSpPr>
          <p:cNvPr id="3" name="Text 1"/>
          <p:cNvSpPr/>
          <p:nvPr/>
        </p:nvSpPr>
        <p:spPr>
          <a:xfrm>
            <a:off x="640080" y="1463040"/>
            <a:ext cx="10881360" cy="1463040"/>
          </a:xfrm>
          <a:prstGeom prst="rect">
            <a:avLst/>
          </a:prstGeom>
          <a:noFill/>
          <a:ln/>
        </p:spPr>
        <p:txBody>
          <a:bodyPr wrap="square" lIns="0" tIns="0" rIns="0" bIns="0" rtlCol="0" anchor="t"/>
          <a:lstStyle/>
          <a:p>
            <a:pPr algn="l" indent="0" marL="0">
              <a:buNone/>
            </a:pPr>
            <a:r>
              <a:rPr lang="en-US" sz="5600" b="1" dirty="0">
                <a:solidFill>
                  <a:srgbClr val="FFFFFF"/>
                </a:solidFill>
                <a:latin typeface="Helvetica" pitchFamily="34" charset="0"/>
                <a:ea typeface="Helvetica" pitchFamily="34" charset="-122"/>
                <a:cs typeface="Helvetica" pitchFamily="34" charset="-120"/>
              </a:rPr>
              <a:t>Same cluster.  Second agent.</a:t>
            </a:r>
            <a:endParaRPr lang="en-US" sz="5600" dirty="0"/>
          </a:p>
        </p:txBody>
      </p:sp>
      <p:sp>
        <p:nvSpPr>
          <p:cNvPr id="4" name="Text 2"/>
          <p:cNvSpPr/>
          <p:nvPr/>
        </p:nvSpPr>
        <p:spPr>
          <a:xfrm>
            <a:off x="640080" y="3291840"/>
            <a:ext cx="10881360" cy="1463040"/>
          </a:xfrm>
          <a:prstGeom prst="rect">
            <a:avLst/>
          </a:prstGeom>
          <a:noFill/>
          <a:ln/>
        </p:spPr>
        <p:txBody>
          <a:bodyPr wrap="square" lIns="0" tIns="0" rIns="0" bIns="0" rtlCol="0" anchor="t"/>
          <a:lstStyle/>
          <a:p>
            <a:pPr algn="l" indent="0" marL="0">
              <a:spcAft>
                <a:spcPts val="800"/>
              </a:spcAft>
              <a:buNone/>
            </a:pPr>
            <a:r>
              <a:rPr lang="en-US" sz="2600" dirty="0">
                <a:solidFill>
                  <a:srgbClr val="E6F1F2"/>
                </a:solidFill>
                <a:latin typeface="Helvetica" pitchFamily="34" charset="0"/>
                <a:ea typeface="Helvetica" pitchFamily="34" charset="-122"/>
                <a:cs typeface="Helvetica" pitchFamily="34" charset="-120"/>
              </a:rPr>
              <a:t>If you can run a research agent on kars, you can run an SRE one.  Same isolation, same policy plane, same audit log — just different tools.</a:t>
            </a:r>
            <a:endParaRPr lang="en-US" sz="2600" dirty="0"/>
          </a:p>
        </p:txBody>
      </p:sp>
      <p:sp>
        <p:nvSpPr>
          <p:cNvPr id="5" name="Text 3"/>
          <p:cNvSpPr/>
          <p:nvPr/>
        </p:nvSpPr>
        <p:spPr>
          <a:xfrm>
            <a:off x="640080" y="5120640"/>
            <a:ext cx="10881360" cy="548640"/>
          </a:xfrm>
          <a:prstGeom prst="rect">
            <a:avLst/>
          </a:prstGeom>
          <a:noFill/>
          <a:ln/>
        </p:spPr>
        <p:txBody>
          <a:bodyPr wrap="square" lIns="0" tIns="0" rIns="0" bIns="0" rtlCol="0" anchor="ctr"/>
          <a:lstStyle/>
          <a:p>
            <a:pPr algn="l" indent="0" marL="0">
              <a:buNone/>
            </a:pPr>
            <a:r>
              <a:rPr lang="en-US" sz="1800" dirty="0">
                <a:solidFill>
                  <a:srgbClr val="AFB3BD"/>
                </a:solidFill>
                <a:latin typeface="Helvetica" pitchFamily="34" charset="0"/>
                <a:ea typeface="Helvetica" pitchFamily="34" charset="-122"/>
                <a:cs typeface="Helvetica" pitchFamily="34" charset="-120"/>
              </a:rPr>
              <a:t>And — with your approval — it can fix things for you.</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§12.2 · LIVE DEMO · ACT II</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The cluster fixes itself.  With your nod.</a:t>
            </a:r>
            <a:endParaRPr lang="en-US" sz="3200" dirty="0"/>
          </a:p>
        </p:txBody>
      </p:sp>
      <p:sp>
        <p:nvSpPr>
          <p:cNvPr id="5" name="Text 3"/>
          <p:cNvSpPr/>
          <p:nvPr/>
        </p:nvSpPr>
        <p:spPr>
          <a:xfrm>
            <a:off x="640080" y="224028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Drop an SRE agent onto the same cluster.  Break something on purpose.  Watch the agent ping Telegram, diagnose the cause, propose a fix, wait for the operator's approval — then apply it and confirm the recovery.</a:t>
            </a:r>
            <a:endParaRPr lang="en-US" sz="1800" dirty="0"/>
          </a:p>
        </p:txBody>
      </p:sp>
      <p:sp>
        <p:nvSpPr>
          <p:cNvPr id="6" name="Text 4"/>
          <p:cNvSpPr/>
          <p:nvPr/>
        </p:nvSpPr>
        <p:spPr>
          <a:xfrm>
            <a:off x="640080" y="370332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143000" y="370332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install sre</a:t>
            </a:r>
            <a:endParaRPr lang="en-US" sz="1200" dirty="0"/>
          </a:p>
        </p:txBody>
      </p:sp>
      <p:sp>
        <p:nvSpPr>
          <p:cNvPr id="8" name="Text 6"/>
          <p:cNvSpPr/>
          <p:nvPr/>
        </p:nvSpPr>
        <p:spPr>
          <a:xfrm>
            <a:off x="1143000" y="395935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kars-sre sandbox up · 5 read-only kubectl tools · 2 approval-gated mutators (patch / scale)</a:t>
            </a:r>
            <a:endParaRPr lang="en-US" sz="1050" dirty="0"/>
          </a:p>
        </p:txBody>
      </p:sp>
      <p:sp>
        <p:nvSpPr>
          <p:cNvPr id="9" name="Shape 7"/>
          <p:cNvSpPr/>
          <p:nvPr/>
        </p:nvSpPr>
        <p:spPr>
          <a:xfrm>
            <a:off x="640080" y="4169664"/>
            <a:ext cx="10881360" cy="0"/>
          </a:xfrm>
          <a:prstGeom prst="line">
            <a:avLst/>
          </a:prstGeom>
          <a:noFill/>
          <a:ln w="6350">
            <a:solidFill>
              <a:srgbClr val="E1E4E8"/>
            </a:solidFill>
            <a:prstDash val="solid"/>
          </a:ln>
        </p:spPr>
      </p:sp>
      <p:sp>
        <p:nvSpPr>
          <p:cNvPr id="10" name="Text 8"/>
          <p:cNvSpPr/>
          <p:nvPr/>
        </p:nvSpPr>
        <p:spPr>
          <a:xfrm>
            <a:off x="640080" y="420624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2</a:t>
            </a:r>
            <a:endParaRPr lang="en-US" sz="1800" dirty="0"/>
          </a:p>
        </p:txBody>
      </p:sp>
      <p:sp>
        <p:nvSpPr>
          <p:cNvPr id="11" name="Text 9"/>
          <p:cNvSpPr/>
          <p:nvPr/>
        </p:nvSpPr>
        <p:spPr>
          <a:xfrm>
            <a:off x="1143000" y="420624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 something breaks )</a:t>
            </a:r>
            <a:endParaRPr lang="en-US" sz="1200" dirty="0"/>
          </a:p>
        </p:txBody>
      </p:sp>
      <p:sp>
        <p:nvSpPr>
          <p:cNvPr id="12" name="Text 10"/>
          <p:cNvSpPr/>
          <p:nvPr/>
        </p:nvSpPr>
        <p:spPr>
          <a:xfrm>
            <a:off x="1143000" y="446227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NetworkPolicy 'kars-mesh-egress' loses the :8083 allow → research-agent goes Pending</a:t>
            </a:r>
            <a:endParaRPr lang="en-US" sz="1050" dirty="0"/>
          </a:p>
        </p:txBody>
      </p:sp>
      <p:sp>
        <p:nvSpPr>
          <p:cNvPr id="13" name="Shape 11"/>
          <p:cNvSpPr/>
          <p:nvPr/>
        </p:nvSpPr>
        <p:spPr>
          <a:xfrm>
            <a:off x="640080" y="4672584"/>
            <a:ext cx="10881360" cy="0"/>
          </a:xfrm>
          <a:prstGeom prst="line">
            <a:avLst/>
          </a:prstGeom>
          <a:noFill/>
          <a:ln w="6350">
            <a:solidFill>
              <a:srgbClr val="E1E4E8"/>
            </a:solidFill>
            <a:prstDash val="solid"/>
          </a:ln>
        </p:spPr>
      </p:sp>
      <p:sp>
        <p:nvSpPr>
          <p:cNvPr id="14" name="Text 12"/>
          <p:cNvSpPr/>
          <p:nvPr/>
        </p:nvSpPr>
        <p:spPr>
          <a:xfrm>
            <a:off x="640080" y="470916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3</a:t>
            </a:r>
            <a:endParaRPr lang="en-US" sz="1800" dirty="0"/>
          </a:p>
        </p:txBody>
      </p:sp>
      <p:sp>
        <p:nvSpPr>
          <p:cNvPr id="15" name="Text 13"/>
          <p:cNvSpPr/>
          <p:nvPr/>
        </p:nvSpPr>
        <p:spPr>
          <a:xfrm>
            <a:off x="1143000" y="470916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telegram ping  ◀  kars-sre</a:t>
            </a:r>
            <a:endParaRPr lang="en-US" sz="1200" dirty="0"/>
          </a:p>
        </p:txBody>
      </p:sp>
      <p:sp>
        <p:nvSpPr>
          <p:cNvPr id="16" name="Text 14"/>
          <p:cNvSpPr/>
          <p:nvPr/>
        </p:nvSpPr>
        <p:spPr>
          <a:xfrm>
            <a:off x="1143000" y="496519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"research-agent has been Pending for 3 min.  Likely cause:  NP kars-mesh-egress denying TCP/8083 to agentmesh-relay."</a:t>
            </a:r>
            <a:endParaRPr lang="en-US" sz="1050" dirty="0"/>
          </a:p>
        </p:txBody>
      </p:sp>
      <p:sp>
        <p:nvSpPr>
          <p:cNvPr id="17" name="Shape 15"/>
          <p:cNvSpPr/>
          <p:nvPr/>
        </p:nvSpPr>
        <p:spPr>
          <a:xfrm>
            <a:off x="640080" y="5175504"/>
            <a:ext cx="10881360" cy="0"/>
          </a:xfrm>
          <a:prstGeom prst="line">
            <a:avLst/>
          </a:prstGeom>
          <a:noFill/>
          <a:ln w="6350">
            <a:solidFill>
              <a:srgbClr val="E1E4E8"/>
            </a:solidFill>
            <a:prstDash val="solid"/>
          </a:ln>
        </p:spPr>
      </p:sp>
      <p:sp>
        <p:nvSpPr>
          <p:cNvPr id="18" name="Text 16"/>
          <p:cNvSpPr/>
          <p:nvPr/>
        </p:nvSpPr>
        <p:spPr>
          <a:xfrm>
            <a:off x="640080" y="521208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4</a:t>
            </a:r>
            <a:endParaRPr lang="en-US" sz="1800" dirty="0"/>
          </a:p>
        </p:txBody>
      </p:sp>
      <p:sp>
        <p:nvSpPr>
          <p:cNvPr id="19" name="Text 17"/>
          <p:cNvSpPr/>
          <p:nvPr/>
        </p:nvSpPr>
        <p:spPr>
          <a:xfrm>
            <a:off x="1143000" y="521208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connect sre  →  "give me the health overview"</a:t>
            </a:r>
            <a:endParaRPr lang="en-US" sz="1200" dirty="0"/>
          </a:p>
        </p:txBody>
      </p:sp>
      <p:sp>
        <p:nvSpPr>
          <p:cNvPr id="20" name="Text 18"/>
          <p:cNvSpPr/>
          <p:nvPr/>
        </p:nvSpPr>
        <p:spPr>
          <a:xfrm>
            <a:off x="1143000" y="546811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3 sandboxes · 1 Pending · proposed fix:  patch NetworkPolicy egress rule (port 8083)  ·  awaiting approval</a:t>
            </a:r>
            <a:endParaRPr lang="en-US" sz="1050" dirty="0"/>
          </a:p>
        </p:txBody>
      </p:sp>
      <p:sp>
        <p:nvSpPr>
          <p:cNvPr id="21" name="Shape 19"/>
          <p:cNvSpPr/>
          <p:nvPr/>
        </p:nvSpPr>
        <p:spPr>
          <a:xfrm>
            <a:off x="640080" y="5678424"/>
            <a:ext cx="10881360" cy="0"/>
          </a:xfrm>
          <a:prstGeom prst="line">
            <a:avLst/>
          </a:prstGeom>
          <a:noFill/>
          <a:ln w="6350">
            <a:solidFill>
              <a:srgbClr val="E1E4E8"/>
            </a:solidFill>
            <a:prstDash val="solid"/>
          </a:ln>
        </p:spPr>
      </p:sp>
      <p:sp>
        <p:nvSpPr>
          <p:cNvPr id="22" name="Text 20"/>
          <p:cNvSpPr/>
          <p:nvPr/>
        </p:nvSpPr>
        <p:spPr>
          <a:xfrm>
            <a:off x="640080" y="571500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5</a:t>
            </a:r>
            <a:endParaRPr lang="en-US" sz="1800" dirty="0"/>
          </a:p>
        </p:txBody>
      </p:sp>
      <p:sp>
        <p:nvSpPr>
          <p:cNvPr id="23" name="Text 21"/>
          <p:cNvSpPr/>
          <p:nvPr/>
        </p:nvSpPr>
        <p:spPr>
          <a:xfrm>
            <a:off x="1143000" y="571500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approve via telegram  →  fix applied</a:t>
            </a:r>
            <a:endParaRPr lang="en-US" sz="1200" dirty="0"/>
          </a:p>
        </p:txBody>
      </p:sp>
      <p:sp>
        <p:nvSpPr>
          <p:cNvPr id="24" name="Text 22"/>
          <p:cNvSpPr/>
          <p:nvPr/>
        </p:nvSpPr>
        <p:spPr>
          <a:xfrm>
            <a:off x="1143000" y="597103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controller observes ConfigMap drift → reconciles → research-agent back to Running 2/2 · 🟢</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19456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57200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Agents.  Production.  Kubernetes.</a:t>
            </a:r>
            <a:endParaRPr lang="en-US" sz="2200" dirty="0"/>
          </a:p>
        </p:txBody>
      </p:sp>
      <p:sp>
        <p:nvSpPr>
          <p:cNvPr id="4" name="Text 2"/>
          <p:cNvSpPr/>
          <p:nvPr/>
        </p:nvSpPr>
        <p:spPr>
          <a:xfrm>
            <a:off x="640080" y="5120640"/>
            <a:ext cx="10881360" cy="365760"/>
          </a:xfrm>
          <a:prstGeom prst="rect">
            <a:avLst/>
          </a:prstGeom>
          <a:noFill/>
          <a:ln/>
        </p:spPr>
        <p:txBody>
          <a:bodyPr wrap="square" lIns="0" tIns="0" rIns="0" bIns="0" rtlCol="0" anchor="ctr"/>
          <a:lstStyle/>
          <a:p>
            <a:pPr algn="l" indent="0" marL="0">
              <a:buNone/>
            </a:pPr>
            <a:r>
              <a:rPr lang="en-US" sz="1400" dirty="0">
                <a:solidFill>
                  <a:srgbClr val="AFB3BD"/>
                </a:solidFill>
                <a:latin typeface="Consolas" pitchFamily="34" charset="0"/>
                <a:ea typeface="Consolas" pitchFamily="34" charset="-122"/>
                <a:cs typeface="Consolas" pitchFamily="34" charset="-120"/>
              </a:rPr>
              <a:t>github.com/Azure/kars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kars — secure AI agent runtime on Kubernetes</dc:title>
  <dc:subject>PptxGenJS Presentation</dc:subject>
  <dc:creator>kars</dc:creator>
  <cp:lastModifiedBy>kars</cp:lastModifiedBy>
  <cp:revision>1</cp:revision>
  <dcterms:created xsi:type="dcterms:W3CDTF">2026-06-09T08:14:55Z</dcterms:created>
  <dcterms:modified xsi:type="dcterms:W3CDTF">2026-06-09T08:14:55Z</dcterms:modified>
</cp:coreProperties>
</file>