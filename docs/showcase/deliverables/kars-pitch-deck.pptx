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E1A"/>
        </a:solidFill>
      </p:bgPr>
    </p:bg>
    <p:spTree>
      <p:nvGrpSpPr>
        <p:cNvPr id="1" name=""/>
        <p:cNvGrpSpPr/>
        <p:nvPr/>
      </p:nvGrpSpPr>
      <p:grpSpPr>
        <a:xfrm>
          <a:off x="0" y="0"/>
          <a:ext cx="0" cy="0"/>
          <a:chOff x="0" y="0"/>
          <a:chExt cx="0" cy="0"/>
        </a:xfrm>
      </p:grpSpPr>
      <p:sp>
        <p:nvSpPr>
          <p:cNvPr id="2" name="Text 0"/>
          <p:cNvSpPr/>
          <p:nvPr/>
        </p:nvSpPr>
        <p:spPr>
          <a:xfrm>
            <a:off x="640080" y="2194560"/>
            <a:ext cx="10881360" cy="2011680"/>
          </a:xfrm>
          <a:prstGeom prst="rect">
            <a:avLst/>
          </a:prstGeom>
          <a:noFill/>
          <a:ln/>
        </p:spPr>
        <p:txBody>
          <a:bodyPr wrap="square" lIns="0" tIns="0" rIns="0" bIns="0" rtlCol="0" anchor="ctr"/>
          <a:lstStyle/>
          <a:p>
            <a:pPr algn="l" indent="0" marL="0">
              <a:buNone/>
            </a:pPr>
            <a:r>
              <a:rPr lang="en-US" sz="16800" b="1" dirty="0">
                <a:solidFill>
                  <a:srgbClr val="FFFFFF"/>
                </a:solidFill>
                <a:latin typeface="Helvetica" pitchFamily="34" charset="0"/>
                <a:ea typeface="Helvetica" pitchFamily="34" charset="-122"/>
                <a:cs typeface="Helvetica" pitchFamily="34" charset="-120"/>
              </a:rPr>
              <a:t>kars</a:t>
            </a:r>
            <a:endParaRPr lang="en-US" sz="16800" dirty="0"/>
          </a:p>
        </p:txBody>
      </p:sp>
      <p:sp>
        <p:nvSpPr>
          <p:cNvPr id="3" name="Text 1"/>
          <p:cNvSpPr/>
          <p:nvPr/>
        </p:nvSpPr>
        <p:spPr>
          <a:xfrm>
            <a:off x="640080" y="4389120"/>
            <a:ext cx="10881360" cy="457200"/>
          </a:xfrm>
          <a:prstGeom prst="rect">
            <a:avLst/>
          </a:prstGeom>
          <a:noFill/>
          <a:ln/>
        </p:spPr>
        <p:txBody>
          <a:bodyPr wrap="square" lIns="0" tIns="0" rIns="0" bIns="0" rtlCol="0" anchor="ctr"/>
          <a:lstStyle/>
          <a:p>
            <a:pPr algn="l" indent="0" marL="0">
              <a:buNone/>
            </a:pPr>
            <a:r>
              <a:rPr lang="en-US" sz="2200" dirty="0">
                <a:solidFill>
                  <a:srgbClr val="E6F1F2"/>
                </a:solidFill>
                <a:latin typeface="Helvetica" pitchFamily="34" charset="0"/>
                <a:ea typeface="Helvetica" pitchFamily="34" charset="-122"/>
                <a:cs typeface="Helvetica" pitchFamily="34" charset="-120"/>
              </a:rPr>
              <a:t>Secure AI agent runtime on Kubernetes.</a:t>
            </a:r>
            <a:endParaRPr lang="en-US" sz="2200" dirty="0"/>
          </a:p>
        </p:txBody>
      </p:sp>
      <p:sp>
        <p:nvSpPr>
          <p:cNvPr id="4" name="Text 2"/>
          <p:cNvSpPr/>
          <p:nvPr/>
        </p:nvSpPr>
        <p:spPr>
          <a:xfrm>
            <a:off x="640080" y="4937760"/>
            <a:ext cx="10881360" cy="457200"/>
          </a:xfrm>
          <a:prstGeom prst="rect">
            <a:avLst/>
          </a:prstGeom>
          <a:noFill/>
          <a:ln/>
        </p:spPr>
        <p:txBody>
          <a:bodyPr wrap="square" lIns="0" tIns="0" rIns="0" bIns="0" rtlCol="0" anchor="ctr"/>
          <a:lstStyle/>
          <a:p>
            <a:pPr algn="l" indent="0" marL="0">
              <a:buNone/>
            </a:pPr>
            <a:r>
              <a:rPr lang="en-US" sz="1600" dirty="0">
                <a:solidFill>
                  <a:srgbClr val="AFB3BD"/>
                </a:solidFill>
                <a:latin typeface="Helvetica" pitchFamily="34" charset="0"/>
                <a:ea typeface="Helvetica" pitchFamily="34" charset="-122"/>
                <a:cs typeface="Helvetica" pitchFamily="34" charset="-120"/>
              </a:rPr>
              <a:t>Built on the Microsoft Agent Governance Toolkit.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02</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§1 · THE RACE</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600" b="1" dirty="0">
                <a:solidFill>
                  <a:srgbClr val="1A1A1A"/>
                </a:solidFill>
                <a:latin typeface="Helvetica" pitchFamily="34" charset="0"/>
                <a:ea typeface="Helvetica" pitchFamily="34" charset="-122"/>
                <a:cs typeface="Helvetica" pitchFamily="34" charset="-120"/>
              </a:rPr>
              <a:t>Every cloud is shipping an agent runtime.</a:t>
            </a:r>
            <a:endParaRPr lang="en-US" sz="4600" dirty="0"/>
          </a:p>
        </p:txBody>
      </p:sp>
      <p:sp>
        <p:nvSpPr>
          <p:cNvPr id="5" name="Text 3"/>
          <p:cNvSpPr/>
          <p:nvPr/>
        </p:nvSpPr>
        <p:spPr>
          <a:xfrm>
            <a:off x="640080" y="2560320"/>
            <a:ext cx="10881360" cy="164592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Bedrock Agents, Vertex Agents, OpenAI Assistants, LangChain Cloud, CrewAI. They all ship the agent loop, tool calling, and some memory. None ship all four of the things that matter for production:  Kubernetes-native deployment on your cluster, end-to-end encrypted inter-agent mesh, multiple agent frameworks living together, and governance enforced at every byte of egress.</a:t>
            </a:r>
            <a:endParaRPr lang="en-US" sz="1800" dirty="0"/>
          </a:p>
        </p:txBody>
      </p:sp>
      <p:sp>
        <p:nvSpPr>
          <p:cNvPr id="6" name="Shape 4"/>
          <p:cNvSpPr/>
          <p:nvPr/>
        </p:nvSpPr>
        <p:spPr>
          <a:xfrm>
            <a:off x="640080" y="4572000"/>
            <a:ext cx="1097280" cy="0"/>
          </a:xfrm>
          <a:prstGeom prst="line">
            <a:avLst/>
          </a:prstGeom>
          <a:noFill/>
          <a:ln w="19050">
            <a:solidFill>
              <a:srgbClr val="028090"/>
            </a:solidFill>
            <a:prstDash val="solid"/>
          </a:ln>
        </p:spPr>
      </p:sp>
      <p:sp>
        <p:nvSpPr>
          <p:cNvPr id="7" name="Text 5"/>
          <p:cNvSpPr/>
          <p:nvPr/>
        </p:nvSpPr>
        <p:spPr>
          <a:xfrm>
            <a:off x="64008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Bedrock Agents</a:t>
            </a:r>
            <a:endParaRPr lang="en-US" sz="1300" dirty="0"/>
          </a:p>
        </p:txBody>
      </p:sp>
      <p:sp>
        <p:nvSpPr>
          <p:cNvPr id="8" name="Text 6"/>
          <p:cNvSpPr/>
          <p:nvPr/>
        </p:nvSpPr>
        <p:spPr>
          <a:xfrm>
            <a:off x="64008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managed · locked to Bedrock-hosted models</a:t>
            </a:r>
            <a:endParaRPr lang="en-US" sz="1300" dirty="0"/>
          </a:p>
        </p:txBody>
      </p:sp>
      <p:sp>
        <p:nvSpPr>
          <p:cNvPr id="9" name="Shape 7"/>
          <p:cNvSpPr/>
          <p:nvPr/>
        </p:nvSpPr>
        <p:spPr>
          <a:xfrm>
            <a:off x="3451860" y="4572000"/>
            <a:ext cx="1097280" cy="0"/>
          </a:xfrm>
          <a:prstGeom prst="line">
            <a:avLst/>
          </a:prstGeom>
          <a:noFill/>
          <a:ln w="19050">
            <a:solidFill>
              <a:srgbClr val="028090"/>
            </a:solidFill>
            <a:prstDash val="solid"/>
          </a:ln>
        </p:spPr>
      </p:sp>
      <p:sp>
        <p:nvSpPr>
          <p:cNvPr id="10" name="Text 8"/>
          <p:cNvSpPr/>
          <p:nvPr/>
        </p:nvSpPr>
        <p:spPr>
          <a:xfrm>
            <a:off x="345186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Vertex Agents</a:t>
            </a:r>
            <a:endParaRPr lang="en-US" sz="1300" dirty="0"/>
          </a:p>
        </p:txBody>
      </p:sp>
      <p:sp>
        <p:nvSpPr>
          <p:cNvPr id="11" name="Text 9"/>
          <p:cNvSpPr/>
          <p:nvPr/>
        </p:nvSpPr>
        <p:spPr>
          <a:xfrm>
            <a:off x="345186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managed · locked to Vertex-hosted models</a:t>
            </a:r>
            <a:endParaRPr lang="en-US" sz="1300" dirty="0"/>
          </a:p>
        </p:txBody>
      </p:sp>
      <p:sp>
        <p:nvSpPr>
          <p:cNvPr id="12" name="Shape 10"/>
          <p:cNvSpPr/>
          <p:nvPr/>
        </p:nvSpPr>
        <p:spPr>
          <a:xfrm>
            <a:off x="6263640" y="4572000"/>
            <a:ext cx="1097280" cy="0"/>
          </a:xfrm>
          <a:prstGeom prst="line">
            <a:avLst/>
          </a:prstGeom>
          <a:noFill/>
          <a:ln w="19050">
            <a:solidFill>
              <a:srgbClr val="028090"/>
            </a:solidFill>
            <a:prstDash val="solid"/>
          </a:ln>
        </p:spPr>
      </p:sp>
      <p:sp>
        <p:nvSpPr>
          <p:cNvPr id="13" name="Text 11"/>
          <p:cNvSpPr/>
          <p:nvPr/>
        </p:nvSpPr>
        <p:spPr>
          <a:xfrm>
            <a:off x="626364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OpenAI Assistants</a:t>
            </a:r>
            <a:endParaRPr lang="en-US" sz="1300" dirty="0"/>
          </a:p>
        </p:txBody>
      </p:sp>
      <p:sp>
        <p:nvSpPr>
          <p:cNvPr id="14" name="Text 12"/>
          <p:cNvSpPr/>
          <p:nvPr/>
        </p:nvSpPr>
        <p:spPr>
          <a:xfrm>
            <a:off x="626364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managed · single provider · no on-prem</a:t>
            </a:r>
            <a:endParaRPr lang="en-US" sz="1300" dirty="0"/>
          </a:p>
        </p:txBody>
      </p:sp>
      <p:sp>
        <p:nvSpPr>
          <p:cNvPr id="15" name="Shape 13"/>
          <p:cNvSpPr/>
          <p:nvPr/>
        </p:nvSpPr>
        <p:spPr>
          <a:xfrm>
            <a:off x="9075420" y="4572000"/>
            <a:ext cx="1097280" cy="0"/>
          </a:xfrm>
          <a:prstGeom prst="line">
            <a:avLst/>
          </a:prstGeom>
          <a:noFill/>
          <a:ln w="19050">
            <a:solidFill>
              <a:srgbClr val="028090"/>
            </a:solidFill>
            <a:prstDash val="solid"/>
          </a:ln>
        </p:spPr>
      </p:sp>
      <p:sp>
        <p:nvSpPr>
          <p:cNvPr id="16" name="Text 14"/>
          <p:cNvSpPr/>
          <p:nvPr/>
        </p:nvSpPr>
        <p:spPr>
          <a:xfrm>
            <a:off x="907542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LangGraph Cloud</a:t>
            </a:r>
            <a:endParaRPr lang="en-US" sz="1300" dirty="0"/>
          </a:p>
        </p:txBody>
      </p:sp>
      <p:sp>
        <p:nvSpPr>
          <p:cNvPr id="17" name="Text 15"/>
          <p:cNvSpPr/>
          <p:nvPr/>
        </p:nvSpPr>
        <p:spPr>
          <a:xfrm>
            <a:off x="907542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managed orchestration · no isolation primitive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E1A"/>
        </a:solidFill>
      </p:bgPr>
    </p:bg>
    <p:spTree>
      <p:nvGrpSpPr>
        <p:cNvPr id="1" name=""/>
        <p:cNvGrpSpPr/>
        <p:nvPr/>
      </p:nvGrpSpPr>
      <p:grpSpPr>
        <a:xfrm>
          <a:off x="0" y="0"/>
          <a:ext cx="0" cy="0"/>
          <a:chOff x="0" y="0"/>
          <a:chExt cx="0" cy="0"/>
        </a:xfrm>
      </p:grpSpPr>
      <p:sp>
        <p:nvSpPr>
          <p:cNvPr id="2" name="Text 0"/>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AFB3BD"/>
                </a:solidFill>
                <a:latin typeface="Helvetica" pitchFamily="34" charset="0"/>
                <a:ea typeface="Helvetica" pitchFamily="34" charset="-122"/>
                <a:cs typeface="Helvetica" pitchFamily="34" charset="-120"/>
              </a:rPr>
              <a:t>§2 · WHAT KARS IS</a:t>
            </a:r>
            <a:endParaRPr lang="en-US" sz="1100" dirty="0"/>
          </a:p>
        </p:txBody>
      </p:sp>
      <p:sp>
        <p:nvSpPr>
          <p:cNvPr id="3" name="Text 1"/>
          <p:cNvSpPr/>
          <p:nvPr/>
        </p:nvSpPr>
        <p:spPr>
          <a:xfrm>
            <a:off x="640080" y="1371600"/>
            <a:ext cx="10881360" cy="1645920"/>
          </a:xfrm>
          <a:prstGeom prst="rect">
            <a:avLst/>
          </a:prstGeom>
          <a:noFill/>
          <a:ln/>
        </p:spPr>
        <p:txBody>
          <a:bodyPr wrap="square" lIns="0" tIns="0" rIns="0" bIns="0" rtlCol="0" anchor="t"/>
          <a:lstStyle/>
          <a:p>
            <a:pPr algn="l" indent="0" marL="0">
              <a:buNone/>
            </a:pPr>
            <a:r>
              <a:rPr lang="en-US" sz="3800" b="1" dirty="0">
                <a:solidFill>
                  <a:srgbClr val="FFFFFF"/>
                </a:solidFill>
                <a:latin typeface="Helvetica" pitchFamily="34" charset="0"/>
                <a:ea typeface="Helvetica" pitchFamily="34" charset="-122"/>
                <a:cs typeface="Helvetica" pitchFamily="34" charset="-120"/>
              </a:rPr>
              <a:t>Secure, multi-runtime AI agent runtime on Azure Kubernetes Service.</a:t>
            </a:r>
            <a:endParaRPr lang="en-US" sz="3800" dirty="0"/>
          </a:p>
        </p:txBody>
      </p:sp>
      <p:sp>
        <p:nvSpPr>
          <p:cNvPr id="4" name="Text 2"/>
          <p:cNvSpPr/>
          <p:nvPr/>
        </p:nvSpPr>
        <p:spPr>
          <a:xfrm>
            <a:off x="640080" y="3291840"/>
            <a:ext cx="10881360" cy="1280160"/>
          </a:xfrm>
          <a:prstGeom prst="rect">
            <a:avLst/>
          </a:prstGeom>
          <a:noFill/>
          <a:ln/>
        </p:spPr>
        <p:txBody>
          <a:bodyPr wrap="square" lIns="0" tIns="0" rIns="0" bIns="0" rtlCol="0" anchor="t"/>
          <a:lstStyle/>
          <a:p>
            <a:pPr algn="l" indent="0" marL="0">
              <a:buNone/>
            </a:pPr>
            <a:r>
              <a:rPr lang="en-US" sz="3200" dirty="0">
                <a:solidFill>
                  <a:srgbClr val="E6F1F2"/>
                </a:solidFill>
                <a:latin typeface="Helvetica" pitchFamily="34" charset="0"/>
                <a:ea typeface="Helvetica" pitchFamily="34" charset="-122"/>
                <a:cs typeface="Helvetica" pitchFamily="34" charset="-120"/>
              </a:rPr>
              <a:t>End-to-end encrypted inter-agent mesh. Governance enforced in the per-sandbox data plane.</a:t>
            </a:r>
            <a:endParaRPr lang="en-US" sz="3200" dirty="0"/>
          </a:p>
        </p:txBody>
      </p:sp>
      <p:sp>
        <p:nvSpPr>
          <p:cNvPr id="5" name="Text 3"/>
          <p:cNvSpPr/>
          <p:nvPr/>
        </p:nvSpPr>
        <p:spPr>
          <a:xfrm>
            <a:off x="640080" y="4937760"/>
            <a:ext cx="10881360" cy="457200"/>
          </a:xfrm>
          <a:prstGeom prst="rect">
            <a:avLst/>
          </a:prstGeom>
          <a:noFill/>
          <a:ln/>
        </p:spPr>
        <p:txBody>
          <a:bodyPr wrap="square" lIns="0" tIns="0" rIns="0" bIns="0" rtlCol="0" anchor="ctr"/>
          <a:lstStyle/>
          <a:p>
            <a:pPr algn="l" indent="0" marL="0">
              <a:buNone/>
            </a:pPr>
            <a:r>
              <a:rPr lang="en-US" sz="1800" dirty="0">
                <a:solidFill>
                  <a:srgbClr val="AFB3BD"/>
                </a:solidFill>
                <a:latin typeface="Helvetica" pitchFamily="34" charset="0"/>
                <a:ea typeface="Helvetica" pitchFamily="34" charset="-122"/>
                <a:cs typeface="Helvetica" pitchFamily="34" charset="-120"/>
              </a:rPr>
              <a:t>Eight wired runtimes today.  Bring-your-own for the ninth.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04</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 · ARCHITECTURE</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600" b="1" dirty="0">
                <a:solidFill>
                  <a:srgbClr val="1A1A1A"/>
                </a:solidFill>
                <a:latin typeface="Helvetica" pitchFamily="34" charset="0"/>
                <a:ea typeface="Helvetica" pitchFamily="34" charset="-122"/>
                <a:cs typeface="Helvetica" pitchFamily="34" charset="-120"/>
              </a:rPr>
              <a:t>Four pillars.</a:t>
            </a:r>
            <a:endParaRPr lang="en-US" sz="4600" dirty="0"/>
          </a:p>
        </p:txBody>
      </p:sp>
      <p:sp>
        <p:nvSpPr>
          <p:cNvPr id="5" name="Text 3"/>
          <p:cNvSpPr/>
          <p:nvPr/>
        </p:nvSpPr>
        <p:spPr>
          <a:xfrm>
            <a:off x="640080" y="2377440"/>
            <a:ext cx="10881360" cy="128016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Each pillar is a concrete, auditable subsystem with a named contract, a single source of truth in the controller, and observability hooks. The next four sections drill into each.</a:t>
            </a:r>
            <a:endParaRPr lang="en-US" sz="1800" dirty="0"/>
          </a:p>
        </p:txBody>
      </p:sp>
      <p:sp>
        <p:nvSpPr>
          <p:cNvPr id="6" name="Shape 4"/>
          <p:cNvSpPr/>
          <p:nvPr/>
        </p:nvSpPr>
        <p:spPr>
          <a:xfrm>
            <a:off x="640080" y="4206240"/>
            <a:ext cx="1097280" cy="0"/>
          </a:xfrm>
          <a:prstGeom prst="line">
            <a:avLst/>
          </a:prstGeom>
          <a:noFill/>
          <a:ln w="19050">
            <a:solidFill>
              <a:srgbClr val="028090"/>
            </a:solidFill>
            <a:prstDash val="solid"/>
          </a:ln>
        </p:spPr>
      </p:sp>
      <p:sp>
        <p:nvSpPr>
          <p:cNvPr id="7" name="Text 5"/>
          <p:cNvSpPr/>
          <p:nvPr/>
        </p:nvSpPr>
        <p:spPr>
          <a:xfrm>
            <a:off x="640080" y="429768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sandbox/</a:t>
            </a:r>
            <a:endParaRPr lang="en-US" sz="1300" dirty="0"/>
          </a:p>
        </p:txBody>
      </p:sp>
      <p:sp>
        <p:nvSpPr>
          <p:cNvPr id="8" name="Text 6"/>
          <p:cNvSpPr/>
          <p:nvPr/>
        </p:nvSpPr>
        <p:spPr>
          <a:xfrm>
            <a:off x="640080" y="470916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kars-strict seccomp · iptables egress-guard · drop ALL caps</a:t>
            </a:r>
            <a:endParaRPr lang="en-US" sz="1300" dirty="0"/>
          </a:p>
        </p:txBody>
      </p:sp>
      <p:sp>
        <p:nvSpPr>
          <p:cNvPr id="9" name="Shape 7"/>
          <p:cNvSpPr/>
          <p:nvPr/>
        </p:nvSpPr>
        <p:spPr>
          <a:xfrm>
            <a:off x="3451860" y="4206240"/>
            <a:ext cx="1097280" cy="0"/>
          </a:xfrm>
          <a:prstGeom prst="line">
            <a:avLst/>
          </a:prstGeom>
          <a:noFill/>
          <a:ln w="19050">
            <a:solidFill>
              <a:srgbClr val="028090"/>
            </a:solidFill>
            <a:prstDash val="solid"/>
          </a:ln>
        </p:spPr>
      </p:sp>
      <p:sp>
        <p:nvSpPr>
          <p:cNvPr id="10" name="Text 8"/>
          <p:cNvSpPr/>
          <p:nvPr/>
        </p:nvSpPr>
        <p:spPr>
          <a:xfrm>
            <a:off x="3451860" y="429768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agentmesh/</a:t>
            </a:r>
            <a:endParaRPr lang="en-US" sz="1300" dirty="0"/>
          </a:p>
        </p:txBody>
      </p:sp>
      <p:sp>
        <p:nvSpPr>
          <p:cNvPr id="11" name="Text 9"/>
          <p:cNvSpPr/>
          <p:nvPr/>
        </p:nvSpPr>
        <p:spPr>
          <a:xfrm>
            <a:off x="3451860" y="470916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Signal Protocol · X3DH · Double Ratchet · KNOCK</a:t>
            </a:r>
            <a:endParaRPr lang="en-US" sz="1300" dirty="0"/>
          </a:p>
        </p:txBody>
      </p:sp>
      <p:sp>
        <p:nvSpPr>
          <p:cNvPr id="12" name="Shape 10"/>
          <p:cNvSpPr/>
          <p:nvPr/>
        </p:nvSpPr>
        <p:spPr>
          <a:xfrm>
            <a:off x="6263640" y="4206240"/>
            <a:ext cx="1097280" cy="0"/>
          </a:xfrm>
          <a:prstGeom prst="line">
            <a:avLst/>
          </a:prstGeom>
          <a:noFill/>
          <a:ln w="19050">
            <a:solidFill>
              <a:srgbClr val="028090"/>
            </a:solidFill>
            <a:prstDash val="solid"/>
          </a:ln>
        </p:spPr>
      </p:sp>
      <p:sp>
        <p:nvSpPr>
          <p:cNvPr id="13" name="Text 11"/>
          <p:cNvSpPr/>
          <p:nvPr/>
        </p:nvSpPr>
        <p:spPr>
          <a:xfrm>
            <a:off x="6263640" y="429768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router/</a:t>
            </a:r>
            <a:endParaRPr lang="en-US" sz="1300" dirty="0"/>
          </a:p>
        </p:txBody>
      </p:sp>
      <p:sp>
        <p:nvSpPr>
          <p:cNvPr id="14" name="Text 12"/>
          <p:cNvSpPr/>
          <p:nvPr/>
        </p:nvSpPr>
        <p:spPr>
          <a:xfrm>
            <a:off x="6263640" y="470916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InferencePolicy · ToolPolicy · Content Safety · budgets</a:t>
            </a:r>
            <a:endParaRPr lang="en-US" sz="1300" dirty="0"/>
          </a:p>
        </p:txBody>
      </p:sp>
      <p:sp>
        <p:nvSpPr>
          <p:cNvPr id="15" name="Shape 13"/>
          <p:cNvSpPr/>
          <p:nvPr/>
        </p:nvSpPr>
        <p:spPr>
          <a:xfrm>
            <a:off x="9075420" y="4206240"/>
            <a:ext cx="1097280" cy="0"/>
          </a:xfrm>
          <a:prstGeom prst="line">
            <a:avLst/>
          </a:prstGeom>
          <a:noFill/>
          <a:ln w="19050">
            <a:solidFill>
              <a:srgbClr val="028090"/>
            </a:solidFill>
            <a:prstDash val="solid"/>
          </a:ln>
        </p:spPr>
      </p:sp>
      <p:sp>
        <p:nvSpPr>
          <p:cNvPr id="16" name="Text 14"/>
          <p:cNvSpPr/>
          <p:nvPr/>
        </p:nvSpPr>
        <p:spPr>
          <a:xfrm>
            <a:off x="9075420" y="429768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contract/v1</a:t>
            </a:r>
            <a:endParaRPr lang="en-US" sz="1300" dirty="0"/>
          </a:p>
        </p:txBody>
      </p:sp>
      <p:sp>
        <p:nvSpPr>
          <p:cNvPr id="17" name="Text 15"/>
          <p:cNvSpPr/>
          <p:nvPr/>
        </p:nvSpPr>
        <p:spPr>
          <a:xfrm>
            <a:off x="9075420" y="470916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KARS_MODEL · KARS_RUNTIME_KIND · 127.0.0.1:8443</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05</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§3.1 · SANDBOX</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600" b="1" dirty="0">
                <a:solidFill>
                  <a:srgbClr val="1A1A1A"/>
                </a:solidFill>
                <a:latin typeface="Helvetica" pitchFamily="34" charset="0"/>
                <a:ea typeface="Helvetica" pitchFamily="34" charset="-122"/>
                <a:cs typeface="Helvetica" pitchFamily="34" charset="-120"/>
              </a:rPr>
              <a:t>One pod.  Three layers.  Drop all the rest.</a:t>
            </a:r>
            <a:endParaRPr lang="en-US" sz="4600" dirty="0"/>
          </a:p>
        </p:txBody>
      </p:sp>
      <p:sp>
        <p:nvSpPr>
          <p:cNvPr id="5" name="Shape 3"/>
          <p:cNvSpPr/>
          <p:nvPr/>
        </p:nvSpPr>
        <p:spPr>
          <a:xfrm>
            <a:off x="640080" y="2286000"/>
            <a:ext cx="10881360" cy="3474720"/>
          </a:xfrm>
          <a:prstGeom prst="rect">
            <a:avLst/>
          </a:prstGeom>
          <a:solidFill>
            <a:srgbClr val="FFFFFF"/>
          </a:solidFill>
          <a:ln w="12700">
            <a:solidFill>
              <a:srgbClr val="AFB3BD"/>
            </a:solidFill>
            <a:prstDash val="dash"/>
          </a:ln>
        </p:spPr>
      </p:sp>
      <p:sp>
        <p:nvSpPr>
          <p:cNvPr id="6" name="Text 4"/>
          <p:cNvSpPr/>
          <p:nvPr/>
        </p:nvSpPr>
        <p:spPr>
          <a:xfrm>
            <a:off x="822960" y="2423160"/>
            <a:ext cx="914400" cy="274320"/>
          </a:xfrm>
          <a:prstGeom prst="rect">
            <a:avLst/>
          </a:prstGeom>
          <a:noFill/>
          <a:ln/>
        </p:spPr>
        <p:txBody>
          <a:bodyPr wrap="square" lIns="0" tIns="0" rIns="0" bIns="0" rtlCol="0" anchor="ctr"/>
          <a:lstStyle/>
          <a:p>
            <a:pPr indent="0" marL="0">
              <a:buNone/>
            </a:pPr>
            <a:r>
              <a:rPr lang="en-US" sz="1000" dirty="0">
                <a:solidFill>
                  <a:srgbClr val="AFB3BD"/>
                </a:solidFill>
                <a:latin typeface="Consolas" pitchFamily="34" charset="0"/>
                <a:ea typeface="Consolas" pitchFamily="34" charset="-122"/>
                <a:cs typeface="Consolas" pitchFamily="34" charset="-120"/>
              </a:rPr>
              <a:t>Pod</a:t>
            </a:r>
            <a:endParaRPr lang="en-US" sz="1000" dirty="0"/>
          </a:p>
        </p:txBody>
      </p:sp>
      <p:sp>
        <p:nvSpPr>
          <p:cNvPr id="7" name="Shape 5"/>
          <p:cNvSpPr/>
          <p:nvPr/>
        </p:nvSpPr>
        <p:spPr>
          <a:xfrm>
            <a:off x="1005840" y="2834640"/>
            <a:ext cx="10149840" cy="640080"/>
          </a:xfrm>
          <a:prstGeom prst="rect">
            <a:avLst/>
          </a:prstGeom>
          <a:solidFill>
            <a:srgbClr val="E6F1F2"/>
          </a:solidFill>
          <a:ln w="12700">
            <a:solidFill>
              <a:srgbClr val="028090"/>
            </a:solidFill>
            <a:prstDash val="solid"/>
          </a:ln>
        </p:spPr>
      </p:sp>
      <p:sp>
        <p:nvSpPr>
          <p:cNvPr id="8" name="Text 6"/>
          <p:cNvSpPr/>
          <p:nvPr/>
        </p:nvSpPr>
        <p:spPr>
          <a:xfrm>
            <a:off x="1188720" y="2834640"/>
            <a:ext cx="9784080" cy="640080"/>
          </a:xfrm>
          <a:prstGeom prst="rect">
            <a:avLst/>
          </a:prstGeom>
          <a:noFill/>
          <a:ln/>
        </p:spPr>
        <p:txBody>
          <a:bodyPr wrap="square" lIns="0" tIns="0" rIns="0" bIns="0" rtlCol="0" anchor="ctr"/>
          <a:lstStyle/>
          <a:p>
            <a:pPr indent="0" marL="0">
              <a:buNone/>
            </a:pPr>
            <a:r>
              <a:rPr lang="en-US" sz="1400" b="1" dirty="0">
                <a:solidFill>
                  <a:srgbClr val="028090"/>
                </a:solidFill>
                <a:latin typeface="Consolas" pitchFamily="34" charset="0"/>
                <a:ea typeface="Consolas" pitchFamily="34" charset="-122"/>
                <a:cs typeface="Consolas" pitchFamily="34" charset="-120"/>
              </a:rPr>
              <a:t>init  </a:t>
            </a:r>
            <a:pPr indent="0" marL="0">
              <a:buNone/>
            </a:pPr>
            <a:r>
              <a:rPr lang="en-US" sz="1400" dirty="0">
                <a:solidFill>
                  <a:srgbClr val="1A1A1A"/>
                </a:solidFill>
                <a:latin typeface="Consolas" pitchFamily="34" charset="0"/>
                <a:ea typeface="Consolas" pitchFamily="34" charset="-122"/>
                <a:cs typeface="Consolas" pitchFamily="34" charset="-120"/>
              </a:rPr>
              <a:t>egress-guard  </a:t>
            </a:r>
            <a:pPr indent="0" marL="0">
              <a:buNone/>
            </a:pPr>
            <a:r>
              <a:rPr lang="en-US" sz="1200" dirty="0">
                <a:solidFill>
                  <a:srgbClr val="6E7681"/>
                </a:solidFill>
                <a:latin typeface="Helvetica" pitchFamily="34" charset="0"/>
                <a:ea typeface="Helvetica" pitchFamily="34" charset="-122"/>
                <a:cs typeface="Helvetica" pitchFamily="34" charset="-120"/>
              </a:rPr>
              <a:t>iptables: UID 1000 → loopback + DNS only</a:t>
            </a:r>
            <a:endParaRPr lang="en-US" sz="1400" dirty="0"/>
          </a:p>
        </p:txBody>
      </p:sp>
      <p:sp>
        <p:nvSpPr>
          <p:cNvPr id="9" name="Shape 7"/>
          <p:cNvSpPr/>
          <p:nvPr/>
        </p:nvSpPr>
        <p:spPr>
          <a:xfrm>
            <a:off x="1005840" y="3657600"/>
            <a:ext cx="4983480" cy="1828800"/>
          </a:xfrm>
          <a:prstGeom prst="rect">
            <a:avLst/>
          </a:prstGeom>
          <a:solidFill>
            <a:srgbClr val="FFFFFF"/>
          </a:solidFill>
          <a:ln w="19050">
            <a:solidFill>
              <a:srgbClr val="028090"/>
            </a:solidFill>
            <a:prstDash val="solid"/>
          </a:ln>
        </p:spPr>
      </p:sp>
      <p:sp>
        <p:nvSpPr>
          <p:cNvPr id="10" name="Text 8"/>
          <p:cNvSpPr/>
          <p:nvPr/>
        </p:nvSpPr>
        <p:spPr>
          <a:xfrm>
            <a:off x="1188720" y="3840480"/>
            <a:ext cx="4983480" cy="457200"/>
          </a:xfrm>
          <a:prstGeom prst="rect">
            <a:avLst/>
          </a:prstGeom>
          <a:noFill/>
          <a:ln/>
        </p:spPr>
        <p:txBody>
          <a:bodyPr wrap="square" lIns="0" tIns="0" rIns="0" bIns="0" rtlCol="0" anchor="ctr"/>
          <a:lstStyle/>
          <a:p>
            <a:pPr indent="0" marL="0">
              <a:buNone/>
            </a:pPr>
            <a:r>
              <a:rPr lang="en-US" sz="1600" b="1" dirty="0">
                <a:solidFill>
                  <a:srgbClr val="028090"/>
                </a:solidFill>
                <a:latin typeface="Consolas" pitchFamily="34" charset="0"/>
                <a:ea typeface="Consolas" pitchFamily="34" charset="-122"/>
                <a:cs typeface="Consolas" pitchFamily="34" charset="-120"/>
              </a:rPr>
              <a:t>agent</a:t>
            </a:r>
            <a:endParaRPr lang="en-US" sz="1600" dirty="0"/>
          </a:p>
        </p:txBody>
      </p:sp>
      <p:sp>
        <p:nvSpPr>
          <p:cNvPr id="11" name="Text 9"/>
          <p:cNvSpPr/>
          <p:nvPr/>
        </p:nvSpPr>
        <p:spPr>
          <a:xfrm>
            <a:off x="1188720" y="4343400"/>
            <a:ext cx="4617720" cy="1097280"/>
          </a:xfrm>
          <a:prstGeom prst="rect">
            <a:avLst/>
          </a:prstGeom>
          <a:noFill/>
          <a:ln/>
        </p:spPr>
        <p:txBody>
          <a:bodyPr wrap="square" lIns="0" tIns="0" rIns="0" bIns="0" rtlCol="0" anchor="ctr"/>
          <a:lstStyle/>
          <a:p>
            <a:pPr indent="0" marL="0">
              <a:buNone/>
            </a:pPr>
            <a:r>
              <a:rPr lang="en-US" sz="1100" dirty="0">
                <a:solidFill>
                  <a:srgbClr val="1A1A1A"/>
                </a:solidFill>
                <a:latin typeface="Consolas" pitchFamily="34" charset="0"/>
                <a:ea typeface="Consolas" pitchFamily="34" charset="-122"/>
                <a:cs typeface="Consolas" pitchFamily="34" charset="-120"/>
              </a:rPr>
              <a:t>UID 1000</a:t>
            </a:r>
            <a:endParaRPr lang="en-US" sz="1100" dirty="0"/>
          </a:p>
          <a:p>
            <a:pPr indent="0" marL="0">
              <a:buNone/>
            </a:pPr>
            <a:r>
              <a:rPr lang="en-US" sz="1100" dirty="0">
                <a:solidFill>
                  <a:srgbClr val="1A1A1A"/>
                </a:solidFill>
                <a:latin typeface="Consolas" pitchFamily="34" charset="0"/>
                <a:ea typeface="Consolas" pitchFamily="34" charset="-122"/>
                <a:cs typeface="Consolas" pitchFamily="34" charset="-120"/>
              </a:rPr>
              <a:t>readOnlyRootFilesystem</a:t>
            </a:r>
            <a:endParaRPr lang="en-US" sz="1100" dirty="0"/>
          </a:p>
          <a:p>
            <a:pPr indent="0" marL="0">
              <a:buNone/>
            </a:pPr>
            <a:r>
              <a:rPr lang="en-US" sz="1100" dirty="0">
                <a:solidFill>
                  <a:srgbClr val="1A1A1A"/>
                </a:solidFill>
                <a:latin typeface="Consolas" pitchFamily="34" charset="0"/>
                <a:ea typeface="Consolas" pitchFamily="34" charset="-122"/>
                <a:cs typeface="Consolas" pitchFamily="34" charset="-120"/>
              </a:rPr>
              <a:t>runAsNonRoot</a:t>
            </a:r>
            <a:endParaRPr lang="en-US" sz="1100" dirty="0"/>
          </a:p>
          <a:p>
            <a:pPr indent="0" marL="0">
              <a:buNone/>
            </a:pPr>
            <a:r>
              <a:rPr lang="en-US" sz="1100" dirty="0">
                <a:solidFill>
                  <a:srgbClr val="1A1A1A"/>
                </a:solidFill>
                <a:latin typeface="Consolas" pitchFamily="34" charset="0"/>
                <a:ea typeface="Consolas" pitchFamily="34" charset="-122"/>
                <a:cs typeface="Consolas" pitchFamily="34" charset="-120"/>
              </a:rPr>
              <a:t>capabilities: drop ALL</a:t>
            </a:r>
            <a:endParaRPr lang="en-US" sz="1100" dirty="0"/>
          </a:p>
        </p:txBody>
      </p:sp>
      <p:sp>
        <p:nvSpPr>
          <p:cNvPr id="12" name="Shape 10"/>
          <p:cNvSpPr/>
          <p:nvPr/>
        </p:nvSpPr>
        <p:spPr>
          <a:xfrm>
            <a:off x="6172200" y="3657600"/>
            <a:ext cx="4983480" cy="1828800"/>
          </a:xfrm>
          <a:prstGeom prst="rect">
            <a:avLst/>
          </a:prstGeom>
          <a:solidFill>
            <a:srgbClr val="FFFFFF"/>
          </a:solidFill>
          <a:ln w="19050">
            <a:solidFill>
              <a:srgbClr val="028090"/>
            </a:solidFill>
            <a:prstDash val="solid"/>
          </a:ln>
        </p:spPr>
      </p:sp>
      <p:sp>
        <p:nvSpPr>
          <p:cNvPr id="13" name="Text 11"/>
          <p:cNvSpPr/>
          <p:nvPr/>
        </p:nvSpPr>
        <p:spPr>
          <a:xfrm>
            <a:off x="6355080" y="3840480"/>
            <a:ext cx="4983480" cy="457200"/>
          </a:xfrm>
          <a:prstGeom prst="rect">
            <a:avLst/>
          </a:prstGeom>
          <a:noFill/>
          <a:ln/>
        </p:spPr>
        <p:txBody>
          <a:bodyPr wrap="square" lIns="0" tIns="0" rIns="0" bIns="0" rtlCol="0" anchor="ctr"/>
          <a:lstStyle/>
          <a:p>
            <a:pPr indent="0" marL="0">
              <a:buNone/>
            </a:pPr>
            <a:r>
              <a:rPr lang="en-US" sz="1600" b="1" dirty="0">
                <a:solidFill>
                  <a:srgbClr val="028090"/>
                </a:solidFill>
                <a:latin typeface="Consolas" pitchFamily="34" charset="0"/>
                <a:ea typeface="Consolas" pitchFamily="34" charset="-122"/>
                <a:cs typeface="Consolas" pitchFamily="34" charset="-120"/>
              </a:rPr>
              <a:t>inference-router  (sidecar)</a:t>
            </a:r>
            <a:endParaRPr lang="en-US" sz="1600" dirty="0"/>
          </a:p>
        </p:txBody>
      </p:sp>
      <p:sp>
        <p:nvSpPr>
          <p:cNvPr id="14" name="Text 12"/>
          <p:cNvSpPr/>
          <p:nvPr/>
        </p:nvSpPr>
        <p:spPr>
          <a:xfrm>
            <a:off x="6355080" y="4343400"/>
            <a:ext cx="4617720" cy="1097280"/>
          </a:xfrm>
          <a:prstGeom prst="rect">
            <a:avLst/>
          </a:prstGeom>
          <a:noFill/>
          <a:ln/>
        </p:spPr>
        <p:txBody>
          <a:bodyPr wrap="square" lIns="0" tIns="0" rIns="0" bIns="0" rtlCol="0" anchor="ctr"/>
          <a:lstStyle/>
          <a:p>
            <a:pPr indent="0" marL="0">
              <a:buNone/>
            </a:pPr>
            <a:r>
              <a:rPr lang="en-US" sz="1100" dirty="0">
                <a:solidFill>
                  <a:srgbClr val="1A1A1A"/>
                </a:solidFill>
                <a:latin typeface="Consolas" pitchFamily="34" charset="0"/>
                <a:ea typeface="Consolas" pitchFamily="34" charset="-122"/>
                <a:cs typeface="Consolas" pitchFamily="34" charset="-120"/>
              </a:rPr>
              <a:t>UID 1001</a:t>
            </a:r>
            <a:endParaRPr lang="en-US" sz="1100" dirty="0"/>
          </a:p>
          <a:p>
            <a:pPr indent="0" marL="0">
              <a:buNone/>
            </a:pPr>
            <a:r>
              <a:rPr lang="en-US" sz="1100" dirty="0">
                <a:solidFill>
                  <a:srgbClr val="1A1A1A"/>
                </a:solidFill>
                <a:latin typeface="Consolas" pitchFamily="34" charset="0"/>
                <a:ea typeface="Consolas" pitchFamily="34" charset="-122"/>
                <a:cs typeface="Consolas" pitchFamily="34" charset="-120"/>
              </a:rPr>
              <a:t>LLM proxy + egress proxy</a:t>
            </a:r>
            <a:endParaRPr lang="en-US" sz="1100" dirty="0"/>
          </a:p>
          <a:p>
            <a:pPr indent="0" marL="0">
              <a:buNone/>
            </a:pPr>
            <a:r>
              <a:rPr lang="en-US" sz="1100" dirty="0">
                <a:solidFill>
                  <a:srgbClr val="1A1A1A"/>
                </a:solidFill>
                <a:latin typeface="Consolas" pitchFamily="34" charset="0"/>
                <a:ea typeface="Consolas" pitchFamily="34" charset="-122"/>
                <a:cs typeface="Consolas" pitchFamily="34" charset="-120"/>
              </a:rPr>
              <a:t>InferencePolicy + ToolPolicy</a:t>
            </a:r>
            <a:endParaRPr lang="en-US" sz="1100" dirty="0"/>
          </a:p>
          <a:p>
            <a:pPr indent="0" marL="0">
              <a:buNone/>
            </a:pPr>
            <a:r>
              <a:rPr lang="en-US" sz="1100" dirty="0">
                <a:solidFill>
                  <a:srgbClr val="1A1A1A"/>
                </a:solidFill>
                <a:latin typeface="Consolas" pitchFamily="34" charset="0"/>
                <a:ea typeface="Consolas" pitchFamily="34" charset="-122"/>
                <a:cs typeface="Consolas" pitchFamily="34" charset="-120"/>
              </a:rPr>
              <a:t>Content Safety + audit JSONL</a:t>
            </a:r>
            <a:endParaRPr lang="en-US" sz="1100" dirty="0"/>
          </a:p>
        </p:txBody>
      </p:sp>
      <p:sp>
        <p:nvSpPr>
          <p:cNvPr id="15" name="Text 13"/>
          <p:cNvSpPr/>
          <p:nvPr/>
        </p:nvSpPr>
        <p:spPr>
          <a:xfrm>
            <a:off x="640080" y="5943600"/>
            <a:ext cx="10881360" cy="457200"/>
          </a:xfrm>
          <a:prstGeom prst="rect">
            <a:avLst/>
          </a:prstGeom>
          <a:noFill/>
          <a:ln/>
        </p:spPr>
        <p:txBody>
          <a:bodyPr wrap="square" lIns="0" tIns="0" rIns="0" bIns="0" rtlCol="0" anchor="ctr"/>
          <a:lstStyle/>
          <a:p>
            <a:pPr indent="0" marL="0">
              <a:buNone/>
            </a:pPr>
            <a:r>
              <a:rPr lang="en-US" sz="1400" dirty="0">
                <a:solidFill>
                  <a:srgbClr val="6E7681"/>
                </a:solidFill>
                <a:latin typeface="Helvetica" pitchFamily="34" charset="0"/>
                <a:ea typeface="Helvetica" pitchFamily="34" charset="-122"/>
                <a:cs typeface="Helvetica" pitchFamily="34" charset="-120"/>
              </a:rPr>
              <a:t>The agent has exactly one network destination it can reach:  127.0.0.1:8443.</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06</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§3.1 · SANDBOX · THE GATE</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200" b="1" dirty="0">
                <a:solidFill>
                  <a:srgbClr val="1A1A1A"/>
                </a:solidFill>
                <a:latin typeface="Helvetica" pitchFamily="34" charset="0"/>
                <a:ea typeface="Helvetica" pitchFamily="34" charset="-122"/>
                <a:cs typeface="Helvetica" pitchFamily="34" charset="-120"/>
              </a:rPr>
              <a:t>Six iptables rules.</a:t>
            </a:r>
            <a:endParaRPr lang="en-US" sz="4200" dirty="0"/>
          </a:p>
        </p:txBody>
      </p:sp>
      <p:sp>
        <p:nvSpPr>
          <p:cNvPr id="5" name="Shape 3"/>
          <p:cNvSpPr/>
          <p:nvPr/>
        </p:nvSpPr>
        <p:spPr>
          <a:xfrm>
            <a:off x="640080" y="2377440"/>
            <a:ext cx="6400800" cy="3657600"/>
          </a:xfrm>
          <a:prstGeom prst="rect">
            <a:avLst/>
          </a:prstGeom>
          <a:solidFill>
            <a:srgbClr val="F6F8FA"/>
          </a:solidFill>
          <a:ln w="9525">
            <a:solidFill>
              <a:srgbClr val="E1E4E8"/>
            </a:solidFill>
            <a:prstDash val="solid"/>
          </a:ln>
        </p:spPr>
      </p:sp>
      <p:sp>
        <p:nvSpPr>
          <p:cNvPr id="6" name="Text 4"/>
          <p:cNvSpPr/>
          <p:nvPr/>
        </p:nvSpPr>
        <p:spPr>
          <a:xfrm>
            <a:off x="868680" y="2606040"/>
            <a:ext cx="5943600" cy="3200400"/>
          </a:xfrm>
          <a:prstGeom prst="rect">
            <a:avLst/>
          </a:prstGeom>
          <a:noFill/>
          <a:ln/>
        </p:spPr>
        <p:txBody>
          <a:bodyPr wrap="square" lIns="0" tIns="0" rIns="0" bIns="0" rtlCol="0" anchor="t"/>
          <a:lstStyle/>
          <a:p>
            <a:pPr algn="l" indent="0" marL="0">
              <a:buNone/>
            </a:pPr>
            <a:r>
              <a:rPr lang="en-US" sz="1200" dirty="0">
                <a:solidFill>
                  <a:srgbClr val="6E7681"/>
                </a:solidFill>
                <a:latin typeface="Consolas" pitchFamily="34" charset="0"/>
                <a:ea typeface="Consolas" pitchFamily="34" charset="-122"/>
                <a:cs typeface="Consolas" pitchFamily="34" charset="-120"/>
              </a:rPr>
              <a:t># init container, runs once as UID 0
</a:t>
            </a:r>
            <a:endParaRPr lang="en-US" sz="1200" dirty="0"/>
          </a:p>
          <a:p>
            <a:pPr algn="l" indent="0" marL="0">
              <a:buNone/>
            </a:pPr>
            <a:r>
              <a:rPr lang="en-US" sz="1200" dirty="0">
                <a:solidFill>
                  <a:srgbClr val="1A1A1A"/>
                </a:solidFill>
                <a:latin typeface="Consolas" pitchFamily="34" charset="0"/>
                <a:ea typeface="Consolas" pitchFamily="34" charset="-122"/>
                <a:cs typeface="Consolas" pitchFamily="34" charset="-120"/>
              </a:rPr>
              <a:t>iptables -A OUTPUT -m owner --uid-owner 1000 -o lo -j ACCEPT
</a:t>
            </a:r>
            <a:pPr algn="l" indent="0" marL="0">
              <a:buNone/>
            </a:pPr>
            <a:r>
              <a:rPr lang="en-US" sz="1200" dirty="0">
                <a:solidFill>
                  <a:srgbClr val="1A1A1A"/>
                </a:solidFill>
                <a:latin typeface="Consolas" pitchFamily="34" charset="0"/>
                <a:ea typeface="Consolas" pitchFamily="34" charset="-122"/>
                <a:cs typeface="Consolas" pitchFamily="34" charset="-120"/>
              </a:rPr>
              <a:t>iptables -A OUTPUT -m owner --uid-owner 1000 -p udp --dport 53 -j ACCEPT
</a:t>
            </a:r>
            <a:pPr algn="l" indent="0" marL="0">
              <a:buNone/>
            </a:pPr>
            <a:r>
              <a:rPr lang="en-US" sz="1200" dirty="0">
                <a:solidFill>
                  <a:srgbClr val="1A1A1A"/>
                </a:solidFill>
                <a:latin typeface="Consolas" pitchFamily="34" charset="0"/>
                <a:ea typeface="Consolas" pitchFamily="34" charset="-122"/>
                <a:cs typeface="Consolas" pitchFamily="34" charset="-120"/>
              </a:rPr>
              <a:t>iptables -A OUTPUT -m owner --uid-owner 1000 -p tcp --dport 53 -j ACCEPT
</a:t>
            </a:r>
            <a:pPr algn="l" indent="0" marL="0">
              <a:buNone/>
            </a:pPr>
            <a:r>
              <a:rPr lang="en-US" sz="1200" dirty="0">
                <a:solidFill>
                  <a:srgbClr val="1A1A1A"/>
                </a:solidFill>
                <a:latin typeface="Consolas" pitchFamily="34" charset="0"/>
                <a:ea typeface="Consolas" pitchFamily="34" charset="-122"/>
                <a:cs typeface="Consolas" pitchFamily="34" charset="-120"/>
              </a:rPr>
              <a:t>iptables -A OUTPUT -m owner --uid-owner 1000 -m conntrack \
        --ctstate ESTABLISHED,RELATED -j ACCEPT
</a:t>
            </a:r>
            <a:pPr algn="l" indent="0" marL="0">
              <a:buNone/>
            </a:pPr>
            <a:r>
              <a:rPr lang="en-US" sz="1200" dirty="0">
                <a:solidFill>
                  <a:srgbClr val="C53030"/>
                </a:solidFill>
                <a:latin typeface="Consolas" pitchFamily="34" charset="0"/>
                <a:ea typeface="Consolas" pitchFamily="34" charset="-122"/>
                <a:cs typeface="Consolas" pitchFamily="34" charset="-120"/>
              </a:rPr>
              <a:t>iptables -A OUTPUT -m owner --uid-owner 1000 -j DROP
</a:t>
            </a:r>
            <a:pPr algn="l" indent="0" marL="0">
              <a:buNone/>
            </a:pPr>
            <a:r>
              <a:rPr lang="en-US" sz="1200" dirty="0">
                <a:solidFill>
                  <a:srgbClr val="1A1A1A"/>
                </a:solidFill>
                <a:latin typeface="Consolas" pitchFamily="34" charset="0"/>
                <a:ea typeface="Consolas" pitchFamily="34" charset="-122"/>
                <a:cs typeface="Consolas" pitchFamily="34" charset="-120"/>
              </a:rPr>
              <a:t>iptables -t nat -A OUTPUT -m owner --uid-owner 1000 ! -o lo \
        -p tcp --dport 80  -j REDIRECT --to-port 8444
</a:t>
            </a:r>
            <a:pPr algn="l" indent="0" marL="0">
              <a:buNone/>
            </a:pPr>
            <a:r>
              <a:rPr lang="en-US" sz="1200" dirty="0">
                <a:solidFill>
                  <a:srgbClr val="1A1A1A"/>
                </a:solidFill>
                <a:latin typeface="Consolas" pitchFamily="34" charset="0"/>
                <a:ea typeface="Consolas" pitchFamily="34" charset="-122"/>
                <a:cs typeface="Consolas" pitchFamily="34" charset="-120"/>
              </a:rPr>
              <a:t>iptables -t nat -A OUTPUT -m owner --uid-owner 1000 ! -o lo \
        -p tcp --dport 443 -j REDIRECT --to-port 8444
</a:t>
            </a:r>
            <a:endParaRPr lang="en-US" sz="1200" dirty="0"/>
          </a:p>
        </p:txBody>
      </p:sp>
      <p:sp>
        <p:nvSpPr>
          <p:cNvPr id="7" name="Text 5"/>
          <p:cNvSpPr/>
          <p:nvPr/>
        </p:nvSpPr>
        <p:spPr>
          <a:xfrm>
            <a:off x="7406640" y="2377440"/>
            <a:ext cx="4114800" cy="3657600"/>
          </a:xfrm>
          <a:prstGeom prst="rect">
            <a:avLst/>
          </a:prstGeom>
          <a:noFill/>
          <a:ln/>
        </p:spPr>
        <p:txBody>
          <a:bodyPr wrap="square" lIns="0" tIns="0" rIns="0" bIns="0" rtlCol="0" anchor="t"/>
          <a:lstStyle/>
          <a:p>
            <a:pPr algn="l" indent="0" marL="0">
              <a:spcAft>
                <a:spcPts val="800"/>
              </a:spcAft>
              <a:buNone/>
            </a:pPr>
            <a:r>
              <a:rPr lang="en-US" sz="1400" dirty="0">
                <a:solidFill>
                  <a:srgbClr val="1A1A1A"/>
                </a:solidFill>
                <a:latin typeface="Helvetica" pitchFamily="34" charset="0"/>
                <a:ea typeface="Helvetica" pitchFamily="34" charset="-122"/>
                <a:cs typeface="Helvetica" pitchFamily="34" charset="-120"/>
              </a:rPr>
              <a:t>UID 1000 is the agent.  UID 1001 is the inference-router sidecar — distinct user, so the rules apply only to agent traffic.</a:t>
            </a:r>
            <a:endParaRPr lang="en-US" sz="1400" dirty="0"/>
          </a:p>
          <a:p>
            <a:pPr algn="l" indent="0" marL="0">
              <a:spcAft>
                <a:spcPts val="800"/>
              </a:spcAft>
              <a:buNone/>
            </a:pPr>
            <a:r>
              <a:rPr lang="en-US" sz="1400" dirty="0">
                <a:solidFill>
                  <a:srgbClr val="1A1A1A"/>
                </a:solidFill>
                <a:latin typeface="Helvetica" pitchFamily="34" charset="0"/>
                <a:ea typeface="Helvetica" pitchFamily="34" charset="-122"/>
                <a:cs typeface="Helvetica" pitchFamily="34" charset="-120"/>
              </a:rPr>
              <a:t>Lines 5 + 6 fail closed:  any outbound the agent didn't get through loopback or DNS gets dropped.</a:t>
            </a:r>
            <a:endParaRPr lang="en-US" sz="1400" dirty="0"/>
          </a:p>
          <a:p>
            <a:pPr algn="l" indent="0" marL="0">
              <a:spcAft>
                <a:spcPts val="800"/>
              </a:spcAft>
              <a:buNone/>
            </a:pPr>
            <a:r>
              <a:rPr lang="en-US" sz="1400" dirty="0">
                <a:solidFill>
                  <a:srgbClr val="1A1A1A"/>
                </a:solidFill>
                <a:latin typeface="Helvetica" pitchFamily="34" charset="0"/>
                <a:ea typeface="Helvetica" pitchFamily="34" charset="-122"/>
                <a:cs typeface="Helvetica" pitchFamily="34" charset="-120"/>
              </a:rPr>
              <a:t>Lines 6 + 7 are why the agent can still talk to the world:  ports 80 and 443 are NAT-redirected to the router's transparent proxy on :8444, where every call is policy-checked and audited.</a:t>
            </a:r>
            <a:endParaRPr lang="en-US" sz="1400" dirty="0"/>
          </a:p>
        </p:txBody>
      </p:sp>
      <p:sp>
        <p:nvSpPr>
          <p:cNvPr id="8" name="Text 6"/>
          <p:cNvSpPr/>
          <p:nvPr/>
        </p:nvSpPr>
        <p:spPr>
          <a:xfrm>
            <a:off x="640080" y="6217920"/>
            <a:ext cx="10881360" cy="274320"/>
          </a:xfrm>
          <a:prstGeom prst="rect">
            <a:avLst/>
          </a:prstGeom>
          <a:noFill/>
          <a:ln/>
        </p:spPr>
        <p:txBody>
          <a:bodyPr wrap="square" lIns="0" tIns="0" rIns="0" bIns="0" rtlCol="0" anchor="ctr"/>
          <a:lstStyle/>
          <a:p>
            <a:pPr indent="0" marL="0">
              <a:buNone/>
            </a:pPr>
            <a:r>
              <a:rPr lang="en-US" sz="1000" dirty="0">
                <a:solidFill>
                  <a:srgbClr val="AFB3BD"/>
                </a:solidFill>
                <a:latin typeface="Consolas" pitchFamily="34" charset="0"/>
                <a:ea typeface="Consolas" pitchFamily="34" charset="-122"/>
                <a:cs typeface="Consolas" pitchFamily="34" charset="-120"/>
              </a:rPr>
              <a:t>controller/src/reconciler/mod.rs:1916-1958</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07</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§3.2 · MESH</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200" b="1" dirty="0">
                <a:solidFill>
                  <a:srgbClr val="1A1A1A"/>
                </a:solidFill>
                <a:latin typeface="Helvetica" pitchFamily="34" charset="0"/>
                <a:ea typeface="Helvetica" pitchFamily="34" charset="-122"/>
                <a:cs typeface="Helvetica" pitchFamily="34" charset="-120"/>
              </a:rPr>
              <a:t>Agents authenticate each other.</a:t>
            </a:r>
            <a:endParaRPr lang="en-US" sz="4200" dirty="0"/>
          </a:p>
        </p:txBody>
      </p:sp>
      <p:sp>
        <p:nvSpPr>
          <p:cNvPr id="5" name="Text 3"/>
          <p:cNvSpPr/>
          <p:nvPr/>
        </p:nvSpPr>
        <p:spPr>
          <a:xfrm>
            <a:off x="640080" y="2286000"/>
            <a:ext cx="10881360" cy="128016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Every inter-agent message rides Signal Protocol:  Ed25519 + X25519 identities, X3DH for session establishment, Double Ratchet for forward-secret message keys. The relay routes opaque bytes and never sees plaintext.</a:t>
            </a:r>
            <a:endParaRPr lang="en-US" sz="1800" dirty="0"/>
          </a:p>
        </p:txBody>
      </p:sp>
      <p:sp>
        <p:nvSpPr>
          <p:cNvPr id="6" name="Shape 4"/>
          <p:cNvSpPr/>
          <p:nvPr/>
        </p:nvSpPr>
        <p:spPr>
          <a:xfrm>
            <a:off x="640080" y="3520440"/>
            <a:ext cx="6035040" cy="3246120"/>
          </a:xfrm>
          <a:prstGeom prst="rect">
            <a:avLst/>
          </a:prstGeom>
          <a:solidFill>
            <a:srgbClr val="F6F8FA"/>
          </a:solidFill>
          <a:ln w="9525">
            <a:solidFill>
              <a:srgbClr val="E1E4E8"/>
            </a:solidFill>
            <a:prstDash val="solid"/>
          </a:ln>
        </p:spPr>
      </p:sp>
      <p:sp>
        <p:nvSpPr>
          <p:cNvPr id="7" name="Text 5"/>
          <p:cNvSpPr/>
          <p:nvPr/>
        </p:nvSpPr>
        <p:spPr>
          <a:xfrm>
            <a:off x="868680" y="3749040"/>
            <a:ext cx="5577840" cy="2788920"/>
          </a:xfrm>
          <a:prstGeom prst="rect">
            <a:avLst/>
          </a:prstGeom>
          <a:noFill/>
          <a:ln/>
        </p:spPr>
        <p:txBody>
          <a:bodyPr wrap="square" lIns="0" tIns="0" rIns="0" bIns="0" rtlCol="0" anchor="t"/>
          <a:lstStyle/>
          <a:p>
            <a:pPr algn="l" indent="0" marL="0">
              <a:buNone/>
            </a:pPr>
            <a:r>
              <a:rPr lang="en-US" sz="1100" dirty="0">
                <a:solidFill>
                  <a:srgbClr val="1A1A1A"/>
                </a:solidFill>
                <a:latin typeface="Consolas" pitchFamily="34" charset="0"/>
                <a:ea typeface="Consolas" pitchFamily="34" charset="-122"/>
                <a:cs typeface="Consolas" pitchFamily="34" charset="-120"/>
              </a:rPr>
              <a:t>{
</a:t>
            </a:r>
            <a:pPr algn="l" indent="0" marL="0">
              <a:buNone/>
            </a:pPr>
            <a:r>
              <a:rPr lang="en-US" sz="1100" dirty="0">
                <a:solidFill>
                  <a:srgbClr val="C53030"/>
                </a:solidFill>
                <a:latin typeface="Consolas" pitchFamily="34" charset="0"/>
                <a:ea typeface="Consolas" pitchFamily="34" charset="-122"/>
                <a:cs typeface="Consolas" pitchFamily="34" charset="-120"/>
              </a:rPr>
              <a:t>  "v": </a:t>
            </a:r>
            <a:pPr algn="l" indent="0" marL="0">
              <a:buNone/>
            </a:pPr>
            <a:r>
              <a:rPr lang="en-US" sz="1100" dirty="0">
                <a:solidFill>
                  <a:srgbClr val="276749"/>
                </a:solidFill>
                <a:latin typeface="Consolas" pitchFamily="34" charset="0"/>
                <a:ea typeface="Consolas" pitchFamily="34" charset="-122"/>
                <a:cs typeface="Consolas" pitchFamily="34" charset="-120"/>
              </a:rPr>
              <a:t>1,
</a:t>
            </a:r>
            <a:pPr algn="l" indent="0" marL="0">
              <a:buNone/>
            </a:pPr>
            <a:r>
              <a:rPr lang="en-US" sz="1100" dirty="0">
                <a:solidFill>
                  <a:srgbClr val="C53030"/>
                </a:solidFill>
                <a:latin typeface="Consolas" pitchFamily="34" charset="0"/>
                <a:ea typeface="Consolas" pitchFamily="34" charset="-122"/>
                <a:cs typeface="Consolas" pitchFamily="34" charset="-120"/>
              </a:rPr>
              <a:t>  "type": </a:t>
            </a:r>
            <a:pPr algn="l" indent="0" marL="0">
              <a:buNone/>
            </a:pPr>
            <a:r>
              <a:rPr lang="en-US" sz="1100" dirty="0">
                <a:solidFill>
                  <a:srgbClr val="276749"/>
                </a:solidFill>
                <a:latin typeface="Consolas" pitchFamily="34" charset="0"/>
                <a:ea typeface="Consolas" pitchFamily="34" charset="-122"/>
                <a:cs typeface="Consolas" pitchFamily="34" charset="-120"/>
              </a:rPr>
              <a:t>"knock",
</a:t>
            </a:r>
            <a:pPr algn="l" indent="0" marL="0">
              <a:buNone/>
            </a:pPr>
            <a:r>
              <a:rPr lang="en-US" sz="1100" dirty="0">
                <a:solidFill>
                  <a:srgbClr val="C53030"/>
                </a:solidFill>
                <a:latin typeface="Consolas" pitchFamily="34" charset="0"/>
                <a:ea typeface="Consolas" pitchFamily="34" charset="-122"/>
                <a:cs typeface="Consolas" pitchFamily="34" charset="-120"/>
              </a:rPr>
              <a:t>  "from": </a:t>
            </a:r>
            <a:pPr algn="l" indent="0" marL="0">
              <a:buNone/>
            </a:pPr>
            <a:r>
              <a:rPr lang="en-US" sz="1100" dirty="0">
                <a:solidFill>
                  <a:srgbClr val="276749"/>
                </a:solidFill>
                <a:latin typeface="Consolas" pitchFamily="34" charset="0"/>
                <a:ea typeface="Consolas" pitchFamily="34" charset="-122"/>
                <a:cs typeface="Consolas" pitchFamily="34" charset="-120"/>
              </a:rPr>
              <a:t>"did:mesh:7f3a…",
</a:t>
            </a:r>
            <a:pPr algn="l" indent="0" marL="0">
              <a:buNone/>
            </a:pPr>
            <a:r>
              <a:rPr lang="en-US" sz="1100" dirty="0">
                <a:solidFill>
                  <a:srgbClr val="C53030"/>
                </a:solidFill>
                <a:latin typeface="Consolas" pitchFamily="34" charset="0"/>
                <a:ea typeface="Consolas" pitchFamily="34" charset="-122"/>
                <a:cs typeface="Consolas" pitchFamily="34" charset="-120"/>
              </a:rPr>
              <a:t>  "to":   </a:t>
            </a:r>
            <a:pPr algn="l" indent="0" marL="0">
              <a:buNone/>
            </a:pPr>
            <a:r>
              <a:rPr lang="en-US" sz="1100" dirty="0">
                <a:solidFill>
                  <a:srgbClr val="276749"/>
                </a:solidFill>
                <a:latin typeface="Consolas" pitchFamily="34" charset="0"/>
                <a:ea typeface="Consolas" pitchFamily="34" charset="-122"/>
                <a:cs typeface="Consolas" pitchFamily="34" charset="-120"/>
              </a:rPr>
              <a:t>"did:mesh:b210…",
</a:t>
            </a:r>
            <a:pPr algn="l" indent="0" marL="0">
              <a:buNone/>
            </a:pPr>
            <a:r>
              <a:rPr lang="en-US" sz="1100" dirty="0">
                <a:solidFill>
                  <a:srgbClr val="C53030"/>
                </a:solidFill>
                <a:latin typeface="Consolas" pitchFamily="34" charset="0"/>
                <a:ea typeface="Consolas" pitchFamily="34" charset="-122"/>
                <a:cs typeface="Consolas" pitchFamily="34" charset="-120"/>
              </a:rPr>
              <a:t>  "id":   </a:t>
            </a:r>
            <a:pPr algn="l" indent="0" marL="0">
              <a:buNone/>
            </a:pPr>
            <a:r>
              <a:rPr lang="en-US" sz="1100" dirty="0">
                <a:solidFill>
                  <a:srgbClr val="276749"/>
                </a:solidFill>
                <a:latin typeface="Consolas" pitchFamily="34" charset="0"/>
                <a:ea typeface="Consolas" pitchFamily="34" charset="-122"/>
                <a:cs typeface="Consolas" pitchFamily="34" charset="-120"/>
              </a:rPr>
              <a:t>"k-9c0d7e",
</a:t>
            </a:r>
            <a:pPr algn="l" indent="0" marL="0">
              <a:buNone/>
            </a:pPr>
            <a:r>
              <a:rPr lang="en-US" sz="1100" dirty="0">
                <a:solidFill>
                  <a:srgbClr val="C53030"/>
                </a:solidFill>
                <a:latin typeface="Consolas" pitchFamily="34" charset="0"/>
                <a:ea typeface="Consolas" pitchFamily="34" charset="-122"/>
                <a:cs typeface="Consolas" pitchFamily="34" charset="-120"/>
              </a:rPr>
              <a:t>  "ts":   </a:t>
            </a:r>
            <a:pPr algn="l" indent="0" marL="0">
              <a:buNone/>
            </a:pPr>
            <a:r>
              <a:rPr lang="en-US" sz="1100" dirty="0">
                <a:solidFill>
                  <a:srgbClr val="276749"/>
                </a:solidFill>
                <a:latin typeface="Consolas" pitchFamily="34" charset="0"/>
                <a:ea typeface="Consolas" pitchFamily="34" charset="-122"/>
                <a:cs typeface="Consolas" pitchFamily="34" charset="-120"/>
              </a:rPr>
              <a:t>"2026-06-08T14:23:11Z",
</a:t>
            </a:r>
            <a:pPr algn="l" indent="0" marL="0">
              <a:buNone/>
            </a:pPr>
            <a:r>
              <a:rPr lang="en-US" sz="1100" dirty="0">
                <a:solidFill>
                  <a:srgbClr val="C53030"/>
                </a:solidFill>
                <a:latin typeface="Consolas" pitchFamily="34" charset="0"/>
                <a:ea typeface="Consolas" pitchFamily="34" charset="-122"/>
                <a:cs typeface="Consolas" pitchFamily="34" charset="-120"/>
              </a:rPr>
              <a:t>  "intent": </a:t>
            </a:r>
            <a:pPr algn="l" indent="0" marL="0">
              <a:buNone/>
            </a:pPr>
            <a:r>
              <a:rPr lang="en-US" sz="1100" dirty="0">
                <a:solidFill>
                  <a:srgbClr val="276749"/>
                </a:solidFill>
                <a:latin typeface="Consolas" pitchFamily="34" charset="0"/>
                <a:ea typeface="Consolas" pitchFamily="34" charset="-122"/>
                <a:cs typeface="Consolas" pitchFamily="34" charset="-120"/>
              </a:rPr>
              <a:t>"tool.invoke",
</a:t>
            </a:r>
            <a:pPr algn="l" indent="0" marL="0">
              <a:buNone/>
            </a:pPr>
            <a:r>
              <a:rPr lang="en-US" sz="1100" dirty="0">
                <a:solidFill>
                  <a:srgbClr val="1A1A1A"/>
                </a:solidFill>
                <a:latin typeface="Consolas" pitchFamily="34" charset="0"/>
                <a:ea typeface="Consolas" pitchFamily="34" charset="-122"/>
                <a:cs typeface="Consolas" pitchFamily="34" charset="-120"/>
              </a:rPr>
              <a:t>  "establishment": {
</a:t>
            </a:r>
            <a:pPr algn="l" indent="0" marL="0">
              <a:buNone/>
            </a:pPr>
            <a:r>
              <a:rPr lang="en-US" sz="1100" dirty="0">
                <a:solidFill>
                  <a:srgbClr val="C53030"/>
                </a:solidFill>
                <a:latin typeface="Consolas" pitchFamily="34" charset="0"/>
                <a:ea typeface="Consolas" pitchFamily="34" charset="-122"/>
                <a:cs typeface="Consolas" pitchFamily="34" charset="-120"/>
              </a:rPr>
              <a:t>    "ik": </a:t>
            </a:r>
            <a:pPr algn="l" indent="0" marL="0">
              <a:buNone/>
            </a:pPr>
            <a:r>
              <a:rPr lang="en-US" sz="1100" dirty="0">
                <a:solidFill>
                  <a:srgbClr val="276749"/>
                </a:solidFill>
                <a:latin typeface="Consolas" pitchFamily="34" charset="0"/>
                <a:ea typeface="Consolas" pitchFamily="34" charset="-122"/>
                <a:cs typeface="Consolas" pitchFamily="34" charset="-120"/>
              </a:rPr>
              <a:t>"…",  </a:t>
            </a:r>
            <a:pPr algn="l" indent="0" marL="0">
              <a:buNone/>
            </a:pPr>
            <a:r>
              <a:rPr lang="en-US" sz="1100" dirty="0">
                <a:solidFill>
                  <a:srgbClr val="6E7681"/>
                </a:solidFill>
                <a:latin typeface="Consolas" pitchFamily="34" charset="0"/>
                <a:ea typeface="Consolas" pitchFamily="34" charset="-122"/>
                <a:cs typeface="Consolas" pitchFamily="34" charset="-120"/>
              </a:rPr>
              <a:t>// X25519 identity key
</a:t>
            </a:r>
            <a:pPr algn="l" indent="0" marL="0">
              <a:buNone/>
            </a:pPr>
            <a:r>
              <a:rPr lang="en-US" sz="1100" dirty="0">
                <a:solidFill>
                  <a:srgbClr val="C53030"/>
                </a:solidFill>
                <a:latin typeface="Consolas" pitchFamily="34" charset="0"/>
                <a:ea typeface="Consolas" pitchFamily="34" charset="-122"/>
                <a:cs typeface="Consolas" pitchFamily="34" charset="-120"/>
              </a:rPr>
              <a:t>    "ek": </a:t>
            </a:r>
            <a:pPr algn="l" indent="0" marL="0">
              <a:buNone/>
            </a:pPr>
            <a:r>
              <a:rPr lang="en-US" sz="1100" dirty="0">
                <a:solidFill>
                  <a:srgbClr val="276749"/>
                </a:solidFill>
                <a:latin typeface="Consolas" pitchFamily="34" charset="0"/>
                <a:ea typeface="Consolas" pitchFamily="34" charset="-122"/>
                <a:cs typeface="Consolas" pitchFamily="34" charset="-120"/>
              </a:rPr>
              <a:t>"…",  </a:t>
            </a:r>
            <a:pPr algn="l" indent="0" marL="0">
              <a:buNone/>
            </a:pPr>
            <a:r>
              <a:rPr lang="en-US" sz="1100" dirty="0">
                <a:solidFill>
                  <a:srgbClr val="6E7681"/>
                </a:solidFill>
                <a:latin typeface="Consolas" pitchFamily="34" charset="0"/>
                <a:ea typeface="Consolas" pitchFamily="34" charset="-122"/>
                <a:cs typeface="Consolas" pitchFamily="34" charset="-120"/>
              </a:rPr>
              <a:t>// ephemeral key
</a:t>
            </a:r>
            <a:pPr algn="l" indent="0" marL="0">
              <a:buNone/>
            </a:pPr>
            <a:r>
              <a:rPr lang="en-US" sz="1100" dirty="0">
                <a:solidFill>
                  <a:srgbClr val="C53030"/>
                </a:solidFill>
                <a:latin typeface="Consolas" pitchFamily="34" charset="0"/>
                <a:ea typeface="Consolas" pitchFamily="34" charset="-122"/>
                <a:cs typeface="Consolas" pitchFamily="34" charset="-120"/>
              </a:rPr>
              <a:t>    "spk_id": </a:t>
            </a:r>
            <a:pPr algn="l" indent="0" marL="0">
              <a:buNone/>
            </a:pPr>
            <a:r>
              <a:rPr lang="en-US" sz="1100" dirty="0">
                <a:solidFill>
                  <a:srgbClr val="276749"/>
                </a:solidFill>
                <a:latin typeface="Consolas" pitchFamily="34" charset="0"/>
                <a:ea typeface="Consolas" pitchFamily="34" charset="-122"/>
                <a:cs typeface="Consolas" pitchFamily="34" charset="-120"/>
              </a:rPr>
              <a:t>42,   </a:t>
            </a:r>
            <a:pPr algn="l" indent="0" marL="0">
              <a:buNone/>
            </a:pPr>
            <a:r>
              <a:rPr lang="en-US" sz="1100" dirty="0">
                <a:solidFill>
                  <a:srgbClr val="6E7681"/>
                </a:solidFill>
                <a:latin typeface="Consolas" pitchFamily="34" charset="0"/>
                <a:ea typeface="Consolas" pitchFamily="34" charset="-122"/>
                <a:cs typeface="Consolas" pitchFamily="34" charset="-120"/>
              </a:rPr>
              <a:t>// signed prekey id
</a:t>
            </a:r>
            <a:pPr algn="l" indent="0" marL="0">
              <a:buNone/>
            </a:pPr>
            <a:r>
              <a:rPr lang="en-US" sz="1100" dirty="0">
                <a:solidFill>
                  <a:srgbClr val="C53030"/>
                </a:solidFill>
                <a:latin typeface="Consolas" pitchFamily="34" charset="0"/>
                <a:ea typeface="Consolas" pitchFamily="34" charset="-122"/>
                <a:cs typeface="Consolas" pitchFamily="34" charset="-120"/>
              </a:rPr>
              <a:t>    "otk_id": </a:t>
            </a:r>
            <a:pPr algn="l" indent="0" marL="0">
              <a:buNone/>
            </a:pPr>
            <a:r>
              <a:rPr lang="en-US" sz="1100" dirty="0">
                <a:solidFill>
                  <a:srgbClr val="276749"/>
                </a:solidFill>
                <a:latin typeface="Consolas" pitchFamily="34" charset="0"/>
                <a:ea typeface="Consolas" pitchFamily="34" charset="-122"/>
                <a:cs typeface="Consolas" pitchFamily="34" charset="-120"/>
              </a:rPr>
              <a:t>117   </a:t>
            </a:r>
            <a:pPr algn="l" indent="0" marL="0">
              <a:buNone/>
            </a:pPr>
            <a:r>
              <a:rPr lang="en-US" sz="1100" dirty="0">
                <a:solidFill>
                  <a:srgbClr val="6E7681"/>
                </a:solidFill>
                <a:latin typeface="Consolas" pitchFamily="34" charset="0"/>
                <a:ea typeface="Consolas" pitchFamily="34" charset="-122"/>
                <a:cs typeface="Consolas" pitchFamily="34" charset="-120"/>
              </a:rPr>
              <a:t>// one-time prekey id
</a:t>
            </a:r>
            <a:pPr algn="l" indent="0" marL="0">
              <a:buNone/>
            </a:pPr>
            <a:r>
              <a:rPr lang="en-US" sz="1100" dirty="0">
                <a:solidFill>
                  <a:srgbClr val="1A1A1A"/>
                </a:solidFill>
                <a:latin typeface="Consolas" pitchFamily="34" charset="0"/>
                <a:ea typeface="Consolas" pitchFamily="34" charset="-122"/>
                <a:cs typeface="Consolas" pitchFamily="34" charset="-120"/>
              </a:rPr>
              <a:t>  }
}
</a:t>
            </a:r>
            <a:endParaRPr lang="en-US" sz="1100" dirty="0"/>
          </a:p>
        </p:txBody>
      </p:sp>
      <p:sp>
        <p:nvSpPr>
          <p:cNvPr id="8" name="Text 6"/>
          <p:cNvSpPr/>
          <p:nvPr/>
        </p:nvSpPr>
        <p:spPr>
          <a:xfrm>
            <a:off x="7406640" y="3520440"/>
            <a:ext cx="4114800" cy="365760"/>
          </a:xfrm>
          <a:prstGeom prst="rect">
            <a:avLst/>
          </a:prstGeom>
          <a:noFill/>
          <a:ln/>
        </p:spPr>
        <p:txBody>
          <a:bodyPr wrap="square" lIns="0" tIns="0" rIns="0" bIns="0" rtlCol="0" anchor="ctr"/>
          <a:lstStyle/>
          <a:p>
            <a:pPr indent="0" marL="0">
              <a:buNone/>
            </a:pPr>
            <a:r>
              <a:rPr lang="en-US" sz="1800" b="1" dirty="0">
                <a:solidFill>
                  <a:srgbClr val="1A1A1A"/>
                </a:solidFill>
                <a:latin typeface="Helvetica" pitchFamily="34" charset="0"/>
                <a:ea typeface="Helvetica" pitchFamily="34" charset="-122"/>
                <a:cs typeface="Helvetica" pitchFamily="34" charset="-120"/>
              </a:rPr>
              <a:t>The KNOCK frame</a:t>
            </a:r>
            <a:endParaRPr lang="en-US" sz="1800" dirty="0"/>
          </a:p>
        </p:txBody>
      </p:sp>
      <p:sp>
        <p:nvSpPr>
          <p:cNvPr id="9" name="Text 7"/>
          <p:cNvSpPr/>
          <p:nvPr/>
        </p:nvSpPr>
        <p:spPr>
          <a:xfrm>
            <a:off x="7406640" y="3977640"/>
            <a:ext cx="4114800" cy="2743200"/>
          </a:xfrm>
          <a:prstGeom prst="rect">
            <a:avLst/>
          </a:prstGeom>
          <a:noFill/>
          <a:ln/>
        </p:spPr>
        <p:txBody>
          <a:bodyPr wrap="square" lIns="0" tIns="0" rIns="0" bIns="0" rtlCol="0" anchor="ctr"/>
          <a:lstStyle/>
          <a:p>
            <a:pPr indent="0" marL="0">
              <a:spcAft>
                <a:spcPts val="600"/>
              </a:spcAft>
              <a:buNone/>
            </a:pPr>
            <a:r>
              <a:rPr lang="en-US" sz="1300" dirty="0">
                <a:solidFill>
                  <a:srgbClr val="1A1A1A"/>
                </a:solidFill>
                <a:latin typeface="Helvetica" pitchFamily="34" charset="0"/>
                <a:ea typeface="Helvetica" pitchFamily="34" charset="-122"/>
                <a:cs typeface="Helvetica" pitchFamily="34" charset="-120"/>
              </a:rPr>
              <a:t>Carries the initiator's X3DH establishment.  Receiver's policy hook gates accept BEFORE the session opens.</a:t>
            </a:r>
            <a:endParaRPr lang="en-US" sz="1300" dirty="0"/>
          </a:p>
          <a:p>
            <a:pPr indent="0" marL="0">
              <a:spcAft>
                <a:spcPts val="600"/>
              </a:spcAft>
              <a:buNone/>
            </a:pPr>
            <a:r>
              <a:rPr lang="en-US" sz="600" dirty="0">
                <a:solidFill>
                  <a:srgbClr val="1A1A1A"/>
                </a:solidFill>
                <a:latin typeface="Helvetica" pitchFamily="34" charset="0"/>
                <a:ea typeface="Helvetica" pitchFamily="34" charset="-122"/>
                <a:cs typeface="Helvetica" pitchFamily="34" charset="-120"/>
              </a:rPr>
              <a:t> </a:t>
            </a:r>
            <a:endParaRPr lang="en-US" sz="1300" dirty="0"/>
          </a:p>
          <a:p>
            <a:pPr indent="0" marL="0">
              <a:spcAft>
                <a:spcPts val="600"/>
              </a:spcAft>
              <a:buNone/>
            </a:pPr>
            <a:r>
              <a:rPr lang="en-US" sz="1300" dirty="0">
                <a:solidFill>
                  <a:srgbClr val="1A1A1A"/>
                </a:solidFill>
                <a:latin typeface="Helvetica" pitchFamily="34" charset="0"/>
                <a:ea typeface="Helvetica" pitchFamily="34" charset="-122"/>
                <a:cs typeface="Helvetica" pitchFamily="34" charset="-120"/>
              </a:rPr>
              <a:t>Once accepted, all subsequent frames use Double Ratchet keys.  Compromising one frame's key does not compromise past frames.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08</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§3.3 · GOVERNANCE</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200" b="1" dirty="0">
                <a:solidFill>
                  <a:srgbClr val="1A1A1A"/>
                </a:solidFill>
                <a:latin typeface="Helvetica" pitchFamily="34" charset="0"/>
                <a:ea typeface="Helvetica" pitchFamily="34" charset="-122"/>
                <a:cs typeface="Helvetica" pitchFamily="34" charset="-120"/>
              </a:rPr>
              <a:t>Policy is data.</a:t>
            </a:r>
            <a:endParaRPr lang="en-US" sz="4200" dirty="0"/>
          </a:p>
        </p:txBody>
      </p:sp>
      <p:sp>
        <p:nvSpPr>
          <p:cNvPr id="5" name="Shape 3"/>
          <p:cNvSpPr/>
          <p:nvPr/>
        </p:nvSpPr>
        <p:spPr>
          <a:xfrm>
            <a:off x="640080" y="2286000"/>
            <a:ext cx="6400800" cy="3840480"/>
          </a:xfrm>
          <a:prstGeom prst="rect">
            <a:avLst/>
          </a:prstGeom>
          <a:solidFill>
            <a:srgbClr val="F6F8FA"/>
          </a:solidFill>
          <a:ln w="9525">
            <a:solidFill>
              <a:srgbClr val="E1E4E8"/>
            </a:solidFill>
            <a:prstDash val="solid"/>
          </a:ln>
        </p:spPr>
      </p:sp>
      <p:sp>
        <p:nvSpPr>
          <p:cNvPr id="6" name="Text 4"/>
          <p:cNvSpPr/>
          <p:nvPr/>
        </p:nvSpPr>
        <p:spPr>
          <a:xfrm>
            <a:off x="868680" y="2514600"/>
            <a:ext cx="5943600" cy="3383280"/>
          </a:xfrm>
          <a:prstGeom prst="rect">
            <a:avLst/>
          </a:prstGeom>
          <a:noFill/>
          <a:ln/>
        </p:spPr>
        <p:txBody>
          <a:bodyPr wrap="square" lIns="0" tIns="0" rIns="0" bIns="0" rtlCol="0" anchor="t"/>
          <a:lstStyle/>
          <a:p>
            <a:pPr algn="l" indent="0" marL="0">
              <a:buNone/>
            </a:pPr>
            <a:r>
              <a:rPr lang="en-US" sz="1200" dirty="0">
                <a:solidFill>
                  <a:srgbClr val="C53030"/>
                </a:solidFill>
                <a:latin typeface="Consolas" pitchFamily="34" charset="0"/>
                <a:ea typeface="Consolas" pitchFamily="34" charset="-122"/>
                <a:cs typeface="Consolas" pitchFamily="34" charset="-120"/>
              </a:rPr>
              <a:t>apiVersion: </a:t>
            </a:r>
            <a:pPr algn="l" indent="0" marL="0">
              <a:buNone/>
            </a:pPr>
            <a:r>
              <a:rPr lang="en-US" sz="1200" dirty="0">
                <a:solidFill>
                  <a:srgbClr val="276749"/>
                </a:solidFill>
                <a:latin typeface="Consolas" pitchFamily="34" charset="0"/>
                <a:ea typeface="Consolas" pitchFamily="34" charset="-122"/>
                <a:cs typeface="Consolas" pitchFamily="34" charset="-120"/>
              </a:rPr>
              <a:t>kars.azure.com/v1alpha1
</a:t>
            </a:r>
            <a:pPr algn="l" indent="0" marL="0">
              <a:buNone/>
            </a:pPr>
            <a:r>
              <a:rPr lang="en-US" sz="1200" dirty="0">
                <a:solidFill>
                  <a:srgbClr val="C53030"/>
                </a:solidFill>
                <a:latin typeface="Consolas" pitchFamily="34" charset="0"/>
                <a:ea typeface="Consolas" pitchFamily="34" charset="-122"/>
                <a:cs typeface="Consolas" pitchFamily="34" charset="-120"/>
              </a:rPr>
              <a:t>kind: </a:t>
            </a:r>
            <a:pPr algn="l" indent="0" marL="0">
              <a:buNone/>
            </a:pPr>
            <a:r>
              <a:rPr lang="en-US" sz="1200" dirty="0">
                <a:solidFill>
                  <a:srgbClr val="276749"/>
                </a:solidFill>
                <a:latin typeface="Consolas" pitchFamily="34" charset="0"/>
                <a:ea typeface="Consolas" pitchFamily="34" charset="-122"/>
                <a:cs typeface="Consolas" pitchFamily="34" charset="-120"/>
              </a:rPr>
              <a:t>InferencePolicy
</a:t>
            </a:r>
            <a:pPr algn="l" indent="0" marL="0">
              <a:buNone/>
            </a:pPr>
            <a:r>
              <a:rPr lang="en-US" sz="1200" dirty="0">
                <a:solidFill>
                  <a:srgbClr val="1A1A1A"/>
                </a:solidFill>
                <a:latin typeface="Consolas" pitchFamily="34" charset="0"/>
                <a:ea typeface="Consolas" pitchFamily="34" charset="-122"/>
                <a:cs typeface="Consolas" pitchFamily="34" charset="-120"/>
              </a:rPr>
              <a:t>metadata:
  name: research-agent-policy
</a:t>
            </a:r>
            <a:pPr algn="l" indent="0" marL="0">
              <a:buNone/>
            </a:pPr>
            <a:r>
              <a:rPr lang="en-US" sz="1200" dirty="0">
                <a:solidFill>
                  <a:srgbClr val="1A1A1A"/>
                </a:solidFill>
                <a:latin typeface="Consolas" pitchFamily="34" charset="0"/>
                <a:ea typeface="Consolas" pitchFamily="34" charset="-122"/>
                <a:cs typeface="Consolas" pitchFamily="34" charset="-120"/>
              </a:rPr>
              <a:t>spec:
</a:t>
            </a:r>
            <a:pPr algn="l" indent="0" marL="0">
              <a:buNone/>
            </a:pPr>
            <a:r>
              <a:rPr lang="en-US" sz="1200" dirty="0">
                <a:solidFill>
                  <a:srgbClr val="1A1A1A"/>
                </a:solidFill>
                <a:latin typeface="Consolas" pitchFamily="34" charset="0"/>
                <a:ea typeface="Consolas" pitchFamily="34" charset="-122"/>
                <a:cs typeface="Consolas" pitchFamily="34" charset="-120"/>
              </a:rPr>
              <a:t>  modelPreference:
</a:t>
            </a:r>
            <a:pPr algn="l" indent="0" marL="0">
              <a:buNone/>
            </a:pPr>
            <a:r>
              <a:rPr lang="en-US" sz="1200" dirty="0">
                <a:solidFill>
                  <a:srgbClr val="C53030"/>
                </a:solidFill>
                <a:latin typeface="Consolas" pitchFamily="34" charset="0"/>
                <a:ea typeface="Consolas" pitchFamily="34" charset="-122"/>
                <a:cs typeface="Consolas" pitchFamily="34" charset="-120"/>
              </a:rPr>
              <a:t>    primary: { provider: </a:t>
            </a:r>
            <a:pPr algn="l" indent="0" marL="0">
              <a:buNone/>
            </a:pPr>
            <a:r>
              <a:rPr lang="en-US" sz="1200" dirty="0">
                <a:solidFill>
                  <a:srgbClr val="276749"/>
                </a:solidFill>
                <a:latin typeface="Consolas" pitchFamily="34" charset="0"/>
                <a:ea typeface="Consolas" pitchFamily="34" charset="-122"/>
                <a:cs typeface="Consolas" pitchFamily="34" charset="-120"/>
              </a:rPr>
              <a:t>github-copilot</a:t>
            </a:r>
            <a:pPr algn="l" indent="0" marL="0">
              <a:buNone/>
            </a:pPr>
            <a:r>
              <a:rPr lang="en-US" sz="1200" dirty="0">
                <a:solidFill>
                  <a:srgbClr val="C53030"/>
                </a:solidFill>
                <a:latin typeface="Consolas" pitchFamily="34" charset="0"/>
                <a:ea typeface="Consolas" pitchFamily="34" charset="-122"/>
                <a:cs typeface="Consolas" pitchFamily="34" charset="-120"/>
              </a:rPr>
              <a:t>, deployment: </a:t>
            </a:r>
            <a:pPr algn="l" indent="0" marL="0">
              <a:buNone/>
            </a:pPr>
            <a:r>
              <a:rPr lang="en-US" sz="1200" dirty="0">
                <a:solidFill>
                  <a:srgbClr val="276749"/>
                </a:solidFill>
                <a:latin typeface="Consolas" pitchFamily="34" charset="0"/>
                <a:ea typeface="Consolas" pitchFamily="34" charset="-122"/>
                <a:cs typeface="Consolas" pitchFamily="34" charset="-120"/>
              </a:rPr>
              <a:t>claude-opus-4.7 </a:t>
            </a:r>
            <a:pPr algn="l" indent="0" marL="0">
              <a:buNone/>
            </a:pPr>
            <a:r>
              <a:rPr lang="en-US" sz="1200" dirty="0">
                <a:solidFill>
                  <a:srgbClr val="1A1A1A"/>
                </a:solidFill>
                <a:latin typeface="Consolas" pitchFamily="34" charset="0"/>
                <a:ea typeface="Consolas" pitchFamily="34" charset="-122"/>
                <a:cs typeface="Consolas" pitchFamily="34" charset="-120"/>
              </a:rPr>
              <a:t>}
</a:t>
            </a:r>
            <a:pPr algn="l" indent="0" marL="0">
              <a:buNone/>
            </a:pPr>
            <a:r>
              <a:rPr lang="en-US" sz="1200" dirty="0">
                <a:solidFill>
                  <a:srgbClr val="1A1A1A"/>
                </a:solidFill>
                <a:latin typeface="Consolas" pitchFamily="34" charset="0"/>
                <a:ea typeface="Consolas" pitchFamily="34" charset="-122"/>
                <a:cs typeface="Consolas" pitchFamily="34" charset="-120"/>
              </a:rPr>
              <a:t>    fallback:
</a:t>
            </a:r>
            <a:pPr algn="l" indent="0" marL="0">
              <a:buNone/>
            </a:pPr>
            <a:r>
              <a:rPr lang="en-US" sz="1200" dirty="0">
                <a:solidFill>
                  <a:srgbClr val="C53030"/>
                </a:solidFill>
                <a:latin typeface="Consolas" pitchFamily="34" charset="0"/>
                <a:ea typeface="Consolas" pitchFamily="34" charset="-122"/>
                <a:cs typeface="Consolas" pitchFamily="34" charset="-120"/>
              </a:rPr>
              <a:t>      - { provider: </a:t>
            </a:r>
            <a:pPr algn="l" indent="0" marL="0">
              <a:buNone/>
            </a:pPr>
            <a:r>
              <a:rPr lang="en-US" sz="1200" dirty="0">
                <a:solidFill>
                  <a:srgbClr val="276749"/>
                </a:solidFill>
                <a:latin typeface="Consolas" pitchFamily="34" charset="0"/>
                <a:ea typeface="Consolas" pitchFamily="34" charset="-122"/>
                <a:cs typeface="Consolas" pitchFamily="34" charset="-120"/>
              </a:rPr>
              <a:t>github-copilot</a:t>
            </a:r>
            <a:pPr algn="l" indent="0" marL="0">
              <a:buNone/>
            </a:pPr>
            <a:r>
              <a:rPr lang="en-US" sz="1200" dirty="0">
                <a:solidFill>
                  <a:srgbClr val="C53030"/>
                </a:solidFill>
                <a:latin typeface="Consolas" pitchFamily="34" charset="0"/>
                <a:ea typeface="Consolas" pitchFamily="34" charset="-122"/>
                <a:cs typeface="Consolas" pitchFamily="34" charset="-120"/>
              </a:rPr>
              <a:t>, deployment: </a:t>
            </a:r>
            <a:pPr algn="l" indent="0" marL="0">
              <a:buNone/>
            </a:pPr>
            <a:r>
              <a:rPr lang="en-US" sz="1200" dirty="0">
                <a:solidFill>
                  <a:srgbClr val="276749"/>
                </a:solidFill>
                <a:latin typeface="Consolas" pitchFamily="34" charset="0"/>
                <a:ea typeface="Consolas" pitchFamily="34" charset="-122"/>
                <a:cs typeface="Consolas" pitchFamily="34" charset="-120"/>
              </a:rPr>
              <a:t>gpt-5 </a:t>
            </a:r>
            <a:pPr algn="l" indent="0" marL="0">
              <a:buNone/>
            </a:pPr>
            <a:r>
              <a:rPr lang="en-US" sz="1200" dirty="0">
                <a:solidFill>
                  <a:srgbClr val="1A1A1A"/>
                </a:solidFill>
                <a:latin typeface="Consolas" pitchFamily="34" charset="0"/>
                <a:ea typeface="Consolas" pitchFamily="34" charset="-122"/>
                <a:cs typeface="Consolas" pitchFamily="34" charset="-120"/>
              </a:rPr>
              <a:t>}
</a:t>
            </a:r>
            <a:pPr algn="l" indent="0" marL="0">
              <a:buNone/>
            </a:pPr>
            <a:r>
              <a:rPr lang="en-US" sz="1200" dirty="0">
                <a:solidFill>
                  <a:srgbClr val="C53030"/>
                </a:solidFill>
                <a:latin typeface="Consolas" pitchFamily="34" charset="0"/>
                <a:ea typeface="Consolas" pitchFamily="34" charset="-122"/>
                <a:cs typeface="Consolas" pitchFamily="34" charset="-120"/>
              </a:rPr>
              <a:t>      - { provider: </a:t>
            </a:r>
            <a:pPr algn="l" indent="0" marL="0">
              <a:buNone/>
            </a:pPr>
            <a:r>
              <a:rPr lang="en-US" sz="1200" dirty="0">
                <a:solidFill>
                  <a:srgbClr val="276749"/>
                </a:solidFill>
                <a:latin typeface="Consolas" pitchFamily="34" charset="0"/>
                <a:ea typeface="Consolas" pitchFamily="34" charset="-122"/>
                <a:cs typeface="Consolas" pitchFamily="34" charset="-120"/>
              </a:rPr>
              <a:t>github-copilot</a:t>
            </a:r>
            <a:pPr algn="l" indent="0" marL="0">
              <a:buNone/>
            </a:pPr>
            <a:r>
              <a:rPr lang="en-US" sz="1200" dirty="0">
                <a:solidFill>
                  <a:srgbClr val="C53030"/>
                </a:solidFill>
                <a:latin typeface="Consolas" pitchFamily="34" charset="0"/>
                <a:ea typeface="Consolas" pitchFamily="34" charset="-122"/>
                <a:cs typeface="Consolas" pitchFamily="34" charset="-120"/>
              </a:rPr>
              <a:t>, deployment: </a:t>
            </a:r>
            <a:pPr algn="l" indent="0" marL="0">
              <a:buNone/>
            </a:pPr>
            <a:r>
              <a:rPr lang="en-US" sz="1200" dirty="0">
                <a:solidFill>
                  <a:srgbClr val="276749"/>
                </a:solidFill>
                <a:latin typeface="Consolas" pitchFamily="34" charset="0"/>
                <a:ea typeface="Consolas" pitchFamily="34" charset="-122"/>
                <a:cs typeface="Consolas" pitchFamily="34" charset="-120"/>
              </a:rPr>
              <a:t>claude-sonnet-4.5 </a:t>
            </a:r>
            <a:pPr algn="l" indent="0" marL="0">
              <a:buNone/>
            </a:pPr>
            <a:r>
              <a:rPr lang="en-US" sz="1200" dirty="0">
                <a:solidFill>
                  <a:srgbClr val="1A1A1A"/>
                </a:solidFill>
                <a:latin typeface="Consolas" pitchFamily="34" charset="0"/>
                <a:ea typeface="Consolas" pitchFamily="34" charset="-122"/>
                <a:cs typeface="Consolas" pitchFamily="34" charset="-120"/>
              </a:rPr>
              <a:t>}
</a:t>
            </a:r>
            <a:pPr algn="l" indent="0" marL="0">
              <a:buNone/>
            </a:pPr>
            <a:r>
              <a:rPr lang="en-US" sz="1200" dirty="0">
                <a:solidFill>
                  <a:srgbClr val="1A1A1A"/>
                </a:solidFill>
                <a:latin typeface="Consolas" pitchFamily="34" charset="0"/>
                <a:ea typeface="Consolas" pitchFamily="34" charset="-122"/>
                <a:cs typeface="Consolas" pitchFamily="34" charset="-120"/>
              </a:rPr>
              <a:t>  tokenBudget:
</a:t>
            </a:r>
            <a:pPr algn="l" indent="0" marL="0">
              <a:buNone/>
            </a:pPr>
            <a:r>
              <a:rPr lang="en-US" sz="1200" dirty="0">
                <a:solidFill>
                  <a:srgbClr val="C53030"/>
                </a:solidFill>
                <a:latin typeface="Consolas" pitchFamily="34" charset="0"/>
                <a:ea typeface="Consolas" pitchFamily="34" charset="-122"/>
                <a:cs typeface="Consolas" pitchFamily="34" charset="-120"/>
              </a:rPr>
              <a:t>    dailyTokens: </a:t>
            </a:r>
            <a:pPr algn="l" indent="0" marL="0">
              <a:buNone/>
            </a:pPr>
            <a:r>
              <a:rPr lang="en-US" sz="1200" dirty="0">
                <a:solidFill>
                  <a:srgbClr val="276749"/>
                </a:solidFill>
                <a:latin typeface="Consolas" pitchFamily="34" charset="0"/>
                <a:ea typeface="Consolas" pitchFamily="34" charset="-122"/>
                <a:cs typeface="Consolas" pitchFamily="34" charset="-120"/>
              </a:rPr>
              <a:t>1000000
</a:t>
            </a:r>
            <a:pPr algn="l" indent="0" marL="0">
              <a:buNone/>
            </a:pPr>
            <a:r>
              <a:rPr lang="en-US" sz="1200" dirty="0">
                <a:solidFill>
                  <a:srgbClr val="C53030"/>
                </a:solidFill>
                <a:latin typeface="Consolas" pitchFamily="34" charset="0"/>
                <a:ea typeface="Consolas" pitchFamily="34" charset="-122"/>
                <a:cs typeface="Consolas" pitchFamily="34" charset="-120"/>
              </a:rPr>
              <a:t>    perRequestTokens: </a:t>
            </a:r>
            <a:pPr algn="l" indent="0" marL="0">
              <a:buNone/>
            </a:pPr>
            <a:r>
              <a:rPr lang="en-US" sz="1200" dirty="0">
                <a:solidFill>
                  <a:srgbClr val="276749"/>
                </a:solidFill>
                <a:latin typeface="Consolas" pitchFamily="34" charset="0"/>
                <a:ea typeface="Consolas" pitchFamily="34" charset="-122"/>
                <a:cs typeface="Consolas" pitchFamily="34" charset="-120"/>
              </a:rPr>
              <a:t>32000
</a:t>
            </a:r>
            <a:pPr algn="l" indent="0" marL="0">
              <a:buNone/>
            </a:pPr>
            <a:r>
              <a:rPr lang="en-US" sz="1200" dirty="0">
                <a:solidFill>
                  <a:srgbClr val="1A1A1A"/>
                </a:solidFill>
                <a:latin typeface="Consolas" pitchFamily="34" charset="0"/>
                <a:ea typeface="Consolas" pitchFamily="34" charset="-122"/>
                <a:cs typeface="Consolas" pitchFamily="34" charset="-120"/>
              </a:rPr>
              <a:t>  contentSafety:
</a:t>
            </a:r>
            <a:pPr algn="l" indent="0" marL="0">
              <a:buNone/>
            </a:pPr>
            <a:r>
              <a:rPr lang="en-US" sz="1200" dirty="0">
                <a:solidFill>
                  <a:srgbClr val="C53030"/>
                </a:solidFill>
                <a:latin typeface="Consolas" pitchFamily="34" charset="0"/>
                <a:ea typeface="Consolas" pitchFamily="34" charset="-122"/>
                <a:cs typeface="Consolas" pitchFamily="34" charset="-120"/>
              </a:rPr>
              <a:t>    requirePromptShields: </a:t>
            </a:r>
            <a:pPr algn="l" indent="0" marL="0">
              <a:buNone/>
            </a:pPr>
            <a:r>
              <a:rPr lang="en-US" sz="1200" dirty="0">
                <a:solidFill>
                  <a:srgbClr val="276749"/>
                </a:solidFill>
                <a:latin typeface="Consolas" pitchFamily="34" charset="0"/>
                <a:ea typeface="Consolas" pitchFamily="34" charset="-122"/>
                <a:cs typeface="Consolas" pitchFamily="34" charset="-120"/>
              </a:rPr>
              <a:t>true
</a:t>
            </a:r>
            <a:endParaRPr lang="en-US" sz="1200" dirty="0"/>
          </a:p>
        </p:txBody>
      </p:sp>
      <p:sp>
        <p:nvSpPr>
          <p:cNvPr id="7" name="Text 5"/>
          <p:cNvSpPr/>
          <p:nvPr/>
        </p:nvSpPr>
        <p:spPr>
          <a:xfrm>
            <a:off x="7406640" y="2286000"/>
            <a:ext cx="4114800" cy="3657600"/>
          </a:xfrm>
          <a:prstGeom prst="rect">
            <a:avLst/>
          </a:prstGeom>
          <a:noFill/>
          <a:ln/>
        </p:spPr>
        <p:txBody>
          <a:bodyPr wrap="square" lIns="0" tIns="0" rIns="0" bIns="0" rtlCol="0" anchor="t"/>
          <a:lstStyle/>
          <a:p>
            <a:pPr algn="l" indent="0" marL="0">
              <a:spcAft>
                <a:spcPts val="800"/>
              </a:spcAft>
              <a:buNone/>
            </a:pPr>
            <a:r>
              <a:rPr lang="en-US" sz="1400" dirty="0">
                <a:solidFill>
                  <a:srgbClr val="1A1A1A"/>
                </a:solidFill>
                <a:latin typeface="Helvetica" pitchFamily="34" charset="0"/>
                <a:ea typeface="Helvetica" pitchFamily="34" charset="-122"/>
                <a:cs typeface="Helvetica" pitchFamily="34" charset="-120"/>
              </a:rPr>
              <a:t>Every model call goes through a per-sandbox sidecar that loads this CR and enforces it byte-for-byte.</a:t>
            </a:r>
            <a:endParaRPr lang="en-US" sz="1400" dirty="0"/>
          </a:p>
          <a:p>
            <a:pPr algn="l" indent="0" marL="0">
              <a:spcAft>
                <a:spcPts val="800"/>
              </a:spcAft>
              <a:buNone/>
            </a:pPr>
            <a:r>
              <a:rPr lang="en-US" sz="1400" dirty="0">
                <a:solidFill>
                  <a:srgbClr val="1A1A1A"/>
                </a:solidFill>
                <a:latin typeface="Helvetica" pitchFamily="34" charset="0"/>
                <a:ea typeface="Helvetica" pitchFamily="34" charset="-122"/>
                <a:cs typeface="Helvetica" pitchFamily="34" charset="-120"/>
              </a:rPr>
              <a:t>Primary returns 503?  Router walks the fallback chain.  Token budget exhausted?  Router refuses before any upstream call.</a:t>
            </a:r>
            <a:endParaRPr lang="en-US" sz="1400" dirty="0"/>
          </a:p>
          <a:p>
            <a:pPr algn="l" indent="0" marL="0">
              <a:spcAft>
                <a:spcPts val="800"/>
              </a:spcAft>
              <a:buNone/>
            </a:pPr>
            <a:r>
              <a:rPr lang="en-US" sz="1400" dirty="0">
                <a:solidFill>
                  <a:srgbClr val="1A1A1A"/>
                </a:solidFill>
                <a:latin typeface="Helvetica" pitchFamily="34" charset="0"/>
                <a:ea typeface="Helvetica" pitchFamily="34" charset="-122"/>
                <a:cs typeface="Helvetica" pitchFamily="34" charset="-120"/>
              </a:rPr>
              <a:t>Prompt Shields hard-required?  Router fails closed if the upstream guardrail annotation is missing.</a:t>
            </a:r>
            <a:endParaRPr lang="en-US" sz="1400" dirty="0"/>
          </a:p>
          <a:p>
            <a:pPr algn="l" indent="0" marL="0">
              <a:spcAft>
                <a:spcPts val="800"/>
              </a:spcAft>
              <a:buNone/>
            </a:pPr>
            <a:r>
              <a:rPr lang="en-US" sz="1400" dirty="0">
                <a:solidFill>
                  <a:srgbClr val="1A1A1A"/>
                </a:solidFill>
                <a:latin typeface="Helvetica" pitchFamily="34" charset="0"/>
                <a:ea typeface="Helvetica" pitchFamily="34" charset="-122"/>
                <a:cs typeface="Helvetica" pitchFamily="34" charset="-120"/>
              </a:rPr>
              <a:t>Every decision lands in a hash-chained audit JSONL.  prev_hash + hash per row — tamper-evident.</a:t>
            </a:r>
            <a:endParaRPr lang="en-US" sz="1400" dirty="0"/>
          </a:p>
        </p:txBody>
      </p:sp>
      <p:sp>
        <p:nvSpPr>
          <p:cNvPr id="8" name="Text 6"/>
          <p:cNvSpPr/>
          <p:nvPr/>
        </p:nvSpPr>
        <p:spPr>
          <a:xfrm>
            <a:off x="640080" y="6309360"/>
            <a:ext cx="10881360" cy="274320"/>
          </a:xfrm>
          <a:prstGeom prst="rect">
            <a:avLst/>
          </a:prstGeom>
          <a:noFill/>
          <a:ln/>
        </p:spPr>
        <p:txBody>
          <a:bodyPr wrap="square" lIns="0" tIns="0" rIns="0" bIns="0" rtlCol="0" anchor="ctr"/>
          <a:lstStyle/>
          <a:p>
            <a:pPr indent="0" marL="0">
              <a:buNone/>
            </a:pPr>
            <a:r>
              <a:rPr lang="en-US" sz="1000" dirty="0">
                <a:solidFill>
                  <a:srgbClr val="AFB3BD"/>
                </a:solidFill>
                <a:latin typeface="Consolas" pitchFamily="34" charset="0"/>
                <a:ea typeface="Consolas" pitchFamily="34" charset="-122"/>
                <a:cs typeface="Consolas" pitchFamily="34" charset="-120"/>
              </a:rPr>
              <a:t>inference-router/src/{failover,budget,safety,routes/chat_completions}.rs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09</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§3.3 · GOVERNANCE · DEFENSE IN DEPTH</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800" b="1" dirty="0">
                <a:solidFill>
                  <a:srgbClr val="1A1A1A"/>
                </a:solidFill>
                <a:latin typeface="Helvetica" pitchFamily="34" charset="0"/>
                <a:ea typeface="Helvetica" pitchFamily="34" charset="-122"/>
                <a:cs typeface="Helvetica" pitchFamily="34" charset="-120"/>
              </a:rPr>
              <a:t>Bypass one.  Three more deny.</a:t>
            </a:r>
            <a:endParaRPr lang="en-US" sz="3800" dirty="0"/>
          </a:p>
        </p:txBody>
      </p:sp>
      <p:sp>
        <p:nvSpPr>
          <p:cNvPr id="5" name="Shape 3"/>
          <p:cNvSpPr/>
          <p:nvPr/>
        </p:nvSpPr>
        <p:spPr>
          <a:xfrm>
            <a:off x="640080" y="2377440"/>
            <a:ext cx="73152" cy="868680"/>
          </a:xfrm>
          <a:prstGeom prst="rect">
            <a:avLst/>
          </a:prstGeom>
          <a:solidFill>
            <a:srgbClr val="028090"/>
          </a:solidFill>
          <a:ln w="12700">
            <a:solidFill>
              <a:srgbClr val="028090"/>
            </a:solidFill>
            <a:prstDash val="solid"/>
          </a:ln>
        </p:spPr>
      </p:sp>
      <p:sp>
        <p:nvSpPr>
          <p:cNvPr id="6" name="Text 4"/>
          <p:cNvSpPr/>
          <p:nvPr/>
        </p:nvSpPr>
        <p:spPr>
          <a:xfrm>
            <a:off x="822960" y="2377440"/>
            <a:ext cx="457200" cy="868680"/>
          </a:xfrm>
          <a:prstGeom prst="rect">
            <a:avLst/>
          </a:prstGeom>
          <a:noFill/>
          <a:ln/>
        </p:spPr>
        <p:txBody>
          <a:bodyPr wrap="square" lIns="0" tIns="0" rIns="0" bIns="0" rtlCol="0" anchor="ctr"/>
          <a:lstStyle/>
          <a:p>
            <a:pPr indent="0" marL="0">
              <a:buNone/>
            </a:pPr>
            <a:r>
              <a:rPr lang="en-US" sz="2600" b="1" dirty="0">
                <a:solidFill>
                  <a:srgbClr val="028090"/>
                </a:solidFill>
                <a:latin typeface="Helvetica" pitchFamily="34" charset="0"/>
                <a:ea typeface="Helvetica" pitchFamily="34" charset="-122"/>
                <a:cs typeface="Helvetica" pitchFamily="34" charset="-120"/>
              </a:rPr>
              <a:t>1</a:t>
            </a:r>
            <a:endParaRPr lang="en-US" sz="2600" dirty="0"/>
          </a:p>
        </p:txBody>
      </p:sp>
      <p:sp>
        <p:nvSpPr>
          <p:cNvPr id="7" name="Text 5"/>
          <p:cNvSpPr/>
          <p:nvPr/>
        </p:nvSpPr>
        <p:spPr>
          <a:xfrm>
            <a:off x="1371600" y="2377440"/>
            <a:ext cx="3657600" cy="365760"/>
          </a:xfrm>
          <a:prstGeom prst="rect">
            <a:avLst/>
          </a:prstGeom>
          <a:noFill/>
          <a:ln/>
        </p:spPr>
        <p:txBody>
          <a:bodyPr wrap="square" lIns="0" tIns="0" rIns="0" bIns="0" rtlCol="0" anchor="t"/>
          <a:lstStyle/>
          <a:p>
            <a:pPr indent="0" marL="0">
              <a:buNone/>
            </a:pPr>
            <a:r>
              <a:rPr lang="en-US" sz="1800" b="1" dirty="0">
                <a:solidFill>
                  <a:srgbClr val="1A1A1A"/>
                </a:solidFill>
                <a:latin typeface="Helvetica" pitchFamily="34" charset="0"/>
                <a:ea typeface="Helvetica" pitchFamily="34" charset="-122"/>
                <a:cs typeface="Helvetica" pitchFamily="34" charset="-120"/>
              </a:rPr>
              <a:t>iptables egress-guard</a:t>
            </a:r>
            <a:endParaRPr lang="en-US" sz="1800" dirty="0"/>
          </a:p>
        </p:txBody>
      </p:sp>
      <p:sp>
        <p:nvSpPr>
          <p:cNvPr id="8" name="Text 6"/>
          <p:cNvSpPr/>
          <p:nvPr/>
        </p:nvSpPr>
        <p:spPr>
          <a:xfrm>
            <a:off x="1371600" y="2743200"/>
            <a:ext cx="6949440" cy="457200"/>
          </a:xfrm>
          <a:prstGeom prst="rect">
            <a:avLst/>
          </a:prstGeom>
          <a:noFill/>
          <a:ln/>
        </p:spPr>
        <p:txBody>
          <a:bodyPr wrap="square" lIns="0" tIns="0" rIns="0" bIns="0" rtlCol="0" anchor="t"/>
          <a:lstStyle/>
          <a:p>
            <a:pPr indent="0" marL="0">
              <a:buNone/>
            </a:pPr>
            <a:r>
              <a:rPr lang="en-US" sz="1200" dirty="0">
                <a:solidFill>
                  <a:srgbClr val="6E7681"/>
                </a:solidFill>
                <a:latin typeface="Helvetica" pitchFamily="34" charset="0"/>
                <a:ea typeface="Helvetica" pitchFamily="34" charset="-122"/>
                <a:cs typeface="Helvetica" pitchFamily="34" charset="-120"/>
              </a:rPr>
              <a:t>Init container · UID 1000 → loopback + DNS only · drops everything else</a:t>
            </a:r>
            <a:endParaRPr lang="en-US" sz="1200" dirty="0"/>
          </a:p>
        </p:txBody>
      </p:sp>
      <p:sp>
        <p:nvSpPr>
          <p:cNvPr id="9" name="Text 7"/>
          <p:cNvSpPr/>
          <p:nvPr/>
        </p:nvSpPr>
        <p:spPr>
          <a:xfrm>
            <a:off x="8412480" y="2377440"/>
            <a:ext cx="3017520" cy="868680"/>
          </a:xfrm>
          <a:prstGeom prst="rect">
            <a:avLst/>
          </a:prstGeom>
          <a:noFill/>
          <a:ln/>
        </p:spPr>
        <p:txBody>
          <a:bodyPr wrap="square" lIns="0" tIns="0" rIns="0" bIns="0" rtlCol="0" anchor="ctr"/>
          <a:lstStyle/>
          <a:p>
            <a:pPr algn="r" indent="0" marL="0">
              <a:buNone/>
            </a:pPr>
            <a:r>
              <a:rPr lang="en-US" sz="1000" dirty="0">
                <a:solidFill>
                  <a:srgbClr val="AFB3BD"/>
                </a:solidFill>
                <a:latin typeface="Consolas" pitchFamily="34" charset="0"/>
                <a:ea typeface="Consolas" pitchFamily="34" charset="-122"/>
                <a:cs typeface="Consolas" pitchFamily="34" charset="-120"/>
              </a:rPr>
              <a:t>controller/src/reconciler/mod.rs:1916</a:t>
            </a:r>
            <a:endParaRPr lang="en-US" sz="1000" dirty="0"/>
          </a:p>
        </p:txBody>
      </p:sp>
      <p:sp>
        <p:nvSpPr>
          <p:cNvPr id="10" name="Shape 8"/>
          <p:cNvSpPr/>
          <p:nvPr/>
        </p:nvSpPr>
        <p:spPr>
          <a:xfrm>
            <a:off x="640080" y="3383280"/>
            <a:ext cx="73152" cy="868680"/>
          </a:xfrm>
          <a:prstGeom prst="rect">
            <a:avLst/>
          </a:prstGeom>
          <a:solidFill>
            <a:srgbClr val="028090"/>
          </a:solidFill>
          <a:ln w="12700">
            <a:solidFill>
              <a:srgbClr val="028090"/>
            </a:solidFill>
            <a:prstDash val="solid"/>
          </a:ln>
        </p:spPr>
      </p:sp>
      <p:sp>
        <p:nvSpPr>
          <p:cNvPr id="11" name="Text 9"/>
          <p:cNvSpPr/>
          <p:nvPr/>
        </p:nvSpPr>
        <p:spPr>
          <a:xfrm>
            <a:off x="822960" y="3383280"/>
            <a:ext cx="457200" cy="868680"/>
          </a:xfrm>
          <a:prstGeom prst="rect">
            <a:avLst/>
          </a:prstGeom>
          <a:noFill/>
          <a:ln/>
        </p:spPr>
        <p:txBody>
          <a:bodyPr wrap="square" lIns="0" tIns="0" rIns="0" bIns="0" rtlCol="0" anchor="ctr"/>
          <a:lstStyle/>
          <a:p>
            <a:pPr indent="0" marL="0">
              <a:buNone/>
            </a:pPr>
            <a:r>
              <a:rPr lang="en-US" sz="2600" b="1" dirty="0">
                <a:solidFill>
                  <a:srgbClr val="028090"/>
                </a:solidFill>
                <a:latin typeface="Helvetica" pitchFamily="34" charset="0"/>
                <a:ea typeface="Helvetica" pitchFamily="34" charset="-122"/>
                <a:cs typeface="Helvetica" pitchFamily="34" charset="-120"/>
              </a:rPr>
              <a:t>2</a:t>
            </a:r>
            <a:endParaRPr lang="en-US" sz="2600" dirty="0"/>
          </a:p>
        </p:txBody>
      </p:sp>
      <p:sp>
        <p:nvSpPr>
          <p:cNvPr id="12" name="Text 10"/>
          <p:cNvSpPr/>
          <p:nvPr/>
        </p:nvSpPr>
        <p:spPr>
          <a:xfrm>
            <a:off x="1371600" y="3383280"/>
            <a:ext cx="3657600" cy="365760"/>
          </a:xfrm>
          <a:prstGeom prst="rect">
            <a:avLst/>
          </a:prstGeom>
          <a:noFill/>
          <a:ln/>
        </p:spPr>
        <p:txBody>
          <a:bodyPr wrap="square" lIns="0" tIns="0" rIns="0" bIns="0" rtlCol="0" anchor="t"/>
          <a:lstStyle/>
          <a:p>
            <a:pPr indent="0" marL="0">
              <a:buNone/>
            </a:pPr>
            <a:r>
              <a:rPr lang="en-US" sz="1800" b="1" dirty="0">
                <a:solidFill>
                  <a:srgbClr val="1A1A1A"/>
                </a:solidFill>
                <a:latin typeface="Helvetica" pitchFamily="34" charset="0"/>
                <a:ea typeface="Helvetica" pitchFamily="34" charset="-122"/>
                <a:cs typeface="Helvetica" pitchFamily="34" charset="-120"/>
              </a:rPr>
              <a:t>NetworkPolicy</a:t>
            </a:r>
            <a:endParaRPr lang="en-US" sz="1800" dirty="0"/>
          </a:p>
        </p:txBody>
      </p:sp>
      <p:sp>
        <p:nvSpPr>
          <p:cNvPr id="13" name="Text 11"/>
          <p:cNvSpPr/>
          <p:nvPr/>
        </p:nvSpPr>
        <p:spPr>
          <a:xfrm>
            <a:off x="1371600" y="3749040"/>
            <a:ext cx="6949440" cy="457200"/>
          </a:xfrm>
          <a:prstGeom prst="rect">
            <a:avLst/>
          </a:prstGeom>
          <a:noFill/>
          <a:ln/>
        </p:spPr>
        <p:txBody>
          <a:bodyPr wrap="square" lIns="0" tIns="0" rIns="0" bIns="0" rtlCol="0" anchor="t"/>
          <a:lstStyle/>
          <a:p>
            <a:pPr indent="0" marL="0">
              <a:buNone/>
            </a:pPr>
            <a:r>
              <a:rPr lang="en-US" sz="1200" dirty="0">
                <a:solidFill>
                  <a:srgbClr val="6E7681"/>
                </a:solidFill>
                <a:latin typeface="Helvetica" pitchFamily="34" charset="0"/>
                <a:ea typeface="Helvetica" pitchFamily="34" charset="-122"/>
                <a:cs typeface="Helvetica" pitchFamily="34" charset="-120"/>
              </a:rPr>
              <a:t>Per-sandbox · default deny · explicit allow for relay :8443 + registry :8080 + auth-sidecar :5000</a:t>
            </a:r>
            <a:endParaRPr lang="en-US" sz="1200" dirty="0"/>
          </a:p>
        </p:txBody>
      </p:sp>
      <p:sp>
        <p:nvSpPr>
          <p:cNvPr id="14" name="Text 12"/>
          <p:cNvSpPr/>
          <p:nvPr/>
        </p:nvSpPr>
        <p:spPr>
          <a:xfrm>
            <a:off x="8412480" y="3383280"/>
            <a:ext cx="3017520" cy="868680"/>
          </a:xfrm>
          <a:prstGeom prst="rect">
            <a:avLst/>
          </a:prstGeom>
          <a:noFill/>
          <a:ln/>
        </p:spPr>
        <p:txBody>
          <a:bodyPr wrap="square" lIns="0" tIns="0" rIns="0" bIns="0" rtlCol="0" anchor="ctr"/>
          <a:lstStyle/>
          <a:p>
            <a:pPr algn="r" indent="0" marL="0">
              <a:buNone/>
            </a:pPr>
            <a:r>
              <a:rPr lang="en-US" sz="1000" dirty="0">
                <a:solidFill>
                  <a:srgbClr val="AFB3BD"/>
                </a:solidFill>
                <a:latin typeface="Consolas" pitchFamily="34" charset="0"/>
                <a:ea typeface="Consolas" pitchFamily="34" charset="-122"/>
                <a:cs typeface="Consolas" pitchFamily="34" charset="-120"/>
              </a:rPr>
              <a:t>controller/src/reconciler/mod.rs:870-1042</a:t>
            </a:r>
            <a:endParaRPr lang="en-US" sz="1000" dirty="0"/>
          </a:p>
        </p:txBody>
      </p:sp>
      <p:sp>
        <p:nvSpPr>
          <p:cNvPr id="15" name="Shape 13"/>
          <p:cNvSpPr/>
          <p:nvPr/>
        </p:nvSpPr>
        <p:spPr>
          <a:xfrm>
            <a:off x="640080" y="4389120"/>
            <a:ext cx="73152" cy="868680"/>
          </a:xfrm>
          <a:prstGeom prst="rect">
            <a:avLst/>
          </a:prstGeom>
          <a:solidFill>
            <a:srgbClr val="028090"/>
          </a:solidFill>
          <a:ln w="12700">
            <a:solidFill>
              <a:srgbClr val="028090"/>
            </a:solidFill>
            <a:prstDash val="solid"/>
          </a:ln>
        </p:spPr>
      </p:sp>
      <p:sp>
        <p:nvSpPr>
          <p:cNvPr id="16" name="Text 14"/>
          <p:cNvSpPr/>
          <p:nvPr/>
        </p:nvSpPr>
        <p:spPr>
          <a:xfrm>
            <a:off x="822960" y="4389120"/>
            <a:ext cx="457200" cy="868680"/>
          </a:xfrm>
          <a:prstGeom prst="rect">
            <a:avLst/>
          </a:prstGeom>
          <a:noFill/>
          <a:ln/>
        </p:spPr>
        <p:txBody>
          <a:bodyPr wrap="square" lIns="0" tIns="0" rIns="0" bIns="0" rtlCol="0" anchor="ctr"/>
          <a:lstStyle/>
          <a:p>
            <a:pPr indent="0" marL="0">
              <a:buNone/>
            </a:pPr>
            <a:r>
              <a:rPr lang="en-US" sz="2600" b="1" dirty="0">
                <a:solidFill>
                  <a:srgbClr val="028090"/>
                </a:solidFill>
                <a:latin typeface="Helvetica" pitchFamily="34" charset="0"/>
                <a:ea typeface="Helvetica" pitchFamily="34" charset="-122"/>
                <a:cs typeface="Helvetica" pitchFamily="34" charset="-120"/>
              </a:rPr>
              <a:t>3</a:t>
            </a:r>
            <a:endParaRPr lang="en-US" sz="2600" dirty="0"/>
          </a:p>
        </p:txBody>
      </p:sp>
      <p:sp>
        <p:nvSpPr>
          <p:cNvPr id="17" name="Text 15"/>
          <p:cNvSpPr/>
          <p:nvPr/>
        </p:nvSpPr>
        <p:spPr>
          <a:xfrm>
            <a:off x="1371600" y="4389120"/>
            <a:ext cx="3657600" cy="365760"/>
          </a:xfrm>
          <a:prstGeom prst="rect">
            <a:avLst/>
          </a:prstGeom>
          <a:noFill/>
          <a:ln/>
        </p:spPr>
        <p:txBody>
          <a:bodyPr wrap="square" lIns="0" tIns="0" rIns="0" bIns="0" rtlCol="0" anchor="t"/>
          <a:lstStyle/>
          <a:p>
            <a:pPr indent="0" marL="0">
              <a:buNone/>
            </a:pPr>
            <a:r>
              <a:rPr lang="en-US" sz="1800" b="1" dirty="0">
                <a:solidFill>
                  <a:srgbClr val="1A1A1A"/>
                </a:solidFill>
                <a:latin typeface="Helvetica" pitchFamily="34" charset="0"/>
                <a:ea typeface="Helvetica" pitchFamily="34" charset="-122"/>
                <a:cs typeface="Helvetica" pitchFamily="34" charset="-120"/>
              </a:rPr>
              <a:t>Inference router</a:t>
            </a:r>
            <a:endParaRPr lang="en-US" sz="1800" dirty="0"/>
          </a:p>
        </p:txBody>
      </p:sp>
      <p:sp>
        <p:nvSpPr>
          <p:cNvPr id="18" name="Text 16"/>
          <p:cNvSpPr/>
          <p:nvPr/>
        </p:nvSpPr>
        <p:spPr>
          <a:xfrm>
            <a:off x="1371600" y="4754880"/>
            <a:ext cx="6949440" cy="457200"/>
          </a:xfrm>
          <a:prstGeom prst="rect">
            <a:avLst/>
          </a:prstGeom>
          <a:noFill/>
          <a:ln/>
        </p:spPr>
        <p:txBody>
          <a:bodyPr wrap="square" lIns="0" tIns="0" rIns="0" bIns="0" rtlCol="0" anchor="t"/>
          <a:lstStyle/>
          <a:p>
            <a:pPr indent="0" marL="0">
              <a:buNone/>
            </a:pPr>
            <a:r>
              <a:rPr lang="en-US" sz="1200" dirty="0">
                <a:solidFill>
                  <a:srgbClr val="6E7681"/>
                </a:solidFill>
                <a:latin typeface="Helvetica" pitchFamily="34" charset="0"/>
                <a:ea typeface="Helvetica" pitchFamily="34" charset="-122"/>
                <a:cs typeface="Helvetica" pitchFamily="34" charset="-120"/>
              </a:rPr>
              <a:t>InferencePolicy · ToolPolicy · Content Safety · per-sandbox token budget</a:t>
            </a:r>
            <a:endParaRPr lang="en-US" sz="1200" dirty="0"/>
          </a:p>
        </p:txBody>
      </p:sp>
      <p:sp>
        <p:nvSpPr>
          <p:cNvPr id="19" name="Text 17"/>
          <p:cNvSpPr/>
          <p:nvPr/>
        </p:nvSpPr>
        <p:spPr>
          <a:xfrm>
            <a:off x="8412480" y="4389120"/>
            <a:ext cx="3017520" cy="868680"/>
          </a:xfrm>
          <a:prstGeom prst="rect">
            <a:avLst/>
          </a:prstGeom>
          <a:noFill/>
          <a:ln/>
        </p:spPr>
        <p:txBody>
          <a:bodyPr wrap="square" lIns="0" tIns="0" rIns="0" bIns="0" rtlCol="0" anchor="ctr"/>
          <a:lstStyle/>
          <a:p>
            <a:pPr algn="r" indent="0" marL="0">
              <a:buNone/>
            </a:pPr>
            <a:r>
              <a:rPr lang="en-US" sz="1000" dirty="0">
                <a:solidFill>
                  <a:srgbClr val="AFB3BD"/>
                </a:solidFill>
                <a:latin typeface="Consolas" pitchFamily="34" charset="0"/>
                <a:ea typeface="Consolas" pitchFamily="34" charset="-122"/>
                <a:cs typeface="Consolas" pitchFamily="34" charset="-120"/>
              </a:rPr>
              <a:t>inference-router/src/routes/chat_completions.rs</a:t>
            </a:r>
            <a:endParaRPr lang="en-US" sz="1000" dirty="0"/>
          </a:p>
        </p:txBody>
      </p:sp>
      <p:sp>
        <p:nvSpPr>
          <p:cNvPr id="20" name="Shape 18"/>
          <p:cNvSpPr/>
          <p:nvPr/>
        </p:nvSpPr>
        <p:spPr>
          <a:xfrm>
            <a:off x="640080" y="5394960"/>
            <a:ext cx="73152" cy="868680"/>
          </a:xfrm>
          <a:prstGeom prst="rect">
            <a:avLst/>
          </a:prstGeom>
          <a:solidFill>
            <a:srgbClr val="028090"/>
          </a:solidFill>
          <a:ln w="12700">
            <a:solidFill>
              <a:srgbClr val="028090"/>
            </a:solidFill>
            <a:prstDash val="solid"/>
          </a:ln>
        </p:spPr>
      </p:sp>
      <p:sp>
        <p:nvSpPr>
          <p:cNvPr id="21" name="Text 19"/>
          <p:cNvSpPr/>
          <p:nvPr/>
        </p:nvSpPr>
        <p:spPr>
          <a:xfrm>
            <a:off x="822960" y="5394960"/>
            <a:ext cx="457200" cy="868680"/>
          </a:xfrm>
          <a:prstGeom prst="rect">
            <a:avLst/>
          </a:prstGeom>
          <a:noFill/>
          <a:ln/>
        </p:spPr>
        <p:txBody>
          <a:bodyPr wrap="square" lIns="0" tIns="0" rIns="0" bIns="0" rtlCol="0" anchor="ctr"/>
          <a:lstStyle/>
          <a:p>
            <a:pPr indent="0" marL="0">
              <a:buNone/>
            </a:pPr>
            <a:r>
              <a:rPr lang="en-US" sz="2600" b="1" dirty="0">
                <a:solidFill>
                  <a:srgbClr val="028090"/>
                </a:solidFill>
                <a:latin typeface="Helvetica" pitchFamily="34" charset="0"/>
                <a:ea typeface="Helvetica" pitchFamily="34" charset="-122"/>
                <a:cs typeface="Helvetica" pitchFamily="34" charset="-120"/>
              </a:rPr>
              <a:t>4</a:t>
            </a:r>
            <a:endParaRPr lang="en-US" sz="2600" dirty="0"/>
          </a:p>
        </p:txBody>
      </p:sp>
      <p:sp>
        <p:nvSpPr>
          <p:cNvPr id="22" name="Text 20"/>
          <p:cNvSpPr/>
          <p:nvPr/>
        </p:nvSpPr>
        <p:spPr>
          <a:xfrm>
            <a:off x="1371600" y="5394960"/>
            <a:ext cx="3657600" cy="365760"/>
          </a:xfrm>
          <a:prstGeom prst="rect">
            <a:avLst/>
          </a:prstGeom>
          <a:noFill/>
          <a:ln/>
        </p:spPr>
        <p:txBody>
          <a:bodyPr wrap="square" lIns="0" tIns="0" rIns="0" bIns="0" rtlCol="0" anchor="t"/>
          <a:lstStyle/>
          <a:p>
            <a:pPr indent="0" marL="0">
              <a:buNone/>
            </a:pPr>
            <a:r>
              <a:rPr lang="en-US" sz="1800" b="1" dirty="0">
                <a:solidFill>
                  <a:srgbClr val="1A1A1A"/>
                </a:solidFill>
                <a:latin typeface="Helvetica" pitchFamily="34" charset="0"/>
                <a:ea typeface="Helvetica" pitchFamily="34" charset="-122"/>
                <a:cs typeface="Helvetica" pitchFamily="34" charset="-120"/>
              </a:rPr>
              <a:t>AGT policy hook</a:t>
            </a:r>
            <a:endParaRPr lang="en-US" sz="1800" dirty="0"/>
          </a:p>
        </p:txBody>
      </p:sp>
      <p:sp>
        <p:nvSpPr>
          <p:cNvPr id="23" name="Text 21"/>
          <p:cNvSpPr/>
          <p:nvPr/>
        </p:nvSpPr>
        <p:spPr>
          <a:xfrm>
            <a:off x="1371600" y="5760720"/>
            <a:ext cx="6949440" cy="457200"/>
          </a:xfrm>
          <a:prstGeom prst="rect">
            <a:avLst/>
          </a:prstGeom>
          <a:noFill/>
          <a:ln/>
        </p:spPr>
        <p:txBody>
          <a:bodyPr wrap="square" lIns="0" tIns="0" rIns="0" bIns="0" rtlCol="0" anchor="t"/>
          <a:lstStyle/>
          <a:p>
            <a:pPr indent="0" marL="0">
              <a:buNone/>
            </a:pPr>
            <a:r>
              <a:rPr lang="en-US" sz="1200" dirty="0">
                <a:solidFill>
                  <a:srgbClr val="6E7681"/>
                </a:solidFill>
                <a:latin typeface="Helvetica" pitchFamily="34" charset="0"/>
                <a:ea typeface="Helvetica" pitchFamily="34" charset="-122"/>
                <a:cs typeface="Helvetica" pitchFamily="34" charset="-120"/>
              </a:rPr>
              <a:t>Per-tool-call evaluator · trust-score gate on sub-agent spawn</a:t>
            </a:r>
            <a:endParaRPr lang="en-US" sz="1200" dirty="0"/>
          </a:p>
        </p:txBody>
      </p:sp>
      <p:sp>
        <p:nvSpPr>
          <p:cNvPr id="24" name="Text 22"/>
          <p:cNvSpPr/>
          <p:nvPr/>
        </p:nvSpPr>
        <p:spPr>
          <a:xfrm>
            <a:off x="8412480" y="5394960"/>
            <a:ext cx="3017520" cy="868680"/>
          </a:xfrm>
          <a:prstGeom prst="rect">
            <a:avLst/>
          </a:prstGeom>
          <a:noFill/>
          <a:ln/>
        </p:spPr>
        <p:txBody>
          <a:bodyPr wrap="square" lIns="0" tIns="0" rIns="0" bIns="0" rtlCol="0" anchor="ctr"/>
          <a:lstStyle/>
          <a:p>
            <a:pPr algn="r" indent="0" marL="0">
              <a:buNone/>
            </a:pPr>
            <a:r>
              <a:rPr lang="en-US" sz="1000" dirty="0">
                <a:solidFill>
                  <a:srgbClr val="AFB3BD"/>
                </a:solidFill>
                <a:latin typeface="Consolas" pitchFamily="34" charset="0"/>
                <a:ea typeface="Consolas" pitchFamily="34" charset="-122"/>
                <a:cs typeface="Consolas" pitchFamily="34" charset="-120"/>
              </a:rPr>
              <a:t>runtimes/openclaw/src/index.ts:683</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10</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§4 · DEPLOYMENT</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800" b="1" dirty="0">
                <a:solidFill>
                  <a:srgbClr val="1A1A1A"/>
                </a:solidFill>
                <a:latin typeface="Helvetica" pitchFamily="34" charset="0"/>
                <a:ea typeface="Helvetica" pitchFamily="34" charset="-122"/>
                <a:cs typeface="Helvetica" pitchFamily="34" charset="-120"/>
              </a:rPr>
              <a:t>Six shapes.  One chart.</a:t>
            </a:r>
            <a:endParaRPr lang="en-US" sz="3800" dirty="0"/>
          </a:p>
        </p:txBody>
      </p:sp>
      <p:sp>
        <p:nvSpPr>
          <p:cNvPr id="5" name="Text 3"/>
          <p:cNvSpPr/>
          <p:nvPr/>
        </p:nvSpPr>
        <p:spPr>
          <a:xfrm>
            <a:off x="640080" y="2286000"/>
            <a:ext cx="10881360" cy="91440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The KarsSandbox CRD + the helm chart are identical across all six. What differs is the trust boundary, the model provider, and whether the relay is local or federated.</a:t>
            </a:r>
            <a:endParaRPr lang="en-US" sz="1800" dirty="0"/>
          </a:p>
        </p:txBody>
      </p:sp>
      <p:sp>
        <p:nvSpPr>
          <p:cNvPr id="6" name="Shape 4"/>
          <p:cNvSpPr/>
          <p:nvPr/>
        </p:nvSpPr>
        <p:spPr>
          <a:xfrm>
            <a:off x="617220" y="3566160"/>
            <a:ext cx="3520440" cy="1463040"/>
          </a:xfrm>
          <a:prstGeom prst="rect">
            <a:avLst/>
          </a:prstGeom>
          <a:solidFill>
            <a:srgbClr val="FFFFFF"/>
          </a:solidFill>
          <a:ln w="12700">
            <a:solidFill>
              <a:srgbClr val="028090"/>
            </a:solidFill>
            <a:prstDash val="solid"/>
          </a:ln>
        </p:spPr>
      </p:sp>
      <p:sp>
        <p:nvSpPr>
          <p:cNvPr id="7" name="Text 5"/>
          <p:cNvSpPr/>
          <p:nvPr/>
        </p:nvSpPr>
        <p:spPr>
          <a:xfrm>
            <a:off x="800100" y="3703320"/>
            <a:ext cx="548640" cy="320040"/>
          </a:xfrm>
          <a:prstGeom prst="rect">
            <a:avLst/>
          </a:prstGeom>
          <a:noFill/>
          <a:ln/>
        </p:spPr>
        <p:txBody>
          <a:bodyPr wrap="square" lIns="0" tIns="0" rIns="0" bIns="0" rtlCol="0" anchor="ctr"/>
          <a:lstStyle/>
          <a:p>
            <a:pPr indent="0" marL="0">
              <a:buNone/>
            </a:pPr>
            <a:r>
              <a:rPr lang="en-US" sz="1200" dirty="0">
                <a:solidFill>
                  <a:srgbClr val="028090"/>
                </a:solidFill>
                <a:latin typeface="Consolas" pitchFamily="34" charset="0"/>
                <a:ea typeface="Consolas" pitchFamily="34" charset="-122"/>
                <a:cs typeface="Consolas" pitchFamily="34" charset="-120"/>
              </a:rPr>
              <a:t>01</a:t>
            </a:r>
            <a:endParaRPr lang="en-US" sz="1200" dirty="0"/>
          </a:p>
        </p:txBody>
      </p:sp>
      <p:sp>
        <p:nvSpPr>
          <p:cNvPr id="8" name="Text 6"/>
          <p:cNvSpPr/>
          <p:nvPr/>
        </p:nvSpPr>
        <p:spPr>
          <a:xfrm>
            <a:off x="1348740" y="3703320"/>
            <a:ext cx="260604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Developer inner loop</a:t>
            </a:r>
            <a:endParaRPr lang="en-US" sz="1500" dirty="0"/>
          </a:p>
        </p:txBody>
      </p:sp>
      <p:sp>
        <p:nvSpPr>
          <p:cNvPr id="9" name="Text 7"/>
          <p:cNvSpPr/>
          <p:nvPr/>
        </p:nvSpPr>
        <p:spPr>
          <a:xfrm>
            <a:off x="1348740" y="4023360"/>
            <a:ext cx="2606040" cy="274320"/>
          </a:xfrm>
          <a:prstGeom prst="rect">
            <a:avLst/>
          </a:prstGeom>
          <a:noFill/>
          <a:ln/>
        </p:spPr>
        <p:txBody>
          <a:bodyPr wrap="square" lIns="0" tIns="0" rIns="0" bIns="0" rtlCol="0" anchor="ctr"/>
          <a:lstStyle/>
          <a:p>
            <a:pPr indent="0" marL="0">
              <a:buNone/>
            </a:pPr>
            <a:r>
              <a:rPr lang="en-US" sz="1200" dirty="0">
                <a:solidFill>
                  <a:srgbClr val="6E7681"/>
                </a:solidFill>
                <a:latin typeface="Helvetica" pitchFamily="34" charset="0"/>
                <a:ea typeface="Helvetica" pitchFamily="34" charset="-122"/>
                <a:cs typeface="Helvetica" pitchFamily="34" charset="-120"/>
              </a:rPr>
              <a:t>laptop · docker</a:t>
            </a:r>
            <a:endParaRPr lang="en-US" sz="1200" dirty="0"/>
          </a:p>
        </p:txBody>
      </p:sp>
      <p:sp>
        <p:nvSpPr>
          <p:cNvPr id="10" name="Text 8"/>
          <p:cNvSpPr/>
          <p:nvPr/>
        </p:nvSpPr>
        <p:spPr>
          <a:xfrm>
            <a:off x="800100" y="4480560"/>
            <a:ext cx="3154680" cy="457200"/>
          </a:xfrm>
          <a:prstGeom prst="rect">
            <a:avLst/>
          </a:prstGeom>
          <a:noFill/>
          <a:ln/>
        </p:spPr>
        <p:txBody>
          <a:bodyPr wrap="square" lIns="0" tIns="0" rIns="0" bIns="0" rtlCol="0" anchor="ctr"/>
          <a:lstStyle/>
          <a:p>
            <a:pPr indent="0" marL="0">
              <a:buNone/>
            </a:pPr>
            <a:r>
              <a:rPr lang="en-US" sz="1100" i="1" dirty="0">
                <a:solidFill>
                  <a:srgbClr val="028090"/>
                </a:solidFill>
                <a:latin typeface="Helvetica" pitchFamily="34" charset="0"/>
                <a:ea typeface="Helvetica" pitchFamily="34" charset="-122"/>
                <a:cs typeface="Helvetica" pitchFamily="34" charset="-120"/>
              </a:rPr>
              <a:t>single image · no cluster · 30s start</a:t>
            </a:r>
            <a:endParaRPr lang="en-US" sz="1100" dirty="0"/>
          </a:p>
        </p:txBody>
      </p:sp>
      <p:sp>
        <p:nvSpPr>
          <p:cNvPr id="11" name="Shape 9"/>
          <p:cNvSpPr/>
          <p:nvPr/>
        </p:nvSpPr>
        <p:spPr>
          <a:xfrm>
            <a:off x="4320540" y="3566160"/>
            <a:ext cx="3520440" cy="1463040"/>
          </a:xfrm>
          <a:prstGeom prst="rect">
            <a:avLst/>
          </a:prstGeom>
          <a:solidFill>
            <a:srgbClr val="FFFFFF"/>
          </a:solidFill>
          <a:ln w="12700">
            <a:solidFill>
              <a:srgbClr val="028090"/>
            </a:solidFill>
            <a:prstDash val="solid"/>
          </a:ln>
        </p:spPr>
      </p:sp>
      <p:sp>
        <p:nvSpPr>
          <p:cNvPr id="12" name="Text 10"/>
          <p:cNvSpPr/>
          <p:nvPr/>
        </p:nvSpPr>
        <p:spPr>
          <a:xfrm>
            <a:off x="4503420" y="3703320"/>
            <a:ext cx="548640" cy="320040"/>
          </a:xfrm>
          <a:prstGeom prst="rect">
            <a:avLst/>
          </a:prstGeom>
          <a:noFill/>
          <a:ln/>
        </p:spPr>
        <p:txBody>
          <a:bodyPr wrap="square" lIns="0" tIns="0" rIns="0" bIns="0" rtlCol="0" anchor="ctr"/>
          <a:lstStyle/>
          <a:p>
            <a:pPr indent="0" marL="0">
              <a:buNone/>
            </a:pPr>
            <a:r>
              <a:rPr lang="en-US" sz="1200" dirty="0">
                <a:solidFill>
                  <a:srgbClr val="028090"/>
                </a:solidFill>
                <a:latin typeface="Consolas" pitchFamily="34" charset="0"/>
                <a:ea typeface="Consolas" pitchFamily="34" charset="-122"/>
                <a:cs typeface="Consolas" pitchFamily="34" charset="-120"/>
              </a:rPr>
              <a:t>02</a:t>
            </a:r>
            <a:endParaRPr lang="en-US" sz="1200" dirty="0"/>
          </a:p>
        </p:txBody>
      </p:sp>
      <p:sp>
        <p:nvSpPr>
          <p:cNvPr id="13" name="Text 11"/>
          <p:cNvSpPr/>
          <p:nvPr/>
        </p:nvSpPr>
        <p:spPr>
          <a:xfrm>
            <a:off x="5052060" y="3703320"/>
            <a:ext cx="260604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Local Kubernetes dev</a:t>
            </a:r>
            <a:endParaRPr lang="en-US" sz="1500" dirty="0"/>
          </a:p>
        </p:txBody>
      </p:sp>
      <p:sp>
        <p:nvSpPr>
          <p:cNvPr id="14" name="Text 12"/>
          <p:cNvSpPr/>
          <p:nvPr/>
        </p:nvSpPr>
        <p:spPr>
          <a:xfrm>
            <a:off x="5052060" y="4023360"/>
            <a:ext cx="2606040" cy="274320"/>
          </a:xfrm>
          <a:prstGeom prst="rect">
            <a:avLst/>
          </a:prstGeom>
          <a:noFill/>
          <a:ln/>
        </p:spPr>
        <p:txBody>
          <a:bodyPr wrap="square" lIns="0" tIns="0" rIns="0" bIns="0" rtlCol="0" anchor="ctr"/>
          <a:lstStyle/>
          <a:p>
            <a:pPr indent="0" marL="0">
              <a:buNone/>
            </a:pPr>
            <a:r>
              <a:rPr lang="en-US" sz="1200" dirty="0">
                <a:solidFill>
                  <a:srgbClr val="6E7681"/>
                </a:solidFill>
                <a:latin typeface="Helvetica" pitchFamily="34" charset="0"/>
                <a:ea typeface="Helvetica" pitchFamily="34" charset="-122"/>
                <a:cs typeface="Helvetica" pitchFamily="34" charset="-120"/>
              </a:rPr>
              <a:t>laptop · kind</a:t>
            </a:r>
            <a:endParaRPr lang="en-US" sz="1200" dirty="0"/>
          </a:p>
        </p:txBody>
      </p:sp>
      <p:sp>
        <p:nvSpPr>
          <p:cNvPr id="15" name="Text 13"/>
          <p:cNvSpPr/>
          <p:nvPr/>
        </p:nvSpPr>
        <p:spPr>
          <a:xfrm>
            <a:off x="4503420" y="4480560"/>
            <a:ext cx="3154680" cy="457200"/>
          </a:xfrm>
          <a:prstGeom prst="rect">
            <a:avLst/>
          </a:prstGeom>
          <a:noFill/>
          <a:ln/>
        </p:spPr>
        <p:txBody>
          <a:bodyPr wrap="square" lIns="0" tIns="0" rIns="0" bIns="0" rtlCol="0" anchor="ctr"/>
          <a:lstStyle/>
          <a:p>
            <a:pPr indent="0" marL="0">
              <a:buNone/>
            </a:pPr>
            <a:r>
              <a:rPr lang="en-US" sz="1100" i="1" dirty="0">
                <a:solidFill>
                  <a:srgbClr val="028090"/>
                </a:solidFill>
                <a:latin typeface="Helvetica" pitchFamily="34" charset="0"/>
                <a:ea typeface="Helvetica" pitchFamily="34" charset="-122"/>
                <a:cs typeface="Helvetica" pitchFamily="34" charset="-120"/>
              </a:rPr>
              <a:t>real K8s · helm + Headlamp</a:t>
            </a:r>
            <a:endParaRPr lang="en-US" sz="1100" dirty="0"/>
          </a:p>
        </p:txBody>
      </p:sp>
      <p:sp>
        <p:nvSpPr>
          <p:cNvPr id="16" name="Shape 14"/>
          <p:cNvSpPr/>
          <p:nvPr/>
        </p:nvSpPr>
        <p:spPr>
          <a:xfrm>
            <a:off x="8023860" y="3566160"/>
            <a:ext cx="3520440" cy="1463040"/>
          </a:xfrm>
          <a:prstGeom prst="rect">
            <a:avLst/>
          </a:prstGeom>
          <a:solidFill>
            <a:srgbClr val="FFFFFF"/>
          </a:solidFill>
          <a:ln w="12700">
            <a:solidFill>
              <a:srgbClr val="028090"/>
            </a:solidFill>
            <a:prstDash val="solid"/>
          </a:ln>
        </p:spPr>
      </p:sp>
      <p:sp>
        <p:nvSpPr>
          <p:cNvPr id="17" name="Text 15"/>
          <p:cNvSpPr/>
          <p:nvPr/>
        </p:nvSpPr>
        <p:spPr>
          <a:xfrm>
            <a:off x="8206740" y="3703320"/>
            <a:ext cx="548640" cy="320040"/>
          </a:xfrm>
          <a:prstGeom prst="rect">
            <a:avLst/>
          </a:prstGeom>
          <a:noFill/>
          <a:ln/>
        </p:spPr>
        <p:txBody>
          <a:bodyPr wrap="square" lIns="0" tIns="0" rIns="0" bIns="0" rtlCol="0" anchor="ctr"/>
          <a:lstStyle/>
          <a:p>
            <a:pPr indent="0" marL="0">
              <a:buNone/>
            </a:pPr>
            <a:r>
              <a:rPr lang="en-US" sz="1200" dirty="0">
                <a:solidFill>
                  <a:srgbClr val="028090"/>
                </a:solidFill>
                <a:latin typeface="Consolas" pitchFamily="34" charset="0"/>
                <a:ea typeface="Consolas" pitchFamily="34" charset="-122"/>
                <a:cs typeface="Consolas" pitchFamily="34" charset="-120"/>
              </a:rPr>
              <a:t>03</a:t>
            </a:r>
            <a:endParaRPr lang="en-US" sz="1200" dirty="0"/>
          </a:p>
        </p:txBody>
      </p:sp>
      <p:sp>
        <p:nvSpPr>
          <p:cNvPr id="18" name="Text 16"/>
          <p:cNvSpPr/>
          <p:nvPr/>
        </p:nvSpPr>
        <p:spPr>
          <a:xfrm>
            <a:off x="8755380" y="3703320"/>
            <a:ext cx="260604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Enterprise self-hosted</a:t>
            </a:r>
            <a:endParaRPr lang="en-US" sz="1500" dirty="0"/>
          </a:p>
        </p:txBody>
      </p:sp>
      <p:sp>
        <p:nvSpPr>
          <p:cNvPr id="19" name="Text 17"/>
          <p:cNvSpPr/>
          <p:nvPr/>
        </p:nvSpPr>
        <p:spPr>
          <a:xfrm>
            <a:off x="8755380" y="4023360"/>
            <a:ext cx="2606040" cy="274320"/>
          </a:xfrm>
          <a:prstGeom prst="rect">
            <a:avLst/>
          </a:prstGeom>
          <a:noFill/>
          <a:ln/>
        </p:spPr>
        <p:txBody>
          <a:bodyPr wrap="square" lIns="0" tIns="0" rIns="0" bIns="0" rtlCol="0" anchor="ctr"/>
          <a:lstStyle/>
          <a:p>
            <a:pPr indent="0" marL="0">
              <a:buNone/>
            </a:pPr>
            <a:r>
              <a:rPr lang="en-US" sz="1200" dirty="0">
                <a:solidFill>
                  <a:srgbClr val="6E7681"/>
                </a:solidFill>
                <a:latin typeface="Helvetica" pitchFamily="34" charset="0"/>
                <a:ea typeface="Helvetica" pitchFamily="34" charset="-122"/>
                <a:cs typeface="Helvetica" pitchFamily="34" charset="-120"/>
              </a:rPr>
              <a:t>AKS · single tenant</a:t>
            </a:r>
            <a:endParaRPr lang="en-US" sz="1200" dirty="0"/>
          </a:p>
        </p:txBody>
      </p:sp>
      <p:sp>
        <p:nvSpPr>
          <p:cNvPr id="20" name="Text 18"/>
          <p:cNvSpPr/>
          <p:nvPr/>
        </p:nvSpPr>
        <p:spPr>
          <a:xfrm>
            <a:off x="8206740" y="4480560"/>
            <a:ext cx="3154680" cy="457200"/>
          </a:xfrm>
          <a:prstGeom prst="rect">
            <a:avLst/>
          </a:prstGeom>
          <a:noFill/>
          <a:ln/>
        </p:spPr>
        <p:txBody>
          <a:bodyPr wrap="square" lIns="0" tIns="0" rIns="0" bIns="0" rtlCol="0" anchor="ctr"/>
          <a:lstStyle/>
          <a:p>
            <a:pPr indent="0" marL="0">
              <a:buNone/>
            </a:pPr>
            <a:r>
              <a:rPr lang="en-US" sz="1100" i="1" dirty="0">
                <a:solidFill>
                  <a:srgbClr val="028090"/>
                </a:solidFill>
                <a:latin typeface="Helvetica" pitchFamily="34" charset="0"/>
                <a:ea typeface="Helvetica" pitchFamily="34" charset="-122"/>
                <a:cs typeface="Helvetica" pitchFamily="34" charset="-120"/>
              </a:rPr>
              <a:t>private VNet · WI · audit retention</a:t>
            </a:r>
            <a:endParaRPr lang="en-US" sz="1100" dirty="0"/>
          </a:p>
        </p:txBody>
      </p:sp>
      <p:sp>
        <p:nvSpPr>
          <p:cNvPr id="21" name="Shape 19"/>
          <p:cNvSpPr/>
          <p:nvPr/>
        </p:nvSpPr>
        <p:spPr>
          <a:xfrm>
            <a:off x="617220" y="5212080"/>
            <a:ext cx="3520440" cy="1463040"/>
          </a:xfrm>
          <a:prstGeom prst="rect">
            <a:avLst/>
          </a:prstGeom>
          <a:solidFill>
            <a:srgbClr val="FFFFFF"/>
          </a:solidFill>
          <a:ln w="12700">
            <a:solidFill>
              <a:srgbClr val="028090"/>
            </a:solidFill>
            <a:prstDash val="solid"/>
          </a:ln>
        </p:spPr>
      </p:sp>
      <p:sp>
        <p:nvSpPr>
          <p:cNvPr id="22" name="Text 20"/>
          <p:cNvSpPr/>
          <p:nvPr/>
        </p:nvSpPr>
        <p:spPr>
          <a:xfrm>
            <a:off x="800100" y="5349240"/>
            <a:ext cx="548640" cy="320040"/>
          </a:xfrm>
          <a:prstGeom prst="rect">
            <a:avLst/>
          </a:prstGeom>
          <a:noFill/>
          <a:ln/>
        </p:spPr>
        <p:txBody>
          <a:bodyPr wrap="square" lIns="0" tIns="0" rIns="0" bIns="0" rtlCol="0" anchor="ctr"/>
          <a:lstStyle/>
          <a:p>
            <a:pPr indent="0" marL="0">
              <a:buNone/>
            </a:pPr>
            <a:r>
              <a:rPr lang="en-US" sz="1200" dirty="0">
                <a:solidFill>
                  <a:srgbClr val="028090"/>
                </a:solidFill>
                <a:latin typeface="Consolas" pitchFamily="34" charset="0"/>
                <a:ea typeface="Consolas" pitchFamily="34" charset="-122"/>
                <a:cs typeface="Consolas" pitchFamily="34" charset="-120"/>
              </a:rPr>
              <a:t>04</a:t>
            </a:r>
            <a:endParaRPr lang="en-US" sz="1200" dirty="0"/>
          </a:p>
        </p:txBody>
      </p:sp>
      <p:sp>
        <p:nvSpPr>
          <p:cNvPr id="23" name="Text 21"/>
          <p:cNvSpPr/>
          <p:nvPr/>
        </p:nvSpPr>
        <p:spPr>
          <a:xfrm>
            <a:off x="1348740" y="5349240"/>
            <a:ext cx="260604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Managed public offload</a:t>
            </a:r>
            <a:endParaRPr lang="en-US" sz="1500" dirty="0"/>
          </a:p>
        </p:txBody>
      </p:sp>
      <p:sp>
        <p:nvSpPr>
          <p:cNvPr id="24" name="Text 22"/>
          <p:cNvSpPr/>
          <p:nvPr/>
        </p:nvSpPr>
        <p:spPr>
          <a:xfrm>
            <a:off x="1348740" y="5669280"/>
            <a:ext cx="2606040" cy="274320"/>
          </a:xfrm>
          <a:prstGeom prst="rect">
            <a:avLst/>
          </a:prstGeom>
          <a:noFill/>
          <a:ln/>
        </p:spPr>
        <p:txBody>
          <a:bodyPr wrap="square" lIns="0" tIns="0" rIns="0" bIns="0" rtlCol="0" anchor="ctr"/>
          <a:lstStyle/>
          <a:p>
            <a:pPr indent="0" marL="0">
              <a:buNone/>
            </a:pPr>
            <a:r>
              <a:rPr lang="en-US" sz="1200" dirty="0">
                <a:solidFill>
                  <a:srgbClr val="6E7681"/>
                </a:solidFill>
                <a:latin typeface="Helvetica" pitchFamily="34" charset="0"/>
                <a:ea typeface="Helvetica" pitchFamily="34" charset="-122"/>
                <a:cs typeface="Helvetica" pitchFamily="34" charset="-120"/>
              </a:rPr>
              <a:t>AKS · multi-tenant</a:t>
            </a:r>
            <a:endParaRPr lang="en-US" sz="1200" dirty="0"/>
          </a:p>
        </p:txBody>
      </p:sp>
      <p:sp>
        <p:nvSpPr>
          <p:cNvPr id="25" name="Text 23"/>
          <p:cNvSpPr/>
          <p:nvPr/>
        </p:nvSpPr>
        <p:spPr>
          <a:xfrm>
            <a:off x="800100" y="6126480"/>
            <a:ext cx="3154680" cy="457200"/>
          </a:xfrm>
          <a:prstGeom prst="rect">
            <a:avLst/>
          </a:prstGeom>
          <a:noFill/>
          <a:ln/>
        </p:spPr>
        <p:txBody>
          <a:bodyPr wrap="square" lIns="0" tIns="0" rIns="0" bIns="0" rtlCol="0" anchor="ctr"/>
          <a:lstStyle/>
          <a:p>
            <a:pPr indent="0" marL="0">
              <a:buNone/>
            </a:pPr>
            <a:r>
              <a:rPr lang="en-US" sz="1100" i="1" dirty="0">
                <a:solidFill>
                  <a:srgbClr val="028090"/>
                </a:solidFill>
                <a:latin typeface="Helvetica" pitchFamily="34" charset="0"/>
                <a:ea typeface="Helvetica" pitchFamily="34" charset="-122"/>
                <a:cs typeface="Helvetica" pitchFamily="34" charset="-120"/>
              </a:rPr>
              <a:t>Kata + SEV-SNP · provider untrusted</a:t>
            </a:r>
            <a:endParaRPr lang="en-US" sz="1100" dirty="0"/>
          </a:p>
        </p:txBody>
      </p:sp>
      <p:sp>
        <p:nvSpPr>
          <p:cNvPr id="26" name="Shape 24"/>
          <p:cNvSpPr/>
          <p:nvPr/>
        </p:nvSpPr>
        <p:spPr>
          <a:xfrm>
            <a:off x="4320540" y="5212080"/>
            <a:ext cx="3520440" cy="1463040"/>
          </a:xfrm>
          <a:prstGeom prst="rect">
            <a:avLst/>
          </a:prstGeom>
          <a:solidFill>
            <a:srgbClr val="FFFFFF"/>
          </a:solidFill>
          <a:ln w="12700">
            <a:solidFill>
              <a:srgbClr val="028090"/>
            </a:solidFill>
            <a:prstDash val="solid"/>
          </a:ln>
        </p:spPr>
      </p:sp>
      <p:sp>
        <p:nvSpPr>
          <p:cNvPr id="27" name="Text 25"/>
          <p:cNvSpPr/>
          <p:nvPr/>
        </p:nvSpPr>
        <p:spPr>
          <a:xfrm>
            <a:off x="4503420" y="5349240"/>
            <a:ext cx="548640" cy="320040"/>
          </a:xfrm>
          <a:prstGeom prst="rect">
            <a:avLst/>
          </a:prstGeom>
          <a:noFill/>
          <a:ln/>
        </p:spPr>
        <p:txBody>
          <a:bodyPr wrap="square" lIns="0" tIns="0" rIns="0" bIns="0" rtlCol="0" anchor="ctr"/>
          <a:lstStyle/>
          <a:p>
            <a:pPr indent="0" marL="0">
              <a:buNone/>
            </a:pPr>
            <a:r>
              <a:rPr lang="en-US" sz="1200" dirty="0">
                <a:solidFill>
                  <a:srgbClr val="028090"/>
                </a:solidFill>
                <a:latin typeface="Consolas" pitchFamily="34" charset="0"/>
                <a:ea typeface="Consolas" pitchFamily="34" charset="-122"/>
                <a:cs typeface="Consolas" pitchFamily="34" charset="-120"/>
              </a:rPr>
              <a:t>05</a:t>
            </a:r>
            <a:endParaRPr lang="en-US" sz="1200" dirty="0"/>
          </a:p>
        </p:txBody>
      </p:sp>
      <p:sp>
        <p:nvSpPr>
          <p:cNvPr id="28" name="Text 26"/>
          <p:cNvSpPr/>
          <p:nvPr/>
        </p:nvSpPr>
        <p:spPr>
          <a:xfrm>
            <a:off x="5052060" y="5349240"/>
            <a:ext cx="260604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Cross-org federation</a:t>
            </a:r>
            <a:endParaRPr lang="en-US" sz="1500" dirty="0"/>
          </a:p>
        </p:txBody>
      </p:sp>
      <p:sp>
        <p:nvSpPr>
          <p:cNvPr id="29" name="Text 27"/>
          <p:cNvSpPr/>
          <p:nvPr/>
        </p:nvSpPr>
        <p:spPr>
          <a:xfrm>
            <a:off x="5052060" y="5669280"/>
            <a:ext cx="2606040" cy="274320"/>
          </a:xfrm>
          <a:prstGeom prst="rect">
            <a:avLst/>
          </a:prstGeom>
          <a:noFill/>
          <a:ln/>
        </p:spPr>
        <p:txBody>
          <a:bodyPr wrap="square" lIns="0" tIns="0" rIns="0" bIns="0" rtlCol="0" anchor="ctr"/>
          <a:lstStyle/>
          <a:p>
            <a:pPr indent="0" marL="0">
              <a:buNone/>
            </a:pPr>
            <a:r>
              <a:rPr lang="en-US" sz="1200" dirty="0">
                <a:solidFill>
                  <a:srgbClr val="6E7681"/>
                </a:solidFill>
                <a:latin typeface="Helvetica" pitchFamily="34" charset="0"/>
                <a:ea typeface="Helvetica" pitchFamily="34" charset="-122"/>
                <a:cs typeface="Helvetica" pitchFamily="34" charset="-120"/>
              </a:rPr>
              <a:t>two AKS clusters</a:t>
            </a:r>
            <a:endParaRPr lang="en-US" sz="1200" dirty="0"/>
          </a:p>
        </p:txBody>
      </p:sp>
      <p:sp>
        <p:nvSpPr>
          <p:cNvPr id="30" name="Text 28"/>
          <p:cNvSpPr/>
          <p:nvPr/>
        </p:nvSpPr>
        <p:spPr>
          <a:xfrm>
            <a:off x="4503420" y="6126480"/>
            <a:ext cx="3154680" cy="457200"/>
          </a:xfrm>
          <a:prstGeom prst="rect">
            <a:avLst/>
          </a:prstGeom>
          <a:noFill/>
          <a:ln/>
        </p:spPr>
        <p:txBody>
          <a:bodyPr wrap="square" lIns="0" tIns="0" rIns="0" bIns="0" rtlCol="0" anchor="ctr"/>
          <a:lstStyle/>
          <a:p>
            <a:pPr indent="0" marL="0">
              <a:buNone/>
            </a:pPr>
            <a:r>
              <a:rPr lang="en-US" sz="1100" i="1" dirty="0">
                <a:solidFill>
                  <a:srgbClr val="028090"/>
                </a:solidFill>
                <a:latin typeface="Helvetica" pitchFamily="34" charset="0"/>
                <a:ea typeface="Helvetica" pitchFamily="34" charset="-122"/>
                <a:cs typeface="Helvetica" pitchFamily="34" charset="-120"/>
              </a:rPr>
              <a:t>A2A bridge · double policy evaluation</a:t>
            </a:r>
            <a:endParaRPr lang="en-US" sz="1100" dirty="0"/>
          </a:p>
        </p:txBody>
      </p:sp>
      <p:sp>
        <p:nvSpPr>
          <p:cNvPr id="31" name="Shape 29"/>
          <p:cNvSpPr/>
          <p:nvPr/>
        </p:nvSpPr>
        <p:spPr>
          <a:xfrm>
            <a:off x="8023860" y="5212080"/>
            <a:ext cx="3520440" cy="1463040"/>
          </a:xfrm>
          <a:prstGeom prst="rect">
            <a:avLst/>
          </a:prstGeom>
          <a:solidFill>
            <a:srgbClr val="FFFFFF"/>
          </a:solidFill>
          <a:ln w="12700">
            <a:solidFill>
              <a:srgbClr val="028090"/>
            </a:solidFill>
            <a:prstDash val="solid"/>
          </a:ln>
        </p:spPr>
      </p:sp>
      <p:sp>
        <p:nvSpPr>
          <p:cNvPr id="32" name="Text 30"/>
          <p:cNvSpPr/>
          <p:nvPr/>
        </p:nvSpPr>
        <p:spPr>
          <a:xfrm>
            <a:off x="8206740" y="5349240"/>
            <a:ext cx="548640" cy="320040"/>
          </a:xfrm>
          <a:prstGeom prst="rect">
            <a:avLst/>
          </a:prstGeom>
          <a:noFill/>
          <a:ln/>
        </p:spPr>
        <p:txBody>
          <a:bodyPr wrap="square" lIns="0" tIns="0" rIns="0" bIns="0" rtlCol="0" anchor="ctr"/>
          <a:lstStyle/>
          <a:p>
            <a:pPr indent="0" marL="0">
              <a:buNone/>
            </a:pPr>
            <a:r>
              <a:rPr lang="en-US" sz="1200" dirty="0">
                <a:solidFill>
                  <a:srgbClr val="028090"/>
                </a:solidFill>
                <a:latin typeface="Consolas" pitchFamily="34" charset="0"/>
                <a:ea typeface="Consolas" pitchFamily="34" charset="-122"/>
                <a:cs typeface="Consolas" pitchFamily="34" charset="-120"/>
              </a:rPr>
              <a:t>06</a:t>
            </a:r>
            <a:endParaRPr lang="en-US" sz="1200" dirty="0"/>
          </a:p>
        </p:txBody>
      </p:sp>
      <p:sp>
        <p:nvSpPr>
          <p:cNvPr id="33" name="Text 31"/>
          <p:cNvSpPr/>
          <p:nvPr/>
        </p:nvSpPr>
        <p:spPr>
          <a:xfrm>
            <a:off x="8755380" y="5349240"/>
            <a:ext cx="260604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Sovereign / air-gapped</a:t>
            </a:r>
            <a:endParaRPr lang="en-US" sz="1500" dirty="0"/>
          </a:p>
        </p:txBody>
      </p:sp>
      <p:sp>
        <p:nvSpPr>
          <p:cNvPr id="34" name="Text 32"/>
          <p:cNvSpPr/>
          <p:nvPr/>
        </p:nvSpPr>
        <p:spPr>
          <a:xfrm>
            <a:off x="8755380" y="5669280"/>
            <a:ext cx="2606040" cy="274320"/>
          </a:xfrm>
          <a:prstGeom prst="rect">
            <a:avLst/>
          </a:prstGeom>
          <a:noFill/>
          <a:ln/>
        </p:spPr>
        <p:txBody>
          <a:bodyPr wrap="square" lIns="0" tIns="0" rIns="0" bIns="0" rtlCol="0" anchor="ctr"/>
          <a:lstStyle/>
          <a:p>
            <a:pPr indent="0" marL="0">
              <a:buNone/>
            </a:pPr>
            <a:r>
              <a:rPr lang="en-US" sz="1200" dirty="0">
                <a:solidFill>
                  <a:srgbClr val="6E7681"/>
                </a:solidFill>
                <a:latin typeface="Helvetica" pitchFamily="34" charset="0"/>
                <a:ea typeface="Helvetica" pitchFamily="34" charset="-122"/>
                <a:cs typeface="Helvetica" pitchFamily="34" charset="-120"/>
              </a:rPr>
              <a:t>isolated AKS</a:t>
            </a:r>
            <a:endParaRPr lang="en-US" sz="1200" dirty="0"/>
          </a:p>
        </p:txBody>
      </p:sp>
      <p:sp>
        <p:nvSpPr>
          <p:cNvPr id="35" name="Text 33"/>
          <p:cNvSpPr/>
          <p:nvPr/>
        </p:nvSpPr>
        <p:spPr>
          <a:xfrm>
            <a:off x="8206740" y="6126480"/>
            <a:ext cx="3154680" cy="457200"/>
          </a:xfrm>
          <a:prstGeom prst="rect">
            <a:avLst/>
          </a:prstGeom>
          <a:noFill/>
          <a:ln/>
        </p:spPr>
        <p:txBody>
          <a:bodyPr wrap="square" lIns="0" tIns="0" rIns="0" bIns="0" rtlCol="0" anchor="ctr"/>
          <a:lstStyle/>
          <a:p>
            <a:pPr indent="0" marL="0">
              <a:buNone/>
            </a:pPr>
            <a:r>
              <a:rPr lang="en-US" sz="1100" i="1" dirty="0">
                <a:solidFill>
                  <a:srgbClr val="028090"/>
                </a:solidFill>
                <a:latin typeface="Helvetica" pitchFamily="34" charset="0"/>
                <a:ea typeface="Helvetica" pitchFamily="34" charset="-122"/>
                <a:cs typeface="Helvetica" pitchFamily="34" charset="-120"/>
              </a:rPr>
              <a:t>private model · signed allowlist · no egress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11</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§5 · RUNTIMES</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600" b="1" dirty="0">
                <a:solidFill>
                  <a:srgbClr val="1A1A1A"/>
                </a:solidFill>
                <a:latin typeface="Helvetica" pitchFamily="34" charset="0"/>
                <a:ea typeface="Helvetica" pitchFamily="34" charset="-122"/>
                <a:cs typeface="Helvetica" pitchFamily="34" charset="-120"/>
              </a:rPr>
              <a:t>Eight wired.  Bring your own for the ninth.</a:t>
            </a:r>
            <a:endParaRPr lang="en-US" sz="3600" dirty="0"/>
          </a:p>
        </p:txBody>
      </p:sp>
      <p:sp>
        <p:nvSpPr>
          <p:cNvPr id="5" name="Text 3"/>
          <p:cNvSpPr/>
          <p:nvPr/>
        </p:nvSpPr>
        <p:spPr>
          <a:xfrm>
            <a:off x="640080" y="2286000"/>
            <a:ext cx="10881360" cy="100584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WIRED_KINDS in cli/src/runtime.ts is the single source of truth.  Adding a new runtime: new image, new entrypoint, new controller branch, new CRD variant — call it a few days, not a few weeks.</a:t>
            </a:r>
            <a:endParaRPr lang="en-US" sz="1800" dirty="0"/>
          </a:p>
        </p:txBody>
      </p:sp>
      <p:sp>
        <p:nvSpPr>
          <p:cNvPr id="6" name="Shape 4"/>
          <p:cNvSpPr/>
          <p:nvPr/>
        </p:nvSpPr>
        <p:spPr>
          <a:xfrm>
            <a:off x="571500" y="3657600"/>
            <a:ext cx="2651760" cy="914400"/>
          </a:xfrm>
          <a:prstGeom prst="rect">
            <a:avLst/>
          </a:prstGeom>
          <a:solidFill>
            <a:srgbClr val="FFFFFF"/>
          </a:solidFill>
          <a:ln w="12700">
            <a:solidFill>
              <a:srgbClr val="028090"/>
            </a:solidFill>
            <a:prstDash val="solid"/>
          </a:ln>
        </p:spPr>
      </p:sp>
      <p:sp>
        <p:nvSpPr>
          <p:cNvPr id="7" name="Text 5"/>
          <p:cNvSpPr/>
          <p:nvPr/>
        </p:nvSpPr>
        <p:spPr>
          <a:xfrm>
            <a:off x="754380" y="379476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OpenClaw</a:t>
            </a:r>
            <a:endParaRPr lang="en-US" sz="1500" dirty="0"/>
          </a:p>
        </p:txBody>
      </p:sp>
      <p:sp>
        <p:nvSpPr>
          <p:cNvPr id="8" name="Text 6"/>
          <p:cNvSpPr/>
          <p:nvPr/>
        </p:nvSpPr>
        <p:spPr>
          <a:xfrm>
            <a:off x="754380" y="416052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TypeScript · 24 plugin tools · channels</a:t>
            </a:r>
            <a:endParaRPr lang="en-US" sz="1100" dirty="0"/>
          </a:p>
        </p:txBody>
      </p:sp>
      <p:sp>
        <p:nvSpPr>
          <p:cNvPr id="9" name="Shape 7"/>
          <p:cNvSpPr/>
          <p:nvPr/>
        </p:nvSpPr>
        <p:spPr>
          <a:xfrm>
            <a:off x="3360420" y="3657600"/>
            <a:ext cx="2651760" cy="914400"/>
          </a:xfrm>
          <a:prstGeom prst="rect">
            <a:avLst/>
          </a:prstGeom>
          <a:solidFill>
            <a:srgbClr val="FFFFFF"/>
          </a:solidFill>
          <a:ln w="12700">
            <a:solidFill>
              <a:srgbClr val="028090"/>
            </a:solidFill>
            <a:prstDash val="solid"/>
          </a:ln>
        </p:spPr>
      </p:sp>
      <p:sp>
        <p:nvSpPr>
          <p:cNvPr id="10" name="Text 8"/>
          <p:cNvSpPr/>
          <p:nvPr/>
        </p:nvSpPr>
        <p:spPr>
          <a:xfrm>
            <a:off x="3543300" y="379476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Hermes</a:t>
            </a:r>
            <a:endParaRPr lang="en-US" sz="1500" dirty="0"/>
          </a:p>
        </p:txBody>
      </p:sp>
      <p:sp>
        <p:nvSpPr>
          <p:cNvPr id="11" name="Text 9"/>
          <p:cNvSpPr/>
          <p:nvPr/>
        </p:nvSpPr>
        <p:spPr>
          <a:xfrm>
            <a:off x="3543300" y="416052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Python 3.11+ · 15 plugin tools · 20+ Hermes channels</a:t>
            </a:r>
            <a:endParaRPr lang="en-US" sz="1100" dirty="0"/>
          </a:p>
        </p:txBody>
      </p:sp>
      <p:sp>
        <p:nvSpPr>
          <p:cNvPr id="12" name="Shape 10"/>
          <p:cNvSpPr/>
          <p:nvPr/>
        </p:nvSpPr>
        <p:spPr>
          <a:xfrm>
            <a:off x="6149340" y="3657600"/>
            <a:ext cx="2651760" cy="914400"/>
          </a:xfrm>
          <a:prstGeom prst="rect">
            <a:avLst/>
          </a:prstGeom>
          <a:solidFill>
            <a:srgbClr val="FFFFFF"/>
          </a:solidFill>
          <a:ln w="12700">
            <a:solidFill>
              <a:srgbClr val="028090"/>
            </a:solidFill>
            <a:prstDash val="solid"/>
          </a:ln>
        </p:spPr>
      </p:sp>
      <p:sp>
        <p:nvSpPr>
          <p:cNvPr id="13" name="Text 11"/>
          <p:cNvSpPr/>
          <p:nvPr/>
        </p:nvSpPr>
        <p:spPr>
          <a:xfrm>
            <a:off x="6332220" y="379476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Anthropic</a:t>
            </a:r>
            <a:endParaRPr lang="en-US" sz="1500" dirty="0"/>
          </a:p>
        </p:txBody>
      </p:sp>
      <p:sp>
        <p:nvSpPr>
          <p:cNvPr id="14" name="Text 12"/>
          <p:cNvSpPr/>
          <p:nvPr/>
        </p:nvSpPr>
        <p:spPr>
          <a:xfrm>
            <a:off x="6332220" y="416052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Claude SDK · Python · base_url loopback</a:t>
            </a:r>
            <a:endParaRPr lang="en-US" sz="1100" dirty="0"/>
          </a:p>
        </p:txBody>
      </p:sp>
      <p:sp>
        <p:nvSpPr>
          <p:cNvPr id="15" name="Shape 13"/>
          <p:cNvSpPr/>
          <p:nvPr/>
        </p:nvSpPr>
        <p:spPr>
          <a:xfrm>
            <a:off x="8938260" y="3657600"/>
            <a:ext cx="2651760" cy="914400"/>
          </a:xfrm>
          <a:prstGeom prst="rect">
            <a:avLst/>
          </a:prstGeom>
          <a:solidFill>
            <a:srgbClr val="FFFFFF"/>
          </a:solidFill>
          <a:ln w="12700">
            <a:solidFill>
              <a:srgbClr val="028090"/>
            </a:solidFill>
            <a:prstDash val="solid"/>
          </a:ln>
        </p:spPr>
      </p:sp>
      <p:sp>
        <p:nvSpPr>
          <p:cNvPr id="16" name="Text 14"/>
          <p:cNvSpPr/>
          <p:nvPr/>
        </p:nvSpPr>
        <p:spPr>
          <a:xfrm>
            <a:off x="9121140" y="379476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MAF</a:t>
            </a:r>
            <a:endParaRPr lang="en-US" sz="1500" dirty="0"/>
          </a:p>
        </p:txBody>
      </p:sp>
      <p:sp>
        <p:nvSpPr>
          <p:cNvPr id="17" name="Text 15"/>
          <p:cNvSpPr/>
          <p:nvPr/>
        </p:nvSpPr>
        <p:spPr>
          <a:xfrm>
            <a:off x="9121140" y="416052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Microsoft Agent Framework · Python wired today</a:t>
            </a:r>
            <a:endParaRPr lang="en-US" sz="1100" dirty="0"/>
          </a:p>
        </p:txBody>
      </p:sp>
      <p:sp>
        <p:nvSpPr>
          <p:cNvPr id="18" name="Shape 16"/>
          <p:cNvSpPr/>
          <p:nvPr/>
        </p:nvSpPr>
        <p:spPr>
          <a:xfrm>
            <a:off x="571500" y="4709160"/>
            <a:ext cx="2651760" cy="914400"/>
          </a:xfrm>
          <a:prstGeom prst="rect">
            <a:avLst/>
          </a:prstGeom>
          <a:solidFill>
            <a:srgbClr val="FFFFFF"/>
          </a:solidFill>
          <a:ln w="12700">
            <a:solidFill>
              <a:srgbClr val="028090"/>
            </a:solidFill>
            <a:prstDash val="solid"/>
          </a:ln>
        </p:spPr>
      </p:sp>
      <p:sp>
        <p:nvSpPr>
          <p:cNvPr id="19" name="Text 17"/>
          <p:cNvSpPr/>
          <p:nvPr/>
        </p:nvSpPr>
        <p:spPr>
          <a:xfrm>
            <a:off x="754380" y="484632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LangGraph py</a:t>
            </a:r>
            <a:endParaRPr lang="en-US" sz="1500" dirty="0"/>
          </a:p>
        </p:txBody>
      </p:sp>
      <p:sp>
        <p:nvSpPr>
          <p:cNvPr id="20" name="Text 18"/>
          <p:cNvSpPr/>
          <p:nvPr/>
        </p:nvSpPr>
        <p:spPr>
          <a:xfrm>
            <a:off x="754380" y="521208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Python · graph-orchestrated</a:t>
            </a:r>
            <a:endParaRPr lang="en-US" sz="1100" dirty="0"/>
          </a:p>
        </p:txBody>
      </p:sp>
      <p:sp>
        <p:nvSpPr>
          <p:cNvPr id="21" name="Shape 19"/>
          <p:cNvSpPr/>
          <p:nvPr/>
        </p:nvSpPr>
        <p:spPr>
          <a:xfrm>
            <a:off x="3360420" y="4709160"/>
            <a:ext cx="2651760" cy="914400"/>
          </a:xfrm>
          <a:prstGeom prst="rect">
            <a:avLst/>
          </a:prstGeom>
          <a:solidFill>
            <a:srgbClr val="FFFFFF"/>
          </a:solidFill>
          <a:ln w="12700">
            <a:solidFill>
              <a:srgbClr val="028090"/>
            </a:solidFill>
            <a:prstDash val="solid"/>
          </a:ln>
        </p:spPr>
      </p:sp>
      <p:sp>
        <p:nvSpPr>
          <p:cNvPr id="22" name="Text 20"/>
          <p:cNvSpPr/>
          <p:nvPr/>
        </p:nvSpPr>
        <p:spPr>
          <a:xfrm>
            <a:off x="3543300" y="484632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LangGraph ts</a:t>
            </a:r>
            <a:endParaRPr lang="en-US" sz="1500" dirty="0"/>
          </a:p>
        </p:txBody>
      </p:sp>
      <p:sp>
        <p:nvSpPr>
          <p:cNvPr id="23" name="Text 21"/>
          <p:cNvSpPr/>
          <p:nvPr/>
        </p:nvSpPr>
        <p:spPr>
          <a:xfrm>
            <a:off x="3543300" y="521208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TypeScript · graph-orchestrated</a:t>
            </a:r>
            <a:endParaRPr lang="en-US" sz="1100" dirty="0"/>
          </a:p>
        </p:txBody>
      </p:sp>
      <p:sp>
        <p:nvSpPr>
          <p:cNvPr id="24" name="Shape 22"/>
          <p:cNvSpPr/>
          <p:nvPr/>
        </p:nvSpPr>
        <p:spPr>
          <a:xfrm>
            <a:off x="6149340" y="4709160"/>
            <a:ext cx="2651760" cy="914400"/>
          </a:xfrm>
          <a:prstGeom prst="rect">
            <a:avLst/>
          </a:prstGeom>
          <a:solidFill>
            <a:srgbClr val="FFFFFF"/>
          </a:solidFill>
          <a:ln w="12700">
            <a:solidFill>
              <a:srgbClr val="028090"/>
            </a:solidFill>
            <a:prstDash val="solid"/>
          </a:ln>
        </p:spPr>
      </p:sp>
      <p:sp>
        <p:nvSpPr>
          <p:cNvPr id="25" name="Text 23"/>
          <p:cNvSpPr/>
          <p:nvPr/>
        </p:nvSpPr>
        <p:spPr>
          <a:xfrm>
            <a:off x="6332220" y="484632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Pydantic AI</a:t>
            </a:r>
            <a:endParaRPr lang="en-US" sz="1500" dirty="0"/>
          </a:p>
        </p:txBody>
      </p:sp>
      <p:sp>
        <p:nvSpPr>
          <p:cNvPr id="26" name="Text 24"/>
          <p:cNvSpPr/>
          <p:nvPr/>
        </p:nvSpPr>
        <p:spPr>
          <a:xfrm>
            <a:off x="6332220" y="521208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Python · typed-tool-call DSL</a:t>
            </a:r>
            <a:endParaRPr lang="en-US" sz="1100" dirty="0"/>
          </a:p>
        </p:txBody>
      </p:sp>
      <p:sp>
        <p:nvSpPr>
          <p:cNvPr id="27" name="Shape 25"/>
          <p:cNvSpPr/>
          <p:nvPr/>
        </p:nvSpPr>
        <p:spPr>
          <a:xfrm>
            <a:off x="8938260" y="4709160"/>
            <a:ext cx="2651760" cy="914400"/>
          </a:xfrm>
          <a:prstGeom prst="rect">
            <a:avLst/>
          </a:prstGeom>
          <a:solidFill>
            <a:srgbClr val="FFFFFF"/>
          </a:solidFill>
          <a:ln w="12700">
            <a:solidFill>
              <a:srgbClr val="028090"/>
            </a:solidFill>
            <a:prstDash val="solid"/>
          </a:ln>
        </p:spPr>
      </p:sp>
      <p:sp>
        <p:nvSpPr>
          <p:cNvPr id="28" name="Text 26"/>
          <p:cNvSpPr/>
          <p:nvPr/>
        </p:nvSpPr>
        <p:spPr>
          <a:xfrm>
            <a:off x="9121140" y="484632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OpenAI Agents</a:t>
            </a:r>
            <a:endParaRPr lang="en-US" sz="1500" dirty="0"/>
          </a:p>
        </p:txBody>
      </p:sp>
      <p:sp>
        <p:nvSpPr>
          <p:cNvPr id="29" name="Text 27"/>
          <p:cNvSpPr/>
          <p:nvPr/>
        </p:nvSpPr>
        <p:spPr>
          <a:xfrm>
            <a:off x="9121140" y="521208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Official OpenAI Agents SDK</a:t>
            </a:r>
            <a:endParaRPr lang="en-US" sz="1100" dirty="0"/>
          </a:p>
        </p:txBody>
      </p:sp>
      <p:sp>
        <p:nvSpPr>
          <p:cNvPr id="30" name="Text 28"/>
          <p:cNvSpPr/>
          <p:nvPr/>
        </p:nvSpPr>
        <p:spPr>
          <a:xfrm>
            <a:off x="640080" y="6400800"/>
            <a:ext cx="10881360" cy="274320"/>
          </a:xfrm>
          <a:prstGeom prst="rect">
            <a:avLst/>
          </a:prstGeom>
          <a:noFill/>
          <a:ln/>
        </p:spPr>
        <p:txBody>
          <a:bodyPr wrap="square" lIns="0" tIns="0" rIns="0" bIns="0" rtlCol="0" anchor="ctr"/>
          <a:lstStyle/>
          <a:p>
            <a:pPr algn="l" indent="0" marL="0">
              <a:buNone/>
            </a:pPr>
            <a:r>
              <a:rPr lang="en-US" sz="1000" dirty="0">
                <a:solidFill>
                  <a:srgbClr val="AFB3BD"/>
                </a:solidFill>
                <a:latin typeface="Consolas" pitchFamily="34" charset="0"/>
                <a:ea typeface="Consolas" pitchFamily="34" charset="-122"/>
                <a:cs typeface="Consolas" pitchFamily="34" charset="-120"/>
              </a:rPr>
              <a:t>cli/src/runtime.ts · controller/src/reconciler/runtime.rs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12</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§6 · UPSTREAM</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200" b="1" dirty="0">
                <a:solidFill>
                  <a:srgbClr val="1A1A1A"/>
                </a:solidFill>
                <a:latin typeface="Helvetica" pitchFamily="34" charset="0"/>
                <a:ea typeface="Helvetica" pitchFamily="34" charset="-122"/>
                <a:cs typeface="Helvetica" pitchFamily="34" charset="-120"/>
              </a:rPr>
              <a:t>Built on the Microsoft Agent Governance Toolkit.</a:t>
            </a:r>
            <a:endParaRPr lang="en-US" sz="3200" dirty="0"/>
          </a:p>
        </p:txBody>
      </p:sp>
      <p:sp>
        <p:nvSpPr>
          <p:cNvPr id="5" name="Text 3"/>
          <p:cNvSpPr/>
          <p:nvPr/>
        </p:nvSpPr>
        <p:spPr>
          <a:xfrm>
            <a:off x="640080" y="2286000"/>
            <a:ext cx="10881360" cy="146304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AGT ships the protocol and the libraries.  kars adds the Kubernetes-native runtime, the per-sandbox governance data plane, and the operator-facing UX.  Patches flow back upstream — we ship from a pinned branch (vendor/agt/pin.json) so the wire format stays consistent edge-to-edge.</a:t>
            </a:r>
            <a:endParaRPr lang="en-US" sz="1800" dirty="0"/>
          </a:p>
        </p:txBody>
      </p:sp>
      <p:sp>
        <p:nvSpPr>
          <p:cNvPr id="6" name="Shape 4"/>
          <p:cNvSpPr/>
          <p:nvPr/>
        </p:nvSpPr>
        <p:spPr>
          <a:xfrm>
            <a:off x="640080" y="4572000"/>
            <a:ext cx="1097280" cy="0"/>
          </a:xfrm>
          <a:prstGeom prst="line">
            <a:avLst/>
          </a:prstGeom>
          <a:noFill/>
          <a:ln w="19050">
            <a:solidFill>
              <a:srgbClr val="028090"/>
            </a:solidFill>
            <a:prstDash val="solid"/>
          </a:ln>
        </p:spPr>
      </p:sp>
      <p:sp>
        <p:nvSpPr>
          <p:cNvPr id="7" name="Text 5"/>
          <p:cNvSpPr/>
          <p:nvPr/>
        </p:nvSpPr>
        <p:spPr>
          <a:xfrm>
            <a:off x="64008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PR #2772</a:t>
            </a:r>
            <a:endParaRPr lang="en-US" sz="1300" dirty="0"/>
          </a:p>
        </p:txBody>
      </p:sp>
      <p:sp>
        <p:nvSpPr>
          <p:cNvPr id="8" name="Text 6"/>
          <p:cNvSpPr/>
          <p:nvPr/>
        </p:nvSpPr>
        <p:spPr>
          <a:xfrm>
            <a:off x="64008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Proof-of-possession on /ws connect frames</a:t>
            </a:r>
            <a:endParaRPr lang="en-US" sz="1300" dirty="0"/>
          </a:p>
        </p:txBody>
      </p:sp>
      <p:sp>
        <p:nvSpPr>
          <p:cNvPr id="9" name="Shape 7"/>
          <p:cNvSpPr/>
          <p:nvPr/>
        </p:nvSpPr>
        <p:spPr>
          <a:xfrm>
            <a:off x="3451860" y="4572000"/>
            <a:ext cx="1097280" cy="0"/>
          </a:xfrm>
          <a:prstGeom prst="line">
            <a:avLst/>
          </a:prstGeom>
          <a:noFill/>
          <a:ln w="19050">
            <a:solidFill>
              <a:srgbClr val="028090"/>
            </a:solidFill>
            <a:prstDash val="solid"/>
          </a:ln>
        </p:spPr>
      </p:sp>
      <p:sp>
        <p:nvSpPr>
          <p:cNvPr id="10" name="Text 8"/>
          <p:cNvSpPr/>
          <p:nvPr/>
        </p:nvSpPr>
        <p:spPr>
          <a:xfrm>
            <a:off x="345186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pending PR</a:t>
            </a:r>
            <a:endParaRPr lang="en-US" sz="1300" dirty="0"/>
          </a:p>
        </p:txBody>
      </p:sp>
      <p:sp>
        <p:nvSpPr>
          <p:cNvPr id="11" name="Text 9"/>
          <p:cNvSpPr/>
          <p:nvPr/>
        </p:nvSpPr>
        <p:spPr>
          <a:xfrm>
            <a:off x="345186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X3DH KDF spec compliance</a:t>
            </a:r>
            <a:endParaRPr lang="en-US" sz="1300" dirty="0"/>
          </a:p>
        </p:txBody>
      </p:sp>
      <p:sp>
        <p:nvSpPr>
          <p:cNvPr id="12" name="Shape 10"/>
          <p:cNvSpPr/>
          <p:nvPr/>
        </p:nvSpPr>
        <p:spPr>
          <a:xfrm>
            <a:off x="6263640" y="4572000"/>
            <a:ext cx="1097280" cy="0"/>
          </a:xfrm>
          <a:prstGeom prst="line">
            <a:avLst/>
          </a:prstGeom>
          <a:noFill/>
          <a:ln w="19050">
            <a:solidFill>
              <a:srgbClr val="028090"/>
            </a:solidFill>
            <a:prstDash val="solid"/>
          </a:ln>
        </p:spPr>
      </p:sp>
      <p:sp>
        <p:nvSpPr>
          <p:cNvPr id="13" name="Text 11"/>
          <p:cNvSpPr/>
          <p:nvPr/>
        </p:nvSpPr>
        <p:spPr>
          <a:xfrm>
            <a:off x="626364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landed</a:t>
            </a:r>
            <a:endParaRPr lang="en-US" sz="1300" dirty="0"/>
          </a:p>
        </p:txBody>
      </p:sp>
      <p:sp>
        <p:nvSpPr>
          <p:cNvPr id="14" name="Text 12"/>
          <p:cNvSpPr/>
          <p:nvPr/>
        </p:nvSpPr>
        <p:spPr>
          <a:xfrm>
            <a:off x="626364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Multiple Python MeshClient compat fixes</a:t>
            </a:r>
            <a:endParaRPr lang="en-US" sz="1300" dirty="0"/>
          </a:p>
        </p:txBody>
      </p:sp>
      <p:sp>
        <p:nvSpPr>
          <p:cNvPr id="15" name="Shape 13"/>
          <p:cNvSpPr/>
          <p:nvPr/>
        </p:nvSpPr>
        <p:spPr>
          <a:xfrm>
            <a:off x="9075420" y="4572000"/>
            <a:ext cx="1097280" cy="0"/>
          </a:xfrm>
          <a:prstGeom prst="line">
            <a:avLst/>
          </a:prstGeom>
          <a:noFill/>
          <a:ln w="19050">
            <a:solidFill>
              <a:srgbClr val="028090"/>
            </a:solidFill>
            <a:prstDash val="solid"/>
          </a:ln>
        </p:spPr>
      </p:sp>
      <p:sp>
        <p:nvSpPr>
          <p:cNvPr id="16" name="Text 14"/>
          <p:cNvSpPr/>
          <p:nvPr/>
        </p:nvSpPr>
        <p:spPr>
          <a:xfrm>
            <a:off x="907542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test corpus</a:t>
            </a:r>
            <a:endParaRPr lang="en-US" sz="1300" dirty="0"/>
          </a:p>
        </p:txBody>
      </p:sp>
      <p:sp>
        <p:nvSpPr>
          <p:cNvPr id="17" name="Text 15"/>
          <p:cNvSpPr/>
          <p:nvPr/>
        </p:nvSpPr>
        <p:spPr>
          <a:xfrm>
            <a:off x="907542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Cross-runtime wire-format byte equivalence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13</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§7 · NEXT</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800" b="1" dirty="0">
                <a:solidFill>
                  <a:srgbClr val="1A1A1A"/>
                </a:solidFill>
                <a:latin typeface="Helvetica" pitchFamily="34" charset="0"/>
                <a:ea typeface="Helvetica" pitchFamily="34" charset="-122"/>
                <a:cs typeface="Helvetica" pitchFamily="34" charset="-120"/>
              </a:rPr>
              <a:t>Four shipping targets.</a:t>
            </a:r>
            <a:endParaRPr lang="en-US" sz="3800" dirty="0"/>
          </a:p>
        </p:txBody>
      </p:sp>
      <p:sp>
        <p:nvSpPr>
          <p:cNvPr id="5" name="Shape 3"/>
          <p:cNvSpPr/>
          <p:nvPr/>
        </p:nvSpPr>
        <p:spPr>
          <a:xfrm>
            <a:off x="640080" y="2468880"/>
            <a:ext cx="1097280" cy="0"/>
          </a:xfrm>
          <a:prstGeom prst="line">
            <a:avLst/>
          </a:prstGeom>
          <a:noFill/>
          <a:ln w="19050">
            <a:solidFill>
              <a:srgbClr val="028090"/>
            </a:solidFill>
            <a:prstDash val="solid"/>
          </a:ln>
        </p:spPr>
      </p:sp>
      <p:sp>
        <p:nvSpPr>
          <p:cNvPr id="6" name="Text 4"/>
          <p:cNvSpPr/>
          <p:nvPr/>
        </p:nvSpPr>
        <p:spPr>
          <a:xfrm>
            <a:off x="640080" y="256032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Hermes Act 2</a:t>
            </a:r>
            <a:endParaRPr lang="en-US" sz="1300" dirty="0"/>
          </a:p>
        </p:txBody>
      </p:sp>
      <p:sp>
        <p:nvSpPr>
          <p:cNvPr id="7" name="Text 5"/>
          <p:cNvSpPr/>
          <p:nvPr/>
        </p:nvSpPr>
        <p:spPr>
          <a:xfrm>
            <a:off x="640080" y="297180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Python mesh client at TypeScript SDK parity</a:t>
            </a:r>
            <a:endParaRPr lang="en-US" sz="1300" dirty="0"/>
          </a:p>
        </p:txBody>
      </p:sp>
      <p:sp>
        <p:nvSpPr>
          <p:cNvPr id="8" name="Shape 6"/>
          <p:cNvSpPr/>
          <p:nvPr/>
        </p:nvSpPr>
        <p:spPr>
          <a:xfrm>
            <a:off x="3451860" y="2468880"/>
            <a:ext cx="1097280" cy="0"/>
          </a:xfrm>
          <a:prstGeom prst="line">
            <a:avLst/>
          </a:prstGeom>
          <a:noFill/>
          <a:ln w="19050">
            <a:solidFill>
              <a:srgbClr val="028090"/>
            </a:solidFill>
            <a:prstDash val="solid"/>
          </a:ln>
        </p:spPr>
      </p:sp>
      <p:sp>
        <p:nvSpPr>
          <p:cNvPr id="9" name="Text 7"/>
          <p:cNvSpPr/>
          <p:nvPr/>
        </p:nvSpPr>
        <p:spPr>
          <a:xfrm>
            <a:off x="3451860" y="256032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kars-sre</a:t>
            </a:r>
            <a:endParaRPr lang="en-US" sz="1300" dirty="0"/>
          </a:p>
        </p:txBody>
      </p:sp>
      <p:sp>
        <p:nvSpPr>
          <p:cNvPr id="10" name="Text 8"/>
          <p:cNvSpPr/>
          <p:nvPr/>
        </p:nvSpPr>
        <p:spPr>
          <a:xfrm>
            <a:off x="3451860" y="297180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In-cluster SRE agent · auto-diagnose · approval-gated fixes</a:t>
            </a:r>
            <a:endParaRPr lang="en-US" sz="1300" dirty="0"/>
          </a:p>
        </p:txBody>
      </p:sp>
      <p:sp>
        <p:nvSpPr>
          <p:cNvPr id="11" name="Shape 9"/>
          <p:cNvSpPr/>
          <p:nvPr/>
        </p:nvSpPr>
        <p:spPr>
          <a:xfrm>
            <a:off x="6263640" y="2468880"/>
            <a:ext cx="1097280" cy="0"/>
          </a:xfrm>
          <a:prstGeom prst="line">
            <a:avLst/>
          </a:prstGeom>
          <a:noFill/>
          <a:ln w="19050">
            <a:solidFill>
              <a:srgbClr val="028090"/>
            </a:solidFill>
            <a:prstDash val="solid"/>
          </a:ln>
        </p:spPr>
      </p:sp>
      <p:sp>
        <p:nvSpPr>
          <p:cNvPr id="12" name="Text 10"/>
          <p:cNvSpPr/>
          <p:nvPr/>
        </p:nvSpPr>
        <p:spPr>
          <a:xfrm>
            <a:off x="6263640" y="256032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Sovereign GA</a:t>
            </a:r>
            <a:endParaRPr lang="en-US" sz="1300" dirty="0"/>
          </a:p>
        </p:txBody>
      </p:sp>
      <p:sp>
        <p:nvSpPr>
          <p:cNvPr id="13" name="Text 11"/>
          <p:cNvSpPr/>
          <p:nvPr/>
        </p:nvSpPr>
        <p:spPr>
          <a:xfrm>
            <a:off x="6263640" y="297180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Blueprint 06 from compose-by-hand to one-command bundle</a:t>
            </a:r>
            <a:endParaRPr lang="en-US" sz="1300" dirty="0"/>
          </a:p>
        </p:txBody>
      </p:sp>
      <p:sp>
        <p:nvSpPr>
          <p:cNvPr id="14" name="Shape 12"/>
          <p:cNvSpPr/>
          <p:nvPr/>
        </p:nvSpPr>
        <p:spPr>
          <a:xfrm>
            <a:off x="9075420" y="2468880"/>
            <a:ext cx="1097280" cy="0"/>
          </a:xfrm>
          <a:prstGeom prst="line">
            <a:avLst/>
          </a:prstGeom>
          <a:noFill/>
          <a:ln w="19050">
            <a:solidFill>
              <a:srgbClr val="028090"/>
            </a:solidFill>
            <a:prstDash val="solid"/>
          </a:ln>
        </p:spPr>
      </p:sp>
      <p:sp>
        <p:nvSpPr>
          <p:cNvPr id="15" name="Text 13"/>
          <p:cNvSpPr/>
          <p:nvPr/>
        </p:nvSpPr>
        <p:spPr>
          <a:xfrm>
            <a:off x="9075420" y="256032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Attestation</a:t>
            </a:r>
            <a:endParaRPr lang="en-US" sz="1300" dirty="0"/>
          </a:p>
        </p:txBody>
      </p:sp>
      <p:sp>
        <p:nvSpPr>
          <p:cNvPr id="16" name="Text 14"/>
          <p:cNvSpPr/>
          <p:nvPr/>
        </p:nvSpPr>
        <p:spPr>
          <a:xfrm>
            <a:off x="9075420" y="297180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Kata + SEV-SNP attestation-gated workloads</a:t>
            </a:r>
            <a:endParaRPr lang="en-US" sz="1300" dirty="0"/>
          </a:p>
        </p:txBody>
      </p:sp>
      <p:sp>
        <p:nvSpPr>
          <p:cNvPr id="17" name="Text 15"/>
          <p:cNvSpPr/>
          <p:nvPr/>
        </p:nvSpPr>
        <p:spPr>
          <a:xfrm>
            <a:off x="640080" y="4937760"/>
            <a:ext cx="10881360" cy="1371600"/>
          </a:xfrm>
          <a:prstGeom prst="rect">
            <a:avLst/>
          </a:prstGeom>
          <a:noFill/>
          <a:ln/>
        </p:spPr>
        <p:txBody>
          <a:bodyPr wrap="square" lIns="0" tIns="0" rIns="0" bIns="0" rtlCol="0" anchor="t"/>
          <a:lstStyle/>
          <a:p>
            <a:pPr algn="l" indent="0" marL="0">
              <a:spcAft>
                <a:spcPts val="800"/>
              </a:spcAft>
              <a:buNone/>
            </a:pPr>
            <a:r>
              <a:rPr lang="en-US" sz="1400" dirty="0">
                <a:solidFill>
                  <a:srgbClr val="6E7681"/>
                </a:solidFill>
                <a:latin typeface="Helvetica" pitchFamily="34" charset="0"/>
                <a:ea typeface="Helvetica" pitchFamily="34" charset="-122"/>
                <a:cs typeface="Helvetica" pitchFamily="34" charset="-120"/>
              </a:rPr>
              <a:t>Each of these is a separate PR series with its own design doc under docs/blueprints/ and docs/proposals/.  The kars-sre design (07-kars-sre-proposal.md) is the most concrete — designed against a regression corpus of 16 OOTB blockers an in-cluster agent would have caught.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14</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§8 · TRY IT</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8000" b="1" dirty="0">
                <a:solidFill>
                  <a:srgbClr val="1A1A1A"/>
                </a:solidFill>
                <a:latin typeface="Helvetica" pitchFamily="34" charset="0"/>
                <a:ea typeface="Helvetica" pitchFamily="34" charset="-122"/>
                <a:cs typeface="Helvetica" pitchFamily="34" charset="-120"/>
              </a:rPr>
              <a:t>kars dev</a:t>
            </a:r>
            <a:endParaRPr lang="en-US" sz="8000" dirty="0"/>
          </a:p>
        </p:txBody>
      </p:sp>
      <p:sp>
        <p:nvSpPr>
          <p:cNvPr id="5" name="Shape 3"/>
          <p:cNvSpPr/>
          <p:nvPr/>
        </p:nvSpPr>
        <p:spPr>
          <a:xfrm>
            <a:off x="640080" y="3840480"/>
            <a:ext cx="10881360" cy="2377440"/>
          </a:xfrm>
          <a:prstGeom prst="rect">
            <a:avLst/>
          </a:prstGeom>
          <a:solidFill>
            <a:srgbClr val="F6F8FA"/>
          </a:solidFill>
          <a:ln w="9525">
            <a:solidFill>
              <a:srgbClr val="E1E4E8"/>
            </a:solidFill>
            <a:prstDash val="solid"/>
          </a:ln>
        </p:spPr>
      </p:sp>
      <p:sp>
        <p:nvSpPr>
          <p:cNvPr id="6" name="Text 4"/>
          <p:cNvSpPr/>
          <p:nvPr/>
        </p:nvSpPr>
        <p:spPr>
          <a:xfrm>
            <a:off x="868680" y="4069080"/>
            <a:ext cx="10424160" cy="1920240"/>
          </a:xfrm>
          <a:prstGeom prst="rect">
            <a:avLst/>
          </a:prstGeom>
          <a:noFill/>
          <a:ln/>
        </p:spPr>
        <p:txBody>
          <a:bodyPr wrap="square" lIns="0" tIns="0" rIns="0" bIns="0" rtlCol="0" anchor="t"/>
          <a:lstStyle/>
          <a:p>
            <a:pPr algn="l" indent="0" marL="0">
              <a:buNone/>
            </a:pPr>
            <a:r>
              <a:rPr lang="en-US" sz="1400" dirty="0">
                <a:solidFill>
                  <a:srgbClr val="6E7681"/>
                </a:solidFill>
                <a:latin typeface="Consolas" pitchFamily="34" charset="0"/>
                <a:ea typeface="Consolas" pitchFamily="34" charset="-122"/>
                <a:cs typeface="Consolas" pitchFamily="34" charset="-120"/>
              </a:rPr>
              <a:t>$ </a:t>
            </a:r>
            <a:pPr algn="l" indent="0" marL="0">
              <a:buNone/>
            </a:pPr>
            <a:r>
              <a:rPr lang="en-US" sz="1400" dirty="0">
                <a:solidFill>
                  <a:srgbClr val="1A1A1A"/>
                </a:solidFill>
                <a:latin typeface="Consolas" pitchFamily="34" charset="0"/>
                <a:ea typeface="Consolas" pitchFamily="34" charset="-122"/>
                <a:cs typeface="Consolas" pitchFamily="34" charset="-120"/>
              </a:rPr>
              <a:t>git clone https://github.com/Azure/kars
</a:t>
            </a:r>
            <a:pPr algn="l" indent="0" marL="0">
              <a:buNone/>
            </a:pPr>
            <a:r>
              <a:rPr lang="en-US" sz="1400" dirty="0">
                <a:solidFill>
                  <a:srgbClr val="6E7681"/>
                </a:solidFill>
                <a:latin typeface="Consolas" pitchFamily="34" charset="0"/>
                <a:ea typeface="Consolas" pitchFamily="34" charset="-122"/>
                <a:cs typeface="Consolas" pitchFamily="34" charset="-120"/>
              </a:rPr>
              <a:t>$ </a:t>
            </a:r>
            <a:pPr algn="l" indent="0" marL="0">
              <a:buNone/>
            </a:pPr>
            <a:r>
              <a:rPr lang="en-US" sz="1400" dirty="0">
                <a:solidFill>
                  <a:srgbClr val="1A1A1A"/>
                </a:solidFill>
                <a:latin typeface="Consolas" pitchFamily="34" charset="0"/>
                <a:ea typeface="Consolas" pitchFamily="34" charset="-122"/>
                <a:cs typeface="Consolas" pitchFamily="34" charset="-120"/>
              </a:rPr>
              <a:t>cd kars/cli &amp;&amp; npm ci &amp;&amp; npm run build &amp;&amp; npm link
</a:t>
            </a:r>
            <a:pPr algn="l" indent="0" marL="0">
              <a:buNone/>
            </a:pPr>
            <a:r>
              <a:rPr lang="en-US" sz="1400" dirty="0">
                <a:solidFill>
                  <a:srgbClr val="6E7681"/>
                </a:solidFill>
                <a:latin typeface="Consolas" pitchFamily="34" charset="0"/>
                <a:ea typeface="Consolas" pitchFamily="34" charset="-122"/>
                <a:cs typeface="Consolas" pitchFamily="34" charset="-120"/>
              </a:rPr>
              <a:t>$ </a:t>
            </a:r>
            <a:pPr algn="l" indent="0" marL="0">
              <a:buNone/>
            </a:pPr>
            <a:r>
              <a:rPr lang="en-US" sz="1400" dirty="0">
                <a:solidFill>
                  <a:srgbClr val="C53030"/>
                </a:solidFill>
                <a:latin typeface="Consolas" pitchFamily="34" charset="0"/>
                <a:ea typeface="Consolas" pitchFamily="34" charset="-122"/>
                <a:cs typeface="Consolas" pitchFamily="34" charset="-120"/>
              </a:rPr>
              <a:t>kars dev
</a:t>
            </a:r>
            <a:pPr algn="l" indent="0" marL="0">
              <a:buNone/>
            </a:pPr>
            <a:r>
              <a:rPr lang="en-US" sz="1400" dirty="0">
                <a:solidFill>
                  <a:srgbClr val="1A1A1A"/>
                </a:solidFill>
                <a:latin typeface="Consolas" pitchFamily="34" charset="0"/>
                <a:ea typeface="Consolas" pitchFamily="34" charset="-122"/>
                <a:cs typeface="Consolas" pitchFamily="34" charset="-120"/>
              </a:rPr>
              <a:t>
</a:t>
            </a:r>
            <a:pPr algn="l" indent="0" marL="0">
              <a:buNone/>
            </a:pPr>
            <a:r>
              <a:rPr lang="en-US" sz="1400" dirty="0">
                <a:solidFill>
                  <a:srgbClr val="276749"/>
                </a:solidFill>
                <a:latin typeface="Consolas" pitchFamily="34" charset="0"/>
                <a:ea typeface="Consolas" pitchFamily="34" charset="-122"/>
                <a:cs typeface="Consolas" pitchFamily="34" charset="-120"/>
              </a:rPr>
              <a:t>  ✓ kind cluster ready
</a:t>
            </a:r>
            <a:pPr algn="l" indent="0" marL="0">
              <a:buNone/>
            </a:pPr>
            <a:r>
              <a:rPr lang="en-US" sz="1400" dirty="0">
                <a:solidFill>
                  <a:srgbClr val="276749"/>
                </a:solidFill>
                <a:latin typeface="Consolas" pitchFamily="34" charset="0"/>
                <a:ea typeface="Consolas" pitchFamily="34" charset="-122"/>
                <a:cs typeface="Consolas" pitchFamily="34" charset="-120"/>
              </a:rPr>
              <a:t>  ✓ AGT toolkit cloned + wheels built
</a:t>
            </a:r>
            <a:pPr algn="l" indent="0" marL="0">
              <a:buNone/>
            </a:pPr>
            <a:r>
              <a:rPr lang="en-US" sz="1400" dirty="0">
                <a:solidFill>
                  <a:srgbClr val="276749"/>
                </a:solidFill>
                <a:latin typeface="Consolas" pitchFamily="34" charset="0"/>
                <a:ea typeface="Consolas" pitchFamily="34" charset="-122"/>
                <a:cs typeface="Consolas" pitchFamily="34" charset="-120"/>
              </a:rPr>
              <a:t>  ✓ helm chart applied  (controller + relay + registry)
</a:t>
            </a:r>
            <a:pPr algn="l" indent="0" marL="0">
              <a:buNone/>
            </a:pPr>
            <a:r>
              <a:rPr lang="en-US" sz="1400" dirty="0">
                <a:solidFill>
                  <a:srgbClr val="276749"/>
                </a:solidFill>
                <a:latin typeface="Consolas" pitchFamily="34" charset="0"/>
                <a:ea typeface="Consolas" pitchFamily="34" charset="-122"/>
                <a:cs typeface="Consolas" pitchFamily="34" charset="-120"/>
              </a:rPr>
              <a:t>  ✓ runtime image loaded into kind
</a:t>
            </a:r>
            <a:pPr algn="l" indent="0" marL="0">
              <a:buNone/>
            </a:pPr>
            <a:r>
              <a:rPr lang="en-US" sz="1400" dirty="0">
                <a:solidFill>
                  <a:srgbClr val="276749"/>
                </a:solidFill>
                <a:latin typeface="Consolas" pitchFamily="34" charset="0"/>
                <a:ea typeface="Consolas" pitchFamily="34" charset="-122"/>
                <a:cs typeface="Consolas" pitchFamily="34" charset="-120"/>
              </a:rPr>
              <a:t>  ✓ sandbox 'agent-1' Running 2/2
</a:t>
            </a:r>
            <a:pPr algn="l" indent="0" marL="0">
              <a:buNone/>
            </a:pPr>
            <a:r>
              <a:rPr lang="en-US" sz="1400" dirty="0">
                <a:solidFill>
                  <a:srgbClr val="1A1A1A"/>
                </a:solidFill>
                <a:latin typeface="Consolas" pitchFamily="34" charset="0"/>
                <a:ea typeface="Consolas" pitchFamily="34" charset="-122"/>
                <a:cs typeface="Consolas" pitchFamily="34" charset="-120"/>
              </a:rPr>
              <a:t>
</a:t>
            </a:r>
            <a:pPr algn="l" indent="0" marL="0">
              <a:buNone/>
            </a:pPr>
            <a:r>
              <a:rPr lang="en-US" sz="1400" dirty="0">
                <a:solidFill>
                  <a:srgbClr val="6E7681"/>
                </a:solidFill>
                <a:latin typeface="Consolas" pitchFamily="34" charset="0"/>
                <a:ea typeface="Consolas" pitchFamily="34" charset="-122"/>
                <a:cs typeface="Consolas" pitchFamily="34" charset="-120"/>
              </a:rPr>
              <a:t>$ </a:t>
            </a:r>
            <a:pPr algn="l" indent="0" marL="0">
              <a:buNone/>
            </a:pPr>
            <a:r>
              <a:rPr lang="en-US" sz="1400" dirty="0">
                <a:solidFill>
                  <a:srgbClr val="C53030"/>
                </a:solidFill>
                <a:latin typeface="Consolas" pitchFamily="34" charset="0"/>
                <a:ea typeface="Consolas" pitchFamily="34" charset="-122"/>
                <a:cs typeface="Consolas" pitchFamily="34" charset="-120"/>
              </a:rPr>
              <a:t>kars connect agent-1     </a:t>
            </a:r>
            <a:pPr algn="l" indent="0" marL="0">
              <a:buNone/>
            </a:pPr>
            <a:r>
              <a:rPr lang="en-US" sz="1400" dirty="0">
                <a:solidFill>
                  <a:srgbClr val="6E7681"/>
                </a:solidFill>
                <a:latin typeface="Consolas" pitchFamily="34" charset="0"/>
                <a:ea typeface="Consolas" pitchFamily="34" charset="-122"/>
                <a:cs typeface="Consolas" pitchFamily="34" charset="-120"/>
              </a:rPr>
              <a:t># WebUI on http://localhost:18789</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E1A"/>
        </a:solidFill>
      </p:bgPr>
    </p:bg>
    <p:spTree>
      <p:nvGrpSpPr>
        <p:cNvPr id="1" name=""/>
        <p:cNvGrpSpPr/>
        <p:nvPr/>
      </p:nvGrpSpPr>
      <p:grpSpPr>
        <a:xfrm>
          <a:off x="0" y="0"/>
          <a:ext cx="0" cy="0"/>
          <a:chOff x="0" y="0"/>
          <a:chExt cx="0" cy="0"/>
        </a:xfrm>
      </p:grpSpPr>
      <p:sp>
        <p:nvSpPr>
          <p:cNvPr id="2" name="Text 0"/>
          <p:cNvSpPr/>
          <p:nvPr/>
        </p:nvSpPr>
        <p:spPr>
          <a:xfrm>
            <a:off x="640080" y="2194560"/>
            <a:ext cx="10881360" cy="2194560"/>
          </a:xfrm>
          <a:prstGeom prst="rect">
            <a:avLst/>
          </a:prstGeom>
          <a:noFill/>
          <a:ln/>
        </p:spPr>
        <p:txBody>
          <a:bodyPr wrap="square" lIns="0" tIns="0" rIns="0" bIns="0" rtlCol="0" anchor="ctr"/>
          <a:lstStyle/>
          <a:p>
            <a:pPr algn="l" indent="0" marL="0">
              <a:buNone/>
            </a:pPr>
            <a:r>
              <a:rPr lang="en-US" sz="16800" b="1" dirty="0">
                <a:solidFill>
                  <a:srgbClr val="FFFFFF"/>
                </a:solidFill>
                <a:latin typeface="Helvetica" pitchFamily="34" charset="0"/>
                <a:ea typeface="Helvetica" pitchFamily="34" charset="-122"/>
                <a:cs typeface="Helvetica" pitchFamily="34" charset="-120"/>
              </a:rPr>
              <a:t>kars</a:t>
            </a:r>
            <a:endParaRPr lang="en-US" sz="16800" dirty="0"/>
          </a:p>
        </p:txBody>
      </p:sp>
      <p:sp>
        <p:nvSpPr>
          <p:cNvPr id="3" name="Text 1"/>
          <p:cNvSpPr/>
          <p:nvPr/>
        </p:nvSpPr>
        <p:spPr>
          <a:xfrm>
            <a:off x="640080" y="4572000"/>
            <a:ext cx="10881360" cy="457200"/>
          </a:xfrm>
          <a:prstGeom prst="rect">
            <a:avLst/>
          </a:prstGeom>
          <a:noFill/>
          <a:ln/>
        </p:spPr>
        <p:txBody>
          <a:bodyPr wrap="square" lIns="0" tIns="0" rIns="0" bIns="0" rtlCol="0" anchor="ctr"/>
          <a:lstStyle/>
          <a:p>
            <a:pPr algn="l" indent="0" marL="0">
              <a:buNone/>
            </a:pPr>
            <a:r>
              <a:rPr lang="en-US" sz="2200" dirty="0">
                <a:solidFill>
                  <a:srgbClr val="E6F1F2"/>
                </a:solidFill>
                <a:latin typeface="Helvetica" pitchFamily="34" charset="0"/>
                <a:ea typeface="Helvetica" pitchFamily="34" charset="-122"/>
                <a:cs typeface="Helvetica" pitchFamily="34" charset="-120"/>
              </a:rPr>
              <a:t>Agents.  Production.  Kubernetes.</a:t>
            </a:r>
            <a:endParaRPr lang="en-US" sz="2200" dirty="0"/>
          </a:p>
        </p:txBody>
      </p:sp>
      <p:sp>
        <p:nvSpPr>
          <p:cNvPr id="4" name="Text 2"/>
          <p:cNvSpPr/>
          <p:nvPr/>
        </p:nvSpPr>
        <p:spPr>
          <a:xfrm>
            <a:off x="640080" y="5120640"/>
            <a:ext cx="10881360" cy="365760"/>
          </a:xfrm>
          <a:prstGeom prst="rect">
            <a:avLst/>
          </a:prstGeom>
          <a:noFill/>
          <a:ln/>
        </p:spPr>
        <p:txBody>
          <a:bodyPr wrap="square" lIns="0" tIns="0" rIns="0" bIns="0" rtlCol="0" anchor="ctr"/>
          <a:lstStyle/>
          <a:p>
            <a:pPr algn="l" indent="0" marL="0">
              <a:buNone/>
            </a:pPr>
            <a:r>
              <a:rPr lang="en-US" sz="1400" dirty="0">
                <a:solidFill>
                  <a:srgbClr val="AFB3BD"/>
                </a:solidFill>
                <a:latin typeface="Consolas" pitchFamily="34" charset="0"/>
                <a:ea typeface="Consolas" pitchFamily="34" charset="-122"/>
                <a:cs typeface="Consolas" pitchFamily="34" charset="-120"/>
              </a:rPr>
              <a:t>github.com/Azure/kars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kars — secure AI agent runtime on Kubernetes</dc:title>
  <dc:subject>PptxGenJS Presentation</dc:subject>
  <dc:creator>kars</dc:creator>
  <cp:lastModifiedBy>kars</cp:lastModifiedBy>
  <cp:revision>1</cp:revision>
  <dcterms:created xsi:type="dcterms:W3CDTF">2026-06-08T16:02:57Z</dcterms:created>
  <dcterms:modified xsi:type="dcterms:W3CDTF">2026-06-08T16:02:57Z</dcterms:modified>
</cp:coreProperties>
</file>